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147378322" r:id="rId5"/>
    <p:sldId id="2147378323" r:id="rId6"/>
    <p:sldId id="2147378326" r:id="rId7"/>
    <p:sldId id="2147378327" r:id="rId8"/>
    <p:sldId id="2147378329" r:id="rId9"/>
    <p:sldId id="2147378336" r:id="rId10"/>
    <p:sldId id="2147378338" r:id="rId11"/>
    <p:sldId id="2147378337" r:id="rId12"/>
  </p:sldIdLst>
  <p:sldSz cx="12192000" cy="6858000"/>
  <p:notesSz cx="6858000" cy="9144000"/>
  <p:custDataLst>
    <p:tags r:id="rId1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5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</pc:sldChg>
    </pc:docChg>
  </pc:docChgLst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B738-3D5C-4851-BA0A-F593F390B82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6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59" imgH="360" progId="TCLayout.ActiveDocument.1">
                  <p:embed/>
                </p:oleObj>
              </mc:Choice>
              <mc:Fallback>
                <p:oleObj name="think-cell Slide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jpe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6" Type="http://schemas.openxmlformats.org/officeDocument/2006/relationships/image" Target="../media/image12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7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4.xml"/><Relationship Id="rId5" Type="http://schemas.openxmlformats.org/officeDocument/2006/relationships/image" Target="../media/image18.tiff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5.xml"/><Relationship Id="rId5" Type="http://schemas.openxmlformats.org/officeDocument/2006/relationships/image" Target="../media/image19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259728"/>
              </p:ext>
            </p:extLst>
          </p:nvPr>
        </p:nvGraphicFramePr>
        <p:xfrm>
          <a:off x="361541" y="1808163"/>
          <a:ext cx="11430002" cy="3373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Covéa Vie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Dans le cadre de la Directive européenne sur la Distribution d’Assurances, rédaction de la politique de gouvernance DDA pour Covéa Vie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Etat des lieux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Rencontre CODIR et échanges sur besoins en matière de gouvernance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Rencontre métiers et experts ainsi que conformité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de l’avancement pour COPIL projet global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marchés cibles par réseau (prise en compte spécificités Covéa)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 la politique de Gouvernance DDA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buClr>
                          <a:schemeClr val="accent1"/>
                        </a:buClr>
                        <a:buFont typeface="Arial" panose="020B0604020202020204" pitchFamily="34" charset="0"/>
                        <a:buNone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11" name="Picture 3" descr="Covéa — Wikipédia">
            <a:extLst>
              <a:ext uri="{FF2B5EF4-FFF2-40B4-BE49-F238E27FC236}">
                <a16:creationId xmlns:a16="http://schemas.microsoft.com/office/drawing/2014/main" id="{EA581180-E320-C550-B454-B18BFBC2CD16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476" y="2429021"/>
            <a:ext cx="726377" cy="58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47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86322"/>
              </p:ext>
            </p:extLst>
          </p:nvPr>
        </p:nvGraphicFramePr>
        <p:xfrm>
          <a:off x="361541" y="1808163"/>
          <a:ext cx="11430002" cy="4263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Volonté d’acquisition d’un outil FO-MO de financement structuré pour fiabiliser la production (diminution des risques opérationnels), faciliter les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internes et externes (dont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réglementaires), et optimiser le suivi MO (gain PNB)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Finalisation du cahier des charges &amp; début de conception détaillé des besoins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Simulation du coût et ROI des solutions éditeurs selon plusieurs scénarii et support de BPCE Achat dans la négociation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du dossier de choix et complétion itérative avec les éléments clés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Orange Bank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Evaluation de l’adéquation des outils aux enjeux métiers et aux missions de la Direction Risques Contrôle et Conformité au sein du Head Quarter et de proposition de scénarii d’évolution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Construction d’une cartographie applicative pour la Direction Risques Contrôle et Conformité, mise en exergue des fonctionnalités à implémenter et priorisation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Elaboration d’un cahier des charges pour un outil de gestion documentaire 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Proposition de solutions de veille règlementaire avec un benchmark des solutions marché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Points Pour Attention (PPA) du plan d'action métier / SI et des travaux postérieurs à instruire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Orange Bank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Mise en place d’une filière Risque et Conformité pour l’ensemble des activités bancaires et de paiements mobiles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Intervention en qualité d’expert risques, conformité et gouvernance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policies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et guidelines pour l’activité EMEA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RACI et mise en place opérationnelle de la filière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Formalisation des KPI, KRI et mise en place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principes de refacturation interne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906517"/>
                  </a:ext>
                </a:extLst>
              </a:tr>
            </a:tbl>
          </a:graphicData>
        </a:graphic>
      </p:graphicFrame>
      <p:pic>
        <p:nvPicPr>
          <p:cNvPr id="3" name="Image 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3B115B0-13B0-9106-D765-F189196E3D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19" y="2290988"/>
            <a:ext cx="1066800" cy="419100"/>
          </a:xfrm>
          <a:prstGeom prst="rect">
            <a:avLst/>
          </a:prstGeom>
        </p:spPr>
      </p:pic>
      <p:pic>
        <p:nvPicPr>
          <p:cNvPr id="5" name="Espace réservé pour une image  10">
            <a:extLst>
              <a:ext uri="{FF2B5EF4-FFF2-40B4-BE49-F238E27FC236}">
                <a16:creationId xmlns:a16="http://schemas.microsoft.com/office/drawing/2014/main" id="{4CBB27A0-6FD0-A23C-A2C4-254B0CAC825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414" r="-18414"/>
          <a:stretch/>
        </p:blipFill>
        <p:spPr>
          <a:xfrm>
            <a:off x="788981" y="4406625"/>
            <a:ext cx="714876" cy="522459"/>
          </a:xfrm>
          <a:prstGeom prst="rect">
            <a:avLst/>
          </a:prstGeom>
        </p:spPr>
      </p:pic>
      <p:pic>
        <p:nvPicPr>
          <p:cNvPr id="14" name="Espace réservé pour une image  10">
            <a:extLst>
              <a:ext uri="{FF2B5EF4-FFF2-40B4-BE49-F238E27FC236}">
                <a16:creationId xmlns:a16="http://schemas.microsoft.com/office/drawing/2014/main" id="{E2892E2B-6C42-8284-12DF-D2B4432B089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414" r="-18414"/>
          <a:stretch/>
        </p:blipFill>
        <p:spPr>
          <a:xfrm>
            <a:off x="731207" y="3246065"/>
            <a:ext cx="830425" cy="60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dirty="0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150617"/>
              </p:ext>
            </p:extLst>
          </p:nvPr>
        </p:nvGraphicFramePr>
        <p:xfrm>
          <a:off x="361541" y="1808163"/>
          <a:ext cx="11430002" cy="40017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CNP Assurances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lt"/>
                          <a:cs typeface="Arial" panose="020B0604020202020204" pitchFamily="34" charset="0"/>
                        </a:rPr>
                        <a:t>Rédaction de la politique de risques d’investissement Projets et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du besoin et de l’existant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 la politique de risque Financement de projet et Infrastructure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périmètre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Gouvernance et processus de décision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guidelines d’octroie selon le secteur et après définition des typologies de risques</a:t>
                      </a:r>
                    </a:p>
                    <a:p>
                      <a:pPr marL="633413" marR="0" lvl="1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Principe de revue de portefeuille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Partage de la politique de risque avec les métiers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BMW Financial Services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Renforcer les équipes en charge de la production mensuelle et trimestrielle des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règlementaires de BMW Finance France 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Préparer l’entrée en vigueur de la règlementation 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CRDV - CRR2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Production et suivi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règlementaires COREP, Grands Risques, Ratio de Levier, ratios de liquidité et de financement (LCR, NSFR, ALMM) et Asset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Encumbrance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.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Veille et mise en conformité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en lien avec la réglementation CRR2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à jour de la documentation (processus, documentation règlementaire) associée au périmètre à charge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7" name="Picture 2" descr="Nos services - ESPACE BERTEAUX VERNOUILLET">
            <a:extLst>
              <a:ext uri="{FF2B5EF4-FFF2-40B4-BE49-F238E27FC236}">
                <a16:creationId xmlns:a16="http://schemas.microsoft.com/office/drawing/2014/main" id="{21E2981E-6F40-A2C8-28AE-B852A21B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5" y="4895272"/>
            <a:ext cx="1224153" cy="66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nsurtech : CNP Assurances achète Azimut et iSalud - News Assurances Pro">
            <a:extLst>
              <a:ext uri="{FF2B5EF4-FFF2-40B4-BE49-F238E27FC236}">
                <a16:creationId xmlns:a16="http://schemas.microsoft.com/office/drawing/2014/main" id="{3E00E60D-2E0F-C9B2-13CC-80F011C8B569}"/>
              </a:ext>
            </a:extLst>
          </p:cNvPr>
          <p:cNvPicPr>
            <a:picLocks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3" t="13468" r="22243" b="13468"/>
          <a:stretch/>
        </p:blipFill>
        <p:spPr bwMode="auto">
          <a:xfrm>
            <a:off x="714893" y="3542976"/>
            <a:ext cx="950716" cy="68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1860515"/>
              </p:ext>
            </p:extLst>
          </p:nvPr>
        </p:nvGraphicFramePr>
        <p:xfrm>
          <a:off x="361541" y="1808163"/>
          <a:ext cx="11430002" cy="38001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MACIF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Macif a souhaité se faire accompagner sur les problématiques RGPD, notamment sur les axes gestion de la donnée et conduite du changement.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et synthèse de l’existant; travaux de mise en conformité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Matrice de criticité et lotissement d’applicatifs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Développement d’une solution d’encadrement IA des ZTL (POC)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de formation ciblées selon les populations (e-learning, classe virtuelle..)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d’une campagne de sensibilisation à destination de l’ensemble des collaborateurs du groupe (cybersécurité)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d’un plan de communication autour du RGPD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2" name="Picture 3">
            <a:extLst>
              <a:ext uri="{FF2B5EF4-FFF2-40B4-BE49-F238E27FC236}">
                <a16:creationId xmlns:a16="http://schemas.microsoft.com/office/drawing/2014/main" id="{22C4BFF3-DA1C-DAF5-E1DD-235126D8A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988" y="3178777"/>
            <a:ext cx="604190" cy="59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" descr="Naissance d'Aéma Groupe, nouvel acteur mutualiste de protection sur le  marché français">
            <a:extLst>
              <a:ext uri="{FF2B5EF4-FFF2-40B4-BE49-F238E27FC236}">
                <a16:creationId xmlns:a16="http://schemas.microsoft.com/office/drawing/2014/main" id="{D9796773-E1CD-30FF-EF24-DFCF82E892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6" b="17491"/>
          <a:stretch/>
        </p:blipFill>
        <p:spPr bwMode="auto">
          <a:xfrm>
            <a:off x="737670" y="3797056"/>
            <a:ext cx="942826" cy="357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07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4099375"/>
              </p:ext>
            </p:extLst>
          </p:nvPr>
        </p:nvGraphicFramePr>
        <p:xfrm>
          <a:off x="361541" y="1808163"/>
          <a:ext cx="11430002" cy="3390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BNP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Rattaché à l’équipe P&amp;CM sur les initiatives liées aux produits dérivés compensés et non compensés, l’objectif de la mission a été de répondre aux initiatives business, réglementaires et à la rationalisation de l’organisation (TOM, &amp; études d’opportunité).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 principal enjeu résidait dans l’optimisation des processus de la chaine fonctionnelle des équipes middle, back office et fonctions supports associées.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Lancement des activités de compensation swap ASIGNA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Optimisation de l’organisation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Formalisation, analyse des difficultés et recommandations autour des activités du </a:t>
                      </a:r>
                      <a:r>
                        <a:rPr lang="fr-FR" sz="1100" i="1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membership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NY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Optimisation de la gestion du collatéral ;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Revue et pilotage des frais de tenue de compte  PPS.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alt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TOM </a:t>
                      </a:r>
                      <a:r>
                        <a:rPr lang="fr-FR" altLang="fr-FR" sz="11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collateral</a:t>
                      </a:r>
                      <a:r>
                        <a:rPr lang="fr-FR" alt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– projet de centralisation de la gestion du collatéral autour d’un SI et de processus unifiés.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alt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Etude d’opportunité autour du nouveau service LCH </a:t>
                      </a:r>
                      <a:r>
                        <a:rPr lang="fr-FR" alt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SwapAgent</a:t>
                      </a:r>
                      <a:endParaRPr lang="fr-FR" alt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alt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Implémentation de garantie pour le compte de JP Morgan pour la gestion des paiements intra journalier tardif (</a:t>
                      </a:r>
                      <a:r>
                        <a:rPr lang="fr-FR" altLang="fr-FR" sz="1100" i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late</a:t>
                      </a:r>
                      <a:r>
                        <a:rPr lang="fr-FR" altLang="fr-FR" sz="1100" i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ITD</a:t>
                      </a:r>
                      <a:r>
                        <a:rPr lang="fr-FR" alt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).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60208FC9-671D-312D-F297-0569F5388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542" y="3804869"/>
            <a:ext cx="1743008" cy="28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8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54493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716769"/>
              </p:ext>
            </p:extLst>
          </p:nvPr>
        </p:nvGraphicFramePr>
        <p:xfrm>
          <a:off x="381000" y="1825625"/>
          <a:ext cx="11430002" cy="443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Les exigences réglementaires Taxonomie et Pilier 3 ESG entrant en vigueur de manière progressive, l’entité remettante de ce groupe bancaire se doit de déterminer sa contribution au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Groupe et de déterminer les données à collecter parmi les exigences Groupe, d’identifier les sources desdites données, de s’intégrer dans les plannings prévisionnels.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Présentation des exigences règlementaires, des choix structurants du Groupe et des attentes au niveau des remettants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Échanges avec les interlocuteurs métier et SI pour remonter les données relatives aux financements dédiés (exemption sur les financements généraux) via le flux de données extra-financières, définition des plannings de collecte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auprès des instances Groupe sur l’avancement du chantier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La publication de la proposition législative dite « CRR3 / CRD6 » en octobre 2021 a marqué le démarrage d’un processus législatif qui aboutira au 1er janvier 2025. La Direction des Risques Groupe a ainsi engagé un programme de cadrage et de fabrication des solutions « Bâle IV » pour répondre aux nouveaux besoins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de la documentation réglementaire et du périmètre d’application des nouvelles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Analyse des flux de données actuels et des impacts des nouveaux contrôles sur la qualité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déjà en production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Ateliers avec les référents métiers pour confirmer les impacts et cadrer les travaux de mise en qualité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d’avancement avec la Direction des Risques Groupe : participation aux groupes de travail transverses, alimentation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, participation à la Comitologie Groupe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Organisation des processus de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et mise en place du Valuation Data Set (VDS),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réglementaire demandé par le SRB (Single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Resolution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Board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), visant à produire sous 24h la vision de la résolution de la quasi-totalité des actifs à la maille granulaire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Conduite des Self-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Assessment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 (SA) sur la disponibilité des données requises par le SRB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Sur la base des SA, identifications des différents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sourcing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 données parmi les outils internes de gestion, de comptabilités et de risques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Conception de l'architecture ambitionnée de la remontée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Rédactions des spécifications fonctionnelles et techniques du moteur VDS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et mise en qualité de la collecte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du premier Dry Run VDS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6" name="Image 14">
            <a:extLst>
              <a:ext uri="{FF2B5EF4-FFF2-40B4-BE49-F238E27FC236}">
                <a16:creationId xmlns:a16="http://schemas.microsoft.com/office/drawing/2014/main" id="{C0821F76-FA02-F2E2-5359-4675748F3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57" y="2497283"/>
            <a:ext cx="1080078" cy="5555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5573F4E-A57C-E7D0-8249-FD8AD8403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57" y="3932830"/>
            <a:ext cx="1080078" cy="55556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CE6AA3F-A03C-8DAB-F2A4-C8529F2CA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57" y="5368377"/>
            <a:ext cx="1080078" cy="5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4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72517"/>
              </p:ext>
            </p:extLst>
          </p:nvPr>
        </p:nvGraphicFramePr>
        <p:xfrm>
          <a:off x="381000" y="1825625"/>
          <a:ext cx="11430002" cy="2874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Suite à un exercice de production du ratio MREL ayant relevé des problématiques de qualité de donnée, le Groupe CA a choisi de structurer un plan de remédiation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Diagnostic/Analyse de situation sur la production du 31/12/2019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plan de remédiation pour corriger les écarts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Coordination des travaux identifiés avec les départements (ALM, Compta, IT, Refinancement,…)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 la feuille de route 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CIB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CACIB décide de mettre en place une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task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force pour remédier aux faiblesses du dispositif de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LCR Daily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du LCR Daily :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Backtesting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LCR trésorerie vs LCR réglementaire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et animation de la gouvernance sur le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backtesting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processus de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9" name="Image 14">
            <a:extLst>
              <a:ext uri="{FF2B5EF4-FFF2-40B4-BE49-F238E27FC236}">
                <a16:creationId xmlns:a16="http://schemas.microsoft.com/office/drawing/2014/main" id="{00F3BE95-D424-BF83-357E-67CD0B8D0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58" y="2338138"/>
            <a:ext cx="1080078" cy="555568"/>
          </a:xfrm>
          <a:prstGeom prst="rect">
            <a:avLst/>
          </a:prstGeom>
        </p:spPr>
      </p:pic>
      <p:pic>
        <p:nvPicPr>
          <p:cNvPr id="11" name="Image 17">
            <a:extLst>
              <a:ext uri="{FF2B5EF4-FFF2-40B4-BE49-F238E27FC236}">
                <a16:creationId xmlns:a16="http://schemas.microsoft.com/office/drawing/2014/main" id="{628AB998-086F-835E-3CBB-9833E68550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095" y="3344675"/>
            <a:ext cx="1580204" cy="39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9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1082609"/>
              </p:ext>
            </p:extLst>
          </p:nvPr>
        </p:nvGraphicFramePr>
        <p:xfrm>
          <a:off x="381000" y="1825625"/>
          <a:ext cx="11430002" cy="4209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BPCE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Projet VDS : BPCE répond à la demande réglementaire du SRB de pouvoir produire sous un délai de 24 à 48 heures la vision de la résolution de la quasi-totalité des actifs à la maille granulaire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Etude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datapoints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demandés par le SRB : gap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analysis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avec les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existants, animation des échanges avec la Résilience et l’IRT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Identification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sourcings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datapoints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(SI comptables, de gestion, prudentiels, moteur de liquidité…)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 l’architecture cible avec les systèmes remettants et IT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Développement du moteur de calcul sous </a:t>
                      </a: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alteryx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Société Générale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Suite à l’exercice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lancement de plusieurs initiatives de remédiation dans le cadre du renforcement du dispositif liquidité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Revue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 pilotage de la liquidité au niveau des business unit et du Groupe et mise en place d’indicateurs de pilotage des ratios réglementaires (LCR/NSFR)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Harmonisation des gaps de liquidité statiques et stressé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Assistance à la refonte du SI de pilotage de la liquidité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b="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555948"/>
                  </a:ext>
                </a:extLst>
              </a:tr>
              <a:tr h="111875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353690"/>
                  </a:ext>
                </a:extLst>
              </a:tr>
            </a:tbl>
          </a:graphicData>
        </a:graphic>
      </p:graphicFrame>
      <p:pic>
        <p:nvPicPr>
          <p:cNvPr id="9" name="Picture Placeholder 12">
            <a:extLst>
              <a:ext uri="{FF2B5EF4-FFF2-40B4-BE49-F238E27FC236}">
                <a16:creationId xmlns:a16="http://schemas.microsoft.com/office/drawing/2014/main" id="{795A3A30-D776-0C9E-195C-223E046D24C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712" b="-14712"/>
          <a:stretch/>
        </p:blipFill>
        <p:spPr bwMode="gray">
          <a:xfrm>
            <a:off x="676612" y="3475060"/>
            <a:ext cx="1033523" cy="356347"/>
          </a:xfrm>
          <a:prstGeom prst="rect">
            <a:avLst/>
          </a:prstGeom>
          <a:solidFill>
            <a:schemeClr val="bg1"/>
          </a:solidFill>
          <a:ln/>
        </p:spPr>
      </p:pic>
      <p:pic>
        <p:nvPicPr>
          <p:cNvPr id="11" name="Picture 3" descr="Feu vert à la création du groupe bancaire BPCE, un nouveau-né plein  d'ambition">
            <a:extLst>
              <a:ext uri="{FF2B5EF4-FFF2-40B4-BE49-F238E27FC236}">
                <a16:creationId xmlns:a16="http://schemas.microsoft.com/office/drawing/2014/main" id="{DADCF21B-A0BB-077B-EE9D-1FF4963A1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33" y="2529610"/>
            <a:ext cx="1144281" cy="44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0568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eate a new document." ma:contentTypeScope="" ma:versionID="bc6f69bf5c0fab46b0890501e777c6a1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6656d7fccc761501876d40b0bdff1b8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662136d-f4c7-4ecd-aecf-392677ef4b39"/>
    <ds:schemaRef ds:uri="5438b2ed-c33a-4943-80d4-1eb1a51ca64d"/>
  </ds:schemaRefs>
</ds:datastoreItem>
</file>

<file path=customXml/itemProps3.xml><?xml version="1.0" encoding="utf-8"?>
<ds:datastoreItem xmlns:ds="http://schemas.openxmlformats.org/officeDocument/2006/customXml" ds:itemID="{00FCD539-8091-4608-83EC-7EA2AD2C1097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1551</Words>
  <Application>Microsoft Office PowerPoint</Application>
  <PresentationFormat>Widescreen</PresentationFormat>
  <Paragraphs>150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Raleway</vt:lpstr>
      <vt:lpstr>2023 03_ACI partners</vt:lpstr>
      <vt:lpstr>think-cell Slide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Ismaël LICER</cp:lastModifiedBy>
  <cp:revision>23</cp:revision>
  <dcterms:created xsi:type="dcterms:W3CDTF">2023-09-06T09:59:04Z</dcterms:created>
  <dcterms:modified xsi:type="dcterms:W3CDTF">2025-04-17T15:22:12Z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1600100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