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147378320" r:id="rId5"/>
    <p:sldId id="2147378323" r:id="rId6"/>
    <p:sldId id="2147378330" r:id="rId7"/>
    <p:sldId id="2147378337" r:id="rId8"/>
    <p:sldId id="2147378654" r:id="rId9"/>
    <p:sldId id="2147378655" r:id="rId10"/>
    <p:sldId id="2147378656" r:id="rId11"/>
  </p:sldIdLst>
  <p:sldSz cx="12192000" cy="6858000"/>
  <p:notesSz cx="6858000" cy="9144000"/>
  <p:custDataLst>
    <p:tags r:id="rId1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5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 dirty="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59" imgH="360" progId="TCLayout.ActiveDocument.1">
                  <p:embed/>
                </p:oleObj>
              </mc:Choice>
              <mc:Fallback>
                <p:oleObj name="think-cell Slide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6" Type="http://schemas.openxmlformats.org/officeDocument/2006/relationships/image" Target="../media/image13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5.jpe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5" Type="http://schemas.openxmlformats.org/officeDocument/2006/relationships/image" Target="../media/image16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5" Type="http://schemas.openxmlformats.org/officeDocument/2006/relationships/image" Target="../media/image17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6.xml"/><Relationship Id="rId5" Type="http://schemas.openxmlformats.org/officeDocument/2006/relationships/image" Target="../media/image18.jpe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6556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 </a:t>
            </a:r>
            <a:r>
              <a:rPr lang="fr-FR" b="1">
                <a:solidFill>
                  <a:srgbClr val="FF0000"/>
                </a:solidFill>
              </a:rPr>
              <a:t>1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5031496"/>
              </p:ext>
            </p:extLst>
          </p:nvPr>
        </p:nvGraphicFramePr>
        <p:xfrm>
          <a:off x="361541" y="1808163"/>
          <a:ext cx="11430002" cy="3938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Logo client ici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Dans le cadre d’un projet de transformation de l’organisation du service pilotage et de ses outils, ainsi que de la modification de l’architecture des données, PACIFICA a souhaité faire évoluer les tableaux de bords utilisés par la direction commerciale et le réseau des caisses.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Les équipes ACI </a:t>
                      </a:r>
                      <a:r>
                        <a:rPr lang="fr-FR" sz="1100" dirty="0" err="1">
                          <a:solidFill>
                            <a:schemeClr val="tx1"/>
                          </a:solidFill>
                        </a:rPr>
                        <a:t>partners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 sont intervenues en qualité d’expert de la donnée pour la prise en compte de ces évolutions dans l’outil, son amélioration et la formation des collaborateurs à sa maîtrise.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besoins d’évolutions fonctionnelles et techniques avec les métiers</a:t>
                      </a:r>
                    </a:p>
                    <a:p>
                      <a:pPr marL="176213" indent="-176213" algn="l" defTabSz="914400" rtl="0" eaLnBrk="1" latinLnBrk="0" hangingPunct="1"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Amélioration technique de l’outil et paramétrage de l’outil pour prise en compte des changements d’architecture SI</a:t>
                      </a:r>
                    </a:p>
                    <a:p>
                      <a:pPr marL="176213" indent="-176213" algn="l" defTabSz="914400" rtl="0" eaLnBrk="1" latinLnBrk="0" hangingPunct="1"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des indicateurs et tableaux de bords pour prise en compte des évolutions métiers (refonte des graphiques et de la maquette, revue des modes de calculs des indicateurs, etc.)</a:t>
                      </a:r>
                    </a:p>
                    <a:p>
                      <a:pPr marL="176213" indent="-176213" algn="l" defTabSz="914400" rtl="0" eaLnBrk="1" latinLnBrk="0" hangingPunct="1"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Formation des utilisateurs au paramétrage de l’outil et aux bonnes pratiques d’utilisation de l’outil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Logo client ici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Suite à un projet d’externalisation du SI, poursuite de la transformation de son SI en mettant l’accent sur la performance et le niveau de service : définition de la trajectoire de mise à niveau des applicatifs métiers et prise en compte des aspects d’optimisation et de rationalisation de l’infrastructure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Plan Informatique, de la cartographie applicative et analyse des éléments d’infrastructure applicative (contraintes techniques, obsolescence des applications, ...)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Entretiens avec les métiers pour recueillir leurs enjeux et attentes ; étude de l’adéquation avec les outils SI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Rencontre avec les éditeurs de logiciels pour identifier les possibilités d’évolution des applications et l’intégration dans le SI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Ordonnancement des besoins, attentes et contraintes du point de vue des métiers, du pôle Informatique, des éditeurs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adhérences entre applications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Élaboration d’une proposition de trajectoire SI 2019 –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4EB66420-1FEF-2277-4563-AB4F99EBEEC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69" b="16269"/>
          <a:stretch>
            <a:fillRect/>
          </a:stretch>
        </p:blipFill>
        <p:spPr>
          <a:xfrm>
            <a:off x="811144" y="4540294"/>
            <a:ext cx="762000" cy="514060"/>
          </a:xfrm>
          <a:prstGeom prst="rect">
            <a:avLst/>
          </a:prstGeom>
        </p:spPr>
      </p:pic>
      <p:pic>
        <p:nvPicPr>
          <p:cNvPr id="5" name="Image 4" descr="Une image contenant dessin&#10;&#10;Description générée automatiquement">
            <a:extLst>
              <a:ext uri="{FF2B5EF4-FFF2-40B4-BE49-F238E27FC236}">
                <a16:creationId xmlns:a16="http://schemas.microsoft.com/office/drawing/2014/main" id="{904E6CB6-E7CE-8FF6-A3E8-1E07D0D6274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36" y="2481174"/>
            <a:ext cx="1125415" cy="11119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96075AA-5366-A662-F2FB-8112A92E8F62}"/>
              </a:ext>
            </a:extLst>
          </p:cNvPr>
          <p:cNvSpPr txBox="1"/>
          <p:nvPr/>
        </p:nvSpPr>
        <p:spPr>
          <a:xfrm>
            <a:off x="765583" y="3429000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/>
              <a:t>PACIFICA</a:t>
            </a:r>
          </a:p>
        </p:txBody>
      </p:sp>
    </p:spTree>
    <p:extLst>
      <p:ext uri="{BB962C8B-B14F-4D97-AF65-F5344CB8AC3E}">
        <p14:creationId xmlns:p14="http://schemas.microsoft.com/office/powerpoint/2010/main" val="49813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056005"/>
              </p:ext>
            </p:extLst>
          </p:nvPr>
        </p:nvGraphicFramePr>
        <p:xfrm>
          <a:off x="361541" y="1808163"/>
          <a:ext cx="11430002" cy="408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Orange Bank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Evaluation de l’adéquation des outils aux enjeux métiers et aux missions de la Direction Risques Contrôle et Conformité au sein du Head Quarter et de proposition de scénarii d’évolution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d’une cartographie applicative pour la Direction Risques Contrôle et Conformité, mise en exergue des fonctionnalités à implémenter et priorisation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Elaboration d’un cahier des charges pour un outil de gestion documentaire 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de solutions de veille règlementaire avec un benchmark des solutions marché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Points Pour Attention (PPA) du plan d'action métier / SI et des travaux postérieurs à instruire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14" name="Espace réservé pour une image  10">
            <a:extLst>
              <a:ext uri="{FF2B5EF4-FFF2-40B4-BE49-F238E27FC236}">
                <a16:creationId xmlns:a16="http://schemas.microsoft.com/office/drawing/2014/main" id="{E2892E2B-6C42-8284-12DF-D2B4432B089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14" r="-18414"/>
          <a:stretch/>
        </p:blipFill>
        <p:spPr>
          <a:xfrm>
            <a:off x="731207" y="3246065"/>
            <a:ext cx="830425" cy="6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935804"/>
              </p:ext>
            </p:extLst>
          </p:nvPr>
        </p:nvGraphicFramePr>
        <p:xfrm>
          <a:off x="361541" y="1808163"/>
          <a:ext cx="11430002" cy="3114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Création d’une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force par CA-CIB pour un rapprochement de LCR. Ils possèdent deux outils de production du LCR (gestion et compta). Un comité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backtesting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 été mis en place pour évaluer les écarts entre les 2 outils mais il n’est pas suffisant pour tout identifier. Le but de la mission est de réconcilier ces 2 outils pour identifier les écarts restants.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du schéma et de l’organisation des 2 outils + ateliers avec les interlocuteurs concernés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et gestion de la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force avec les différents métiers (Finance, MOA, ALM, Trésorerie, Risques, IT, Compta…)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 la source des écarts et mise en place de plans de corrections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règles de gestion pour mettre en évidence les écarts selon les différents produits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 outil tactique de rapprochement sur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Dataiku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de report d’analyse sur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DF2D1750-2F7D-7F86-BA24-20F3D1D91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41" y="3276735"/>
            <a:ext cx="1798827" cy="10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21826"/>
              </p:ext>
            </p:extLst>
          </p:nvPr>
        </p:nvGraphicFramePr>
        <p:xfrm>
          <a:off x="381000" y="1825625"/>
          <a:ext cx="11430002" cy="4209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Projet VDS : BPCE répond à la demande réglementaire du SRB de pouvoir produire sous un délai de 24 à 48 heures la vision de la résolution de la quasi-totalité des actifs à la maille granulaire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Etude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datapoints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demandés par le SRB : gap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analysis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avec les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reporintgs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existants, animation des échanges avec la Résilience et l’IRT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sourcings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datapoints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(SI comptables, de gestion, prudentiels, moteur de liquidité…)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 l’architecture cible avec les systèmes remettants et IT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Développement du moteur de calcul sous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alteryx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b="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555948"/>
                  </a:ext>
                </a:extLst>
              </a:tr>
              <a:tr h="111875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53690"/>
                  </a:ext>
                </a:extLst>
              </a:tr>
            </a:tbl>
          </a:graphicData>
        </a:graphic>
      </p:graphicFrame>
      <p:pic>
        <p:nvPicPr>
          <p:cNvPr id="11" name="Picture 3" descr="Feu vert à la création du groupe bancaire BPCE, un nouveau-né plein  d'ambition">
            <a:extLst>
              <a:ext uri="{FF2B5EF4-FFF2-40B4-BE49-F238E27FC236}">
                <a16:creationId xmlns:a16="http://schemas.microsoft.com/office/drawing/2014/main" id="{DADCF21B-A0BB-077B-EE9D-1FF4963A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33" y="2529610"/>
            <a:ext cx="1144281" cy="44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05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463628"/>
              </p:ext>
            </p:extLst>
          </p:nvPr>
        </p:nvGraphicFramePr>
        <p:xfrm>
          <a:off x="381000" y="1825625"/>
          <a:ext cx="11430002" cy="4126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824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644377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Groupe Henner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intégration</a:t>
                      </a:r>
                    </a:p>
                    <a:p>
                      <a:pPr algn="ctr" fontAlgn="ctr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SSO, ETL/ESB/Software AG/BPM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Analyse des besoins métiers et cartographie des besoins d’architecture technique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Réalisation d’un RFI des plateformes data : </a:t>
                      </a:r>
                      <a:r>
                        <a:rPr lang="fr-FR" sz="1050" dirty="0" err="1"/>
                        <a:t>Snowflake</a:t>
                      </a:r>
                      <a:r>
                        <a:rPr lang="fr-FR" sz="1050" dirty="0"/>
                        <a:t>, </a:t>
                      </a:r>
                      <a:r>
                        <a:rPr lang="fr-FR" sz="1050" dirty="0" err="1"/>
                        <a:t>DataBricks</a:t>
                      </a:r>
                      <a:r>
                        <a:rPr lang="fr-FR" sz="1050" dirty="0"/>
                        <a:t>, Cloudera, HPE, AWS, Azure, GCP.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Comparaison et choix </a:t>
                      </a:r>
                      <a:r>
                        <a:rPr lang="fr-FR" sz="1050" dirty="0"/>
                        <a:t>du cloud provider AWS ou Azure.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Réalisation d’un RFI Gouvernance de la donnée avec la matrice de choix : </a:t>
                      </a:r>
                      <a:r>
                        <a:rPr lang="fr-FR" sz="1050" dirty="0"/>
                        <a:t>Castor, Data Galaxy, </a:t>
                      </a:r>
                      <a:r>
                        <a:rPr lang="fr-FR" sz="1050" dirty="0" err="1"/>
                        <a:t>Qualitadd</a:t>
                      </a:r>
                      <a:r>
                        <a:rPr lang="fr-FR" sz="1050" dirty="0"/>
                        <a:t>, Meta Analytics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Ecriture du RFP : </a:t>
                      </a:r>
                      <a:r>
                        <a:rPr lang="fr-FR" sz="1050" dirty="0"/>
                        <a:t>mise en place &amp; migration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Définition de l’intégration de la plateforme data dans le SI Henner : </a:t>
                      </a:r>
                      <a:r>
                        <a:rPr lang="fr-FR" sz="1050" dirty="0"/>
                        <a:t>SSO, ETL, ESB et BPM </a:t>
                      </a:r>
                      <a:r>
                        <a:rPr lang="fr-FR" sz="1050" dirty="0" err="1"/>
                        <a:t>SoftwareAG</a:t>
                      </a:r>
                      <a:endParaRPr lang="fr-FR" sz="105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Planning de migration </a:t>
                      </a:r>
                      <a:r>
                        <a:rPr lang="fr-FR" sz="1050" dirty="0"/>
                        <a:t>de </a:t>
                      </a:r>
                      <a:r>
                        <a:rPr lang="fr-FR" sz="1050" dirty="0" err="1"/>
                        <a:t>SQLServer</a:t>
                      </a:r>
                      <a:r>
                        <a:rPr lang="fr-FR" sz="1050" dirty="0"/>
                        <a:t> vers </a:t>
                      </a:r>
                      <a:r>
                        <a:rPr lang="fr-FR" sz="1050" dirty="0" err="1"/>
                        <a:t>Snowflake</a:t>
                      </a:r>
                      <a:endParaRPr lang="fr-FR" sz="105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Rédaction du DAT, du plan de formation de l’équipe Data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Définition et mise en place de la conformité GDPR sur la plateforme Data.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028" name="Picture 4" descr="Groupe Henner — Wikipédia">
            <a:extLst>
              <a:ext uri="{FF2B5EF4-FFF2-40B4-BE49-F238E27FC236}">
                <a16:creationId xmlns:a16="http://schemas.microsoft.com/office/drawing/2014/main" id="{C309B10F-AA33-1A67-3681-809B93C84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11" y="2684356"/>
            <a:ext cx="1060705" cy="124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95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004607"/>
              </p:ext>
            </p:extLst>
          </p:nvPr>
        </p:nvGraphicFramePr>
        <p:xfrm>
          <a:off x="381000" y="1825625"/>
          <a:ext cx="11430002" cy="4447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824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644377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78079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ITNOVEM (filiale SNCF)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Architectures - Azure</a:t>
                      </a:r>
                    </a:p>
                    <a:p>
                      <a:pPr marL="0" algn="ctr" defTabSz="914400" rtl="0" eaLnBrk="1" fontAlgn="ctr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(data,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application)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Conception d'architecture globale sur Azure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50" b="1" dirty="0"/>
                        <a:t>Architecture Technique </a:t>
                      </a:r>
                      <a:r>
                        <a:rPr lang="fr-FR" sz="1050" dirty="0"/>
                        <a:t>: Serveur, Réseau, Stockage, Flux réseau, Flux de données.</a:t>
                      </a:r>
                    </a:p>
                    <a:p>
                      <a:pPr marL="0" marR="0" lvl="0" indent="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50" b="1" dirty="0"/>
                        <a:t>Architecture Data </a:t>
                      </a:r>
                      <a:r>
                        <a:rPr lang="fr-FR" sz="1050" dirty="0"/>
                        <a:t>: Conception et mise en place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Utilisation de </a:t>
                      </a:r>
                      <a:r>
                        <a:rPr lang="fr-FR" sz="1050" dirty="0" err="1"/>
                        <a:t>DataBricks</a:t>
                      </a:r>
                      <a:endParaRPr lang="fr-FR" sz="1050" dirty="0"/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Conception de </a:t>
                      </a:r>
                      <a:r>
                        <a:rPr lang="fr-FR" sz="1050" dirty="0" err="1"/>
                        <a:t>Datalake</a:t>
                      </a:r>
                      <a:endParaRPr lang="fr-FR" sz="1050" dirty="0"/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Minimisation des accès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Journalisation des accès</a:t>
                      </a:r>
                    </a:p>
                    <a:p>
                      <a:pPr marL="0" marR="0" lvl="0" indent="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50" b="1" dirty="0"/>
                        <a:t>Architecture Applicative Data </a:t>
                      </a:r>
                      <a:r>
                        <a:rPr lang="fr-FR" sz="1050" dirty="0"/>
                        <a:t>: conception et mise en place de produits data sur la plateforme.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Conception et développement de pipeline de données pour plusieurs applications</a:t>
                      </a:r>
                    </a:p>
                    <a:p>
                      <a:pPr marL="628650" marR="0" lvl="1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Application RH</a:t>
                      </a:r>
                    </a:p>
                    <a:p>
                      <a:pPr marL="628650" marR="0" lvl="1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Application Bancaire</a:t>
                      </a:r>
                    </a:p>
                    <a:p>
                      <a:pPr marL="628650" marR="0" lvl="1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r>
                        <a:rPr lang="fr-FR" sz="1050" dirty="0"/>
                        <a:t>Application de maintenance SNCF réseau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endParaRPr lang="fr-FR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2050" name="Picture 2" descr="ITNOVEM. | Nos offres d'emploi">
            <a:extLst>
              <a:ext uri="{FF2B5EF4-FFF2-40B4-BE49-F238E27FC236}">
                <a16:creationId xmlns:a16="http://schemas.microsoft.com/office/drawing/2014/main" id="{9E06B6B6-CA4E-9A81-31C1-A63C85D84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8" y="3090513"/>
            <a:ext cx="1583179" cy="67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901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351073"/>
              </p:ext>
            </p:extLst>
          </p:nvPr>
        </p:nvGraphicFramePr>
        <p:xfrm>
          <a:off x="381000" y="1825625"/>
          <a:ext cx="11430002" cy="4187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824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644377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78079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Conception et mise en place d’un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datalake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sur GCP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50" b="0" dirty="0"/>
                        <a:t>Conception et mise en place d’un </a:t>
                      </a:r>
                      <a:r>
                        <a:rPr lang="fr-FR" sz="1050" b="0" dirty="0" err="1"/>
                        <a:t>datalake</a:t>
                      </a:r>
                      <a:r>
                        <a:rPr lang="fr-FR" sz="1050" b="0" dirty="0"/>
                        <a:t> sur GCP pour BNP communication group</a:t>
                      </a:r>
                    </a:p>
                    <a:p>
                      <a:pPr marL="175895" marR="0" lvl="0" indent="-175895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Utilisation de GCP big </a:t>
                      </a:r>
                      <a:r>
                        <a:rPr lang="fr-FR" sz="1050" b="0" dirty="0" err="1"/>
                        <a:t>query</a:t>
                      </a:r>
                      <a:r>
                        <a:rPr lang="fr-FR" sz="1050" b="0" dirty="0"/>
                        <a:t>, </a:t>
                      </a:r>
                      <a:r>
                        <a:rPr lang="fr-FR" sz="1050" b="0" dirty="0" err="1"/>
                        <a:t>Airflow</a:t>
                      </a:r>
                      <a:r>
                        <a:rPr lang="fr-FR" sz="1050" b="0" dirty="0"/>
                        <a:t>, Data Studio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Développement de pipeline data</a:t>
                      </a:r>
                    </a:p>
                    <a:p>
                      <a:pPr marL="175895" marR="0" lvl="0" indent="-175895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Intégration de données médias : </a:t>
                      </a:r>
                      <a:r>
                        <a:rPr lang="fr-FR" sz="1050" b="0" dirty="0" err="1"/>
                        <a:t>Tracking</a:t>
                      </a:r>
                      <a:r>
                        <a:rPr lang="fr-FR" sz="1050" b="0" dirty="0"/>
                        <a:t> de site web, Facebook, </a:t>
                      </a:r>
                      <a:r>
                        <a:rPr lang="fr-FR" sz="1050" b="0" dirty="0" err="1"/>
                        <a:t>Linkedin</a:t>
                      </a:r>
                      <a:r>
                        <a:rPr lang="fr-FR" sz="1050" b="0" dirty="0"/>
                        <a:t>, </a:t>
                      </a:r>
                      <a:r>
                        <a:rPr lang="fr-FR" sz="1050" b="0" dirty="0" err="1"/>
                        <a:t>Ads</a:t>
                      </a:r>
                      <a:endParaRPr lang="fr-FR" sz="1050" b="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Mise en place de Dashboard de pilotage de campagne sous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ROI via d’optimisation média de la plateforme de 78%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endParaRPr lang="fr-FR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3074" name="Picture 2" descr="Travailler chez BNP PARIBAS, jobs, recrutement et opportunités de carrière.">
            <a:extLst>
              <a:ext uri="{FF2B5EF4-FFF2-40B4-BE49-F238E27FC236}">
                <a16:creationId xmlns:a16="http://schemas.microsoft.com/office/drawing/2014/main" id="{12C41A15-B278-0471-548F-0F2F60A4A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32" y="2816352"/>
            <a:ext cx="1775091" cy="91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9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eate a new document." ma:contentTypeScope="" ma:versionID="bc6f69bf5c0fab46b0890501e777c6a1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6656d7fccc761501876d40b0bdff1b8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66DDF1-9961-4FFC-ACF2-68A010D140E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1092</Words>
  <Application>Microsoft Office PowerPoint</Application>
  <PresentationFormat>Widescreen</PresentationFormat>
  <Paragraphs>113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Raleway</vt:lpstr>
      <vt:lpstr>2023 03_ACI partners</vt:lpstr>
      <vt:lpstr>think-cell Slide</vt:lpstr>
      <vt:lpstr>Extrait de nos références 1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Ismaël LICER</cp:lastModifiedBy>
  <cp:revision>21</cp:revision>
  <dcterms:created xsi:type="dcterms:W3CDTF">2023-09-06T09:59:04Z</dcterms:created>
  <dcterms:modified xsi:type="dcterms:W3CDTF">2025-04-17T15:28:00Z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1599100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