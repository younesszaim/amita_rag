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147378322" r:id="rId5"/>
    <p:sldId id="2147378324" r:id="rId6"/>
    <p:sldId id="2147378323" r:id="rId7"/>
    <p:sldId id="2147378325" r:id="rId8"/>
    <p:sldId id="2147378326" r:id="rId9"/>
    <p:sldId id="2147378327" r:id="rId10"/>
    <p:sldId id="2147378330" r:id="rId11"/>
    <p:sldId id="2147378331" r:id="rId12"/>
    <p:sldId id="2147378332" r:id="rId13"/>
    <p:sldId id="2147378333" r:id="rId14"/>
    <p:sldId id="2147378334" r:id="rId15"/>
    <p:sldId id="2147378335" r:id="rId16"/>
    <p:sldId id="2147378649" r:id="rId17"/>
  </p:sldIdLst>
  <p:sldSz cx="12192000" cy="6858000"/>
  <p:notesSz cx="6858000" cy="9144000"/>
  <p:custDataLst>
    <p:tags r:id="rId19"/>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9D42-81F6-4B8B-8873-0A2EE6B0A388}" v="12" dt="2024-05-21T09:42:10.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graphicFrameChg chg="mod">
          <ac:chgData name="Héni BEN MRAD" userId="29e18123-af16-4e2b-8963-6a004e026def" providerId="ADAL" clId="{78E63A4E-AD4F-490C-8E4A-EEC435BAB616}" dt="2024-05-15T08:31:24.252" v="1" actId="1076"/>
          <ac:graphicFrameMkLst>
            <pc:docMk/>
            <pc:sldMk cId="17159160" sldId="2147378656"/>
            <ac:graphicFrameMk id="5" creationId="{CA659D41-EFBE-2DB8-2EF8-27CF870D460D}"/>
          </ac:graphicFrameMkLst>
        </pc:graphicFrameChg>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graphicFrameChg chg="modGraphic">
          <ac:chgData name="Diana-Alexandra Stan" userId="2b14850f-a8de-4b8f-a1ca-aac948f0bd80" providerId="ADAL" clId="{ABEC9D42-81F6-4B8B-8873-0A2EE6B0A388}" dt="2024-05-14T09:13:08.592" v="1" actId="14734"/>
          <ac:graphicFrameMkLst>
            <pc:docMk/>
            <pc:sldMk cId="4278805120" sldId="2147378330"/>
            <ac:graphicFrameMk id="12" creationId="{522A63A6-A142-41B5-93A1-EBB1D8DC7CFD}"/>
          </ac:graphicFrameMkLst>
        </pc:graphicFrameChg>
      </pc:sldChg>
      <pc:sldChg chg="delSp modSp add mod">
        <pc:chgData name="Diana-Alexandra Stan" userId="2b14850f-a8de-4b8f-a1ca-aac948f0bd80" providerId="ADAL" clId="{ABEC9D42-81F6-4B8B-8873-0A2EE6B0A388}" dt="2024-05-15T14:06:40.677" v="61" actId="20577"/>
        <pc:sldMkLst>
          <pc:docMk/>
          <pc:sldMk cId="464417022" sldId="2147378467"/>
        </pc:sldMkLst>
        <pc:spChg chg="mod">
          <ac:chgData name="Diana-Alexandra Stan" userId="2b14850f-a8de-4b8f-a1ca-aac948f0bd80" providerId="ADAL" clId="{ABEC9D42-81F6-4B8B-8873-0A2EE6B0A388}" dt="2024-05-15T14:06:40.677" v="61" actId="20577"/>
          <ac:spMkLst>
            <pc:docMk/>
            <pc:sldMk cId="464417022" sldId="2147378467"/>
            <ac:spMk id="2" creationId="{4125BCEF-AEAA-A399-A48F-ED2906997D53}"/>
          </ac:spMkLst>
        </pc:spChg>
        <pc:spChg chg="del">
          <ac:chgData name="Diana-Alexandra Stan" userId="2b14850f-a8de-4b8f-a1ca-aac948f0bd80" providerId="ADAL" clId="{ABEC9D42-81F6-4B8B-8873-0A2EE6B0A388}" dt="2024-05-15T14:05:52.958" v="46" actId="478"/>
          <ac:spMkLst>
            <pc:docMk/>
            <pc:sldMk cId="464417022" sldId="2147378467"/>
            <ac:spMk id="10" creationId="{7C44B65F-9A01-07F7-C4B2-82AE105E2AA3}"/>
          </ac:spMkLst>
        </pc:spChg>
        <pc:picChg chg="del">
          <ac:chgData name="Diana-Alexandra Stan" userId="2b14850f-a8de-4b8f-a1ca-aac948f0bd80" providerId="ADAL" clId="{ABEC9D42-81F6-4B8B-8873-0A2EE6B0A388}" dt="2024-05-15T14:05:53.871" v="47" actId="478"/>
          <ac:picMkLst>
            <pc:docMk/>
            <pc:sldMk cId="464417022" sldId="2147378467"/>
            <ac:picMk id="11" creationId="{8B9EE739-37DD-4253-A764-60D4B439E679}"/>
          </ac:picMkLst>
        </pc:picChg>
      </pc:sldChg>
      <pc:sldChg chg="delSp modSp add mod">
        <pc:chgData name="Diana-Alexandra Stan" userId="2b14850f-a8de-4b8f-a1ca-aac948f0bd80" providerId="ADAL" clId="{ABEC9D42-81F6-4B8B-8873-0A2EE6B0A388}" dt="2024-05-15T14:07:36.775" v="78" actId="20577"/>
        <pc:sldMkLst>
          <pc:docMk/>
          <pc:sldMk cId="3457511368" sldId="2147378469"/>
        </pc:sldMkLst>
        <pc:spChg chg="mod">
          <ac:chgData name="Diana-Alexandra Stan" userId="2b14850f-a8de-4b8f-a1ca-aac948f0bd80" providerId="ADAL" clId="{ABEC9D42-81F6-4B8B-8873-0A2EE6B0A388}" dt="2024-05-15T14:07:36.775" v="78" actId="20577"/>
          <ac:spMkLst>
            <pc:docMk/>
            <pc:sldMk cId="3457511368" sldId="2147378469"/>
            <ac:spMk id="2" creationId="{4125BCEF-AEAA-A399-A48F-ED2906997D53}"/>
          </ac:spMkLst>
        </pc:spChg>
        <pc:spChg chg="del">
          <ac:chgData name="Diana-Alexandra Stan" userId="2b14850f-a8de-4b8f-a1ca-aac948f0bd80" providerId="ADAL" clId="{ABEC9D42-81F6-4B8B-8873-0A2EE6B0A388}" dt="2024-05-15T14:07:31.935" v="74" actId="478"/>
          <ac:spMkLst>
            <pc:docMk/>
            <pc:sldMk cId="3457511368" sldId="2147378469"/>
            <ac:spMk id="10" creationId="{7C44B65F-9A01-07F7-C4B2-82AE105E2AA3}"/>
          </ac:spMkLst>
        </pc:spChg>
        <pc:picChg chg="del">
          <ac:chgData name="Diana-Alexandra Stan" userId="2b14850f-a8de-4b8f-a1ca-aac948f0bd80" providerId="ADAL" clId="{ABEC9D42-81F6-4B8B-8873-0A2EE6B0A388}" dt="2024-05-15T14:07:32.772" v="75" actId="478"/>
          <ac:picMkLst>
            <pc:docMk/>
            <pc:sldMk cId="3457511368" sldId="2147378469"/>
            <ac:picMk id="11" creationId="{8B9EE739-37DD-4253-A764-60D4B439E679}"/>
          </ac:picMkLst>
        </pc:picChg>
      </pc:sldChg>
      <pc:sldChg chg="delSp modSp add mod">
        <pc:chgData name="Diana-Alexandra Stan" userId="2b14850f-a8de-4b8f-a1ca-aac948f0bd80" providerId="ADAL" clId="{ABEC9D42-81F6-4B8B-8873-0A2EE6B0A388}" dt="2024-05-15T14:06:45.780" v="70" actId="20577"/>
        <pc:sldMkLst>
          <pc:docMk/>
          <pc:sldMk cId="4110961314" sldId="2147378470"/>
        </pc:sldMkLst>
        <pc:spChg chg="mod">
          <ac:chgData name="Diana-Alexandra Stan" userId="2b14850f-a8de-4b8f-a1ca-aac948f0bd80" providerId="ADAL" clId="{ABEC9D42-81F6-4B8B-8873-0A2EE6B0A388}" dt="2024-05-15T14:06:45.780" v="70" actId="20577"/>
          <ac:spMkLst>
            <pc:docMk/>
            <pc:sldMk cId="4110961314" sldId="2147378470"/>
            <ac:spMk id="2" creationId="{4125BCEF-AEAA-A399-A48F-ED2906997D53}"/>
          </ac:spMkLst>
        </pc:spChg>
        <pc:spChg chg="del">
          <ac:chgData name="Diana-Alexandra Stan" userId="2b14850f-a8de-4b8f-a1ca-aac948f0bd80" providerId="ADAL" clId="{ABEC9D42-81F6-4B8B-8873-0A2EE6B0A388}" dt="2024-05-15T14:06:27.322" v="51" actId="478"/>
          <ac:spMkLst>
            <pc:docMk/>
            <pc:sldMk cId="4110961314" sldId="2147378470"/>
            <ac:spMk id="10" creationId="{7C44B65F-9A01-07F7-C4B2-82AE105E2AA3}"/>
          </ac:spMkLst>
        </pc:spChg>
        <pc:picChg chg="del">
          <ac:chgData name="Diana-Alexandra Stan" userId="2b14850f-a8de-4b8f-a1ca-aac948f0bd80" providerId="ADAL" clId="{ABEC9D42-81F6-4B8B-8873-0A2EE6B0A388}" dt="2024-05-15T14:06:27.966" v="52" actId="478"/>
          <ac:picMkLst>
            <pc:docMk/>
            <pc:sldMk cId="4110961314" sldId="2147378470"/>
            <ac:picMk id="11" creationId="{8B9EE739-37DD-4253-A764-60D4B439E679}"/>
          </ac:picMkLst>
        </pc:picChg>
      </pc:sldChg>
      <pc:sldChg chg="delSp add mod">
        <pc:chgData name="Diana-Alexandra Stan" userId="2b14850f-a8de-4b8f-a1ca-aac948f0bd80" providerId="ADAL" clId="{ABEC9D42-81F6-4B8B-8873-0A2EE6B0A388}" dt="2024-05-15T14:04:25.593" v="40" actId="478"/>
        <pc:sldMkLst>
          <pc:docMk/>
          <pc:sldMk cId="560854086" sldId="2147378476"/>
        </pc:sldMkLst>
        <pc:spChg chg="del">
          <ac:chgData name="Diana-Alexandra Stan" userId="2b14850f-a8de-4b8f-a1ca-aac948f0bd80" providerId="ADAL" clId="{ABEC9D42-81F6-4B8B-8873-0A2EE6B0A388}" dt="2024-05-15T14:04:24.824" v="39" actId="478"/>
          <ac:spMkLst>
            <pc:docMk/>
            <pc:sldMk cId="560854086" sldId="2147378476"/>
            <ac:spMk id="10" creationId="{DA2D3ECC-B7CB-6653-33E1-75A3DA970898}"/>
          </ac:spMkLst>
        </pc:spChg>
        <pc:picChg chg="del">
          <ac:chgData name="Diana-Alexandra Stan" userId="2b14850f-a8de-4b8f-a1ca-aac948f0bd80" providerId="ADAL" clId="{ABEC9D42-81F6-4B8B-8873-0A2EE6B0A388}" dt="2024-05-15T14:04:25.593" v="40" actId="478"/>
          <ac:picMkLst>
            <pc:docMk/>
            <pc:sldMk cId="560854086" sldId="2147378476"/>
            <ac:picMk id="11" creationId="{FEC01301-0507-0121-FCF1-58EC421A36B4}"/>
          </ac:picMkLst>
        </pc:picChg>
      </pc:sldChg>
      <pc:sldChg chg="delSp mod">
        <pc:chgData name="Diana-Alexandra Stan" userId="2b14850f-a8de-4b8f-a1ca-aac948f0bd80" providerId="ADAL" clId="{ABEC9D42-81F6-4B8B-8873-0A2EE6B0A388}" dt="2024-05-15T13:58:01.188" v="35" actId="478"/>
        <pc:sldMkLst>
          <pc:docMk/>
          <pc:sldMk cId="840874942" sldId="2147378477"/>
        </pc:sldMkLst>
        <pc:spChg chg="del">
          <ac:chgData name="Diana-Alexandra Stan" userId="2b14850f-a8de-4b8f-a1ca-aac948f0bd80" providerId="ADAL" clId="{ABEC9D42-81F6-4B8B-8873-0A2EE6B0A388}" dt="2024-05-15T13:58:00.254" v="34" actId="478"/>
          <ac:spMkLst>
            <pc:docMk/>
            <pc:sldMk cId="840874942" sldId="2147378477"/>
            <ac:spMk id="10" creationId="{DA2D3ECC-B7CB-6653-33E1-75A3DA970898}"/>
          </ac:spMkLst>
        </pc:spChg>
        <pc:picChg chg="del">
          <ac:chgData name="Diana-Alexandra Stan" userId="2b14850f-a8de-4b8f-a1ca-aac948f0bd80" providerId="ADAL" clId="{ABEC9D42-81F6-4B8B-8873-0A2EE6B0A388}" dt="2024-05-15T13:58:01.188" v="35" actId="478"/>
          <ac:picMkLst>
            <pc:docMk/>
            <pc:sldMk cId="840874942" sldId="2147378477"/>
            <ac:picMk id="11" creationId="{FEC01301-0507-0121-FCF1-58EC421A36B4}"/>
          </ac:picMkLst>
        </pc:picChg>
      </pc:sldChg>
      <pc:sldChg chg="delSp modSp del mod">
        <pc:chgData name="Diana-Alexandra Stan" userId="2b14850f-a8de-4b8f-a1ca-aac948f0bd80" providerId="ADAL" clId="{ABEC9D42-81F6-4B8B-8873-0A2EE6B0A388}" dt="2024-05-15T14:10:18.443" v="79" actId="47"/>
        <pc:sldMkLst>
          <pc:docMk/>
          <pc:sldMk cId="4043005681" sldId="2147378658"/>
        </pc:sldMkLst>
        <pc:graphicFrameChg chg="modGraphic">
          <ac:chgData name="Diana-Alexandra Stan" userId="2b14850f-a8de-4b8f-a1ca-aac948f0bd80" providerId="ADAL" clId="{ABEC9D42-81F6-4B8B-8873-0A2EE6B0A388}" dt="2024-05-14T09:14:18.311" v="2" actId="2164"/>
          <ac:graphicFrameMkLst>
            <pc:docMk/>
            <pc:sldMk cId="4043005681" sldId="2147378658"/>
            <ac:graphicFrameMk id="12" creationId="{522A63A6-A142-41B5-93A1-EBB1D8DC7CFD}"/>
          </ac:graphicFrameMkLst>
        </pc:graphicFrameChg>
        <pc:picChg chg="del">
          <ac:chgData name="Diana-Alexandra Stan" userId="2b14850f-a8de-4b8f-a1ca-aac948f0bd80" providerId="ADAL" clId="{ABEC9D42-81F6-4B8B-8873-0A2EE6B0A388}" dt="2024-05-14T09:14:19.964" v="3" actId="478"/>
          <ac:picMkLst>
            <pc:docMk/>
            <pc:sldMk cId="4043005681" sldId="2147378658"/>
            <ac:picMk id="7" creationId="{DF2D1750-2F7D-7F86-BA24-20F3D1D91715}"/>
          </ac:picMkLst>
        </pc:picChg>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pChg chg="mod">
          <ac:chgData name="Diana-Alexandra Stan" userId="2b14850f-a8de-4b8f-a1ca-aac948f0bd80" providerId="ADAL" clId="{ABEC9D42-81F6-4B8B-8873-0A2EE6B0A388}" dt="2024-05-14T09:33:55.861" v="24" actId="20577"/>
          <ac:spMkLst>
            <pc:docMk/>
            <pc:sldMk cId="873405070" sldId="2147378660"/>
            <ac:spMk id="7" creationId="{30EA6425-EB2C-4F05-158E-A6F703DAF560}"/>
          </ac:spMkLst>
        </pc:spChg>
      </pc:sldChg>
      <pc:sldChg chg="delSp modSp mod">
        <pc:chgData name="Diana-Alexandra Stan" userId="2b14850f-a8de-4b8f-a1ca-aac948f0bd80" providerId="ADAL" clId="{ABEC9D42-81F6-4B8B-8873-0A2EE6B0A388}" dt="2024-05-15T14:15:01.072" v="83" actId="1076"/>
        <pc:sldMkLst>
          <pc:docMk/>
          <pc:sldMk cId="1160057248" sldId="2147378660"/>
        </pc:sldMkLst>
        <pc:graphicFrameChg chg="modGraphic">
          <ac:chgData name="Diana-Alexandra Stan" userId="2b14850f-a8de-4b8f-a1ca-aac948f0bd80" providerId="ADAL" clId="{ABEC9D42-81F6-4B8B-8873-0A2EE6B0A388}" dt="2024-05-15T14:14:48.410" v="80" actId="2164"/>
          <ac:graphicFrameMkLst>
            <pc:docMk/>
            <pc:sldMk cId="1160057248" sldId="2147378660"/>
            <ac:graphicFrameMk id="12" creationId="{522A63A6-A142-41B5-93A1-EBB1D8DC7CFD}"/>
          </ac:graphicFrameMkLst>
        </pc:graphicFrameChg>
        <pc:picChg chg="del">
          <ac:chgData name="Diana-Alexandra Stan" userId="2b14850f-a8de-4b8f-a1ca-aac948f0bd80" providerId="ADAL" clId="{ABEC9D42-81F6-4B8B-8873-0A2EE6B0A388}" dt="2024-05-15T14:14:55.765" v="82" actId="478"/>
          <ac:picMkLst>
            <pc:docMk/>
            <pc:sldMk cId="1160057248" sldId="2147378660"/>
            <ac:picMk id="3" creationId="{C4407E16-2862-9402-F926-AFF0665C9233}"/>
          </ac:picMkLst>
        </pc:picChg>
        <pc:picChg chg="mod">
          <ac:chgData name="Diana-Alexandra Stan" userId="2b14850f-a8de-4b8f-a1ca-aac948f0bd80" providerId="ADAL" clId="{ABEC9D42-81F6-4B8B-8873-0A2EE6B0A388}" dt="2024-05-15T14:15:01.072" v="83" actId="1076"/>
          <ac:picMkLst>
            <pc:docMk/>
            <pc:sldMk cId="1160057248" sldId="2147378660"/>
            <ac:picMk id="7" creationId="{21E2981E-6F40-A2C8-28AE-B852A21B75B1}"/>
          </ac:picMkLst>
        </pc:picChg>
        <pc:picChg chg="del">
          <ac:chgData name="Diana-Alexandra Stan" userId="2b14850f-a8de-4b8f-a1ca-aac948f0bd80" providerId="ADAL" clId="{ABEC9D42-81F6-4B8B-8873-0A2EE6B0A388}" dt="2024-05-15T14:14:52.739" v="81" actId="478"/>
          <ac:picMkLst>
            <pc:docMk/>
            <pc:sldMk cId="1160057248" sldId="2147378660"/>
            <ac:picMk id="14" creationId="{3E00E60D-2E0F-C9B2-13CC-80F011C8B569}"/>
          </ac:picMkLst>
        </pc:picChg>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graphicFrameChg chg="add del">
          <ac:chgData name="Diana-Alexandra Stan" userId="2b14850f-a8de-4b8f-a1ca-aac948f0bd80" providerId="ADAL" clId="{ABEC9D42-81F6-4B8B-8873-0A2EE6B0A388}" dt="2024-05-15T13:38:59.015" v="29" actId="478"/>
          <ac:graphicFrameMkLst>
            <pc:docMk/>
            <pc:sldMk cId="2296911869" sldId="2147378661"/>
            <ac:graphicFrameMk id="5" creationId="{01ABEB95-54AA-1183-50D9-69CBF59055C8}"/>
          </ac:graphicFrameMkLst>
        </pc:graphicFrameChg>
      </pc:sldChg>
      <pc:sldChg chg="delSp modSp add del mod">
        <pc:chgData name="Diana-Alexandra Stan" userId="2b14850f-a8de-4b8f-a1ca-aac948f0bd80" providerId="ADAL" clId="{ABEC9D42-81F6-4B8B-8873-0A2EE6B0A388}" dt="2024-05-15T14:04:31.523" v="41" actId="47"/>
        <pc:sldMkLst>
          <pc:docMk/>
          <pc:sldMk cId="182839367" sldId="2147378662"/>
        </pc:sldMkLst>
        <pc:graphicFrameChg chg="modGraphic">
          <ac:chgData name="Diana-Alexandra Stan" userId="2b14850f-a8de-4b8f-a1ca-aac948f0bd80" providerId="ADAL" clId="{ABEC9D42-81F6-4B8B-8873-0A2EE6B0A388}" dt="2024-05-15T13:39:22.066" v="32" actId="2164"/>
          <ac:graphicFrameMkLst>
            <pc:docMk/>
            <pc:sldMk cId="182839367" sldId="2147378662"/>
            <ac:graphicFrameMk id="12" creationId="{522A63A6-A142-41B5-93A1-EBB1D8DC7CFD}"/>
          </ac:graphicFrameMkLst>
        </pc:graphicFrameChg>
        <pc:picChg chg="del">
          <ac:chgData name="Diana-Alexandra Stan" userId="2b14850f-a8de-4b8f-a1ca-aac948f0bd80" providerId="ADAL" clId="{ABEC9D42-81F6-4B8B-8873-0A2EE6B0A388}" dt="2024-05-15T13:39:23.776" v="33" actId="478"/>
          <ac:picMkLst>
            <pc:docMk/>
            <pc:sldMk cId="182839367" sldId="2147378662"/>
            <ac:picMk id="3" creationId="{4EB66420-1FEF-2277-4563-AB4F99EBEEC2}"/>
          </ac:picMkLst>
        </pc:picChg>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pChg chg="del">
          <ac:chgData name="Diana-Alexandra Stan" userId="2b14850f-a8de-4b8f-a1ca-aac948f0bd80" providerId="ADAL" clId="{ABEC9D42-81F6-4B8B-8873-0A2EE6B0A388}" dt="2024-05-21T09:41:17.747" v="88" actId="478"/>
          <ac:spMkLst>
            <pc:docMk/>
            <pc:sldMk cId="3975855007" sldId="2147378721"/>
            <ac:spMk id="2" creationId="{4125BCEF-AEAA-A399-A48F-ED2906997D53}"/>
          </ac:spMkLst>
        </pc:spChg>
        <pc:spChg chg="add del mod">
          <ac:chgData name="Diana-Alexandra Stan" userId="2b14850f-a8de-4b8f-a1ca-aac948f0bd80" providerId="ADAL" clId="{ABEC9D42-81F6-4B8B-8873-0A2EE6B0A388}" dt="2024-05-21T09:41:21.370" v="90" actId="478"/>
          <ac:spMkLst>
            <pc:docMk/>
            <pc:sldMk cId="3975855007" sldId="2147378721"/>
            <ac:spMk id="5" creationId="{BED22ED2-E3CD-871E-FA4D-E00B6B410DA4}"/>
          </ac:spMkLst>
        </pc:spChg>
        <pc:graphicFrameChg chg="modGraphic">
          <ac:chgData name="Diana-Alexandra Stan" userId="2b14850f-a8de-4b8f-a1ca-aac948f0bd80" providerId="ADAL" clId="{ABEC9D42-81F6-4B8B-8873-0A2EE6B0A388}" dt="2024-05-21T09:42:10.192" v="97" actId="113"/>
          <ac:graphicFrameMkLst>
            <pc:docMk/>
            <pc:sldMk cId="3975855007" sldId="2147378721"/>
            <ac:graphicFrameMk id="7" creationId="{07A82FFD-C6E1-8E2C-3D8C-ECDB1C786C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28/05/2024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6B738-3D5C-4851-BA0A-F593F390B820}" type="slidenum">
              <a:rPr lang="fr-FR" smtClean="0"/>
              <a:t>3</a:t>
            </a:fld>
            <a:endParaRPr lang="fr-FR"/>
          </a:p>
        </p:txBody>
      </p:sp>
    </p:spTree>
    <p:extLst>
      <p:ext uri="{BB962C8B-B14F-4D97-AF65-F5344CB8AC3E}">
        <p14:creationId xmlns:p14="http://schemas.microsoft.com/office/powerpoint/2010/main" val="2693692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pn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22.xml"/><Relationship Id="rId6" Type="http://schemas.openxmlformats.org/officeDocument/2006/relationships/image" Target="../media/image14.png"/><Relationship Id="rId5" Type="http://schemas.openxmlformats.org/officeDocument/2006/relationships/image" Target="../media/image10.emf"/><Relationship Id="rId4" Type="http://schemas.openxmlformats.org/officeDocument/2006/relationships/oleObject" Target="../embeddings/oleObject18.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1.xml"/><Relationship Id="rId1" Type="http://schemas.openxmlformats.org/officeDocument/2006/relationships/tags" Target="../tags/tag2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tags" Target="../tags/tag25.xml"/><Relationship Id="rId5" Type="http://schemas.openxmlformats.org/officeDocument/2006/relationships/image" Target="../media/image19.pn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26.xml"/><Relationship Id="rId5" Type="http://schemas.openxmlformats.org/officeDocument/2006/relationships/image" Target="../media/image20.pn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1.xml"/><Relationship Id="rId1" Type="http://schemas.openxmlformats.org/officeDocument/2006/relationships/tags" Target="../tags/tag27.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1.xml"/><Relationship Id="rId1" Type="http://schemas.openxmlformats.org/officeDocument/2006/relationships/tags" Target="../tags/tag2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1.xml"/><Relationship Id="rId1" Type="http://schemas.openxmlformats.org/officeDocument/2006/relationships/tags" Target="../tags/tag29.xml"/><Relationship Id="rId6" Type="http://schemas.openxmlformats.org/officeDocument/2006/relationships/image" Target="../media/image25.tiff"/><Relationship Id="rId5" Type="http://schemas.openxmlformats.org/officeDocument/2006/relationships/image" Target="../media/image24.png"/><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1.xml"/><Relationship Id="rId1" Type="http://schemas.openxmlformats.org/officeDocument/2006/relationships/tags" Target="../tags/tag3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1.xml"/><Relationship Id="rId1" Type="http://schemas.openxmlformats.org/officeDocument/2006/relationships/tags" Target="../tags/tag31.xml"/><Relationship Id="rId6" Type="http://schemas.openxmlformats.org/officeDocument/2006/relationships/image" Target="../media/image13.jpeg"/><Relationship Id="rId5" Type="http://schemas.openxmlformats.org/officeDocument/2006/relationships/image" Target="../media/image28.jpeg"/><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1.xml"/><Relationship Id="rId1" Type="http://schemas.openxmlformats.org/officeDocument/2006/relationships/tags" Target="../tags/tag32.xml"/><Relationship Id="rId5" Type="http://schemas.openxmlformats.org/officeDocument/2006/relationships/image" Target="../media/image29.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4130989947"/>
              </p:ext>
            </p:extLst>
          </p:nvPr>
        </p:nvGraphicFramePr>
        <p:xfrm>
          <a:off x="361541" y="1808163"/>
          <a:ext cx="11430002" cy="3130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 CA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Déploiement du processus outillé de Surveillance des risques Entreprises et Collectivités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Identification des points d’amélioration et des dysfonctionnements majeurs du processus actuel de surveillance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Qualification, priorisation des attentes métiers et construction d’une cartographie de la cible du processus outillé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Cadrage et pilotage en Méthode Agile de la fabrication des outils et de la mise en place du processus outillé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Image 1">
            <a:extLst>
              <a:ext uri="{FF2B5EF4-FFF2-40B4-BE49-F238E27FC236}">
                <a16:creationId xmlns:a16="http://schemas.microsoft.com/office/drawing/2014/main" id="{6CA228BD-4B8B-CBB3-DAA5-E0BFC0B49BA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813140" y="3040688"/>
            <a:ext cx="819048" cy="819048"/>
          </a:xfrm>
          <a:prstGeom prst="rect">
            <a:avLst/>
          </a:prstGeom>
        </p:spPr>
      </p:pic>
    </p:spTree>
    <p:extLst>
      <p:ext uri="{BB962C8B-B14F-4D97-AF65-F5344CB8AC3E}">
        <p14:creationId xmlns:p14="http://schemas.microsoft.com/office/powerpoint/2010/main" val="54479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51360705"/>
              </p:ext>
            </p:extLst>
          </p:nvPr>
        </p:nvGraphicFramePr>
        <p:xfrm>
          <a:off x="361541" y="1808163"/>
          <a:ext cx="11430002" cy="347252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Diagnostic, optimisation du processus majeur de l’assureur et harmonisation entre caisse régionale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et décomposition du processus principal en sous processus.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via entretiens, des risques et des contrôles existants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Recherche optimisation des process et ajustement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Ecriture des processus opérationnels et positionnement des points de risques et contrôle éventuels positionné. Matérialisation des manques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Vision sur les outils (sous exploitation)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Préconisation d’évolution selon les thèmes et par priorisation (Quick </a:t>
                      </a:r>
                      <a:r>
                        <a:rPr lang="fr-FR" sz="1100" kern="1200" dirty="0" err="1">
                          <a:solidFill>
                            <a:schemeClr val="dk1"/>
                          </a:solidFill>
                          <a:latin typeface="+mn-lt"/>
                          <a:ea typeface="+mn-ea"/>
                          <a:cs typeface="Arial"/>
                        </a:rPr>
                        <a:t>wins</a:t>
                      </a:r>
                      <a:r>
                        <a:rPr lang="fr-FR" sz="1100" kern="1200" dirty="0">
                          <a:solidFill>
                            <a:schemeClr val="dk1"/>
                          </a:solidFill>
                          <a:latin typeface="+mn-lt"/>
                          <a:ea typeface="+mn-ea"/>
                          <a:cs typeface="Arial"/>
                        </a:rPr>
                        <a:t>/ tâches MT/ tâches LT)</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dirty="0">
                          <a:solidFill>
                            <a:schemeClr val="tx1"/>
                          </a:solidFill>
                          <a:latin typeface="+mn-lt"/>
                          <a:ea typeface="+mn-ea"/>
                          <a:cs typeface="+mn-cs"/>
                        </a:rPr>
                        <a:t>Diagnostic et plan d’amélioration en matière de contrôle opérationnel pour la Direction Assurance Vie (DAV)</a:t>
                      </a: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Lecture documentaires (processus détaillés, organisation Covéa)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Diagnostic de l’environnement de contrôle permanent actuel</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Cartographie des risques et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Revue de la pertinence des contrôles présents sur une sélection de processus et sous processus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des éventuels manquements et/ou zones de surcontrôles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Entretiens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Constats et plan d’actions priorisé (matrice enjeux/accessibilité)</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Image 1">
            <a:extLst>
              <a:ext uri="{FF2B5EF4-FFF2-40B4-BE49-F238E27FC236}">
                <a16:creationId xmlns:a16="http://schemas.microsoft.com/office/drawing/2014/main" id="{90B16613-CC38-6F8B-5D45-DFB6EED7F1E3}"/>
              </a:ext>
            </a:extLst>
          </p:cNvPr>
          <p:cNvPicPr>
            <a:picLocks noChangeAspect="1"/>
          </p:cNvPicPr>
          <p:nvPr/>
        </p:nvPicPr>
        <p:blipFill>
          <a:blip r:embed="rId5"/>
          <a:stretch>
            <a:fillRect/>
          </a:stretch>
        </p:blipFill>
        <p:spPr>
          <a:xfrm>
            <a:off x="695478" y="2697374"/>
            <a:ext cx="1037405" cy="369714"/>
          </a:xfrm>
          <a:prstGeom prst="rect">
            <a:avLst/>
          </a:prstGeom>
        </p:spPr>
      </p:pic>
      <p:pic>
        <p:nvPicPr>
          <p:cNvPr id="3" name="Picture 3" descr="Covéa — Wikipédia">
            <a:extLst>
              <a:ext uri="{FF2B5EF4-FFF2-40B4-BE49-F238E27FC236}">
                <a16:creationId xmlns:a16="http://schemas.microsoft.com/office/drawing/2014/main" id="{D8EB8516-F0F4-9427-5000-85AEE4661F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3720" y="4243272"/>
            <a:ext cx="780920" cy="619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11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60" imgH="360" progId="TCLayout.ActiveDocument.1">
                  <p:embed/>
                </p:oleObj>
              </mc:Choice>
              <mc:Fallback>
                <p:oleObj name="Diapositive think-cell" r:id="rId4"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675008466"/>
              </p:ext>
            </p:extLst>
          </p:nvPr>
        </p:nvGraphicFramePr>
        <p:xfrm>
          <a:off x="361541" y="1808163"/>
          <a:ext cx="11430002" cy="383807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SMBC</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Refonte des méthodes de gestion de projet : analyse des pratiques existantes et construction d’un plan amélioration continue sur mesure :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Cadrage de la démarche et animation d’interviews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Analyse des retours et formalisation de recommandations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Préparation et animation d’un séminaire de restitution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Construction collaborative d’un plan d’action priorisé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276906517"/>
                  </a:ext>
                </a:extLst>
              </a:tr>
            </a:tbl>
          </a:graphicData>
        </a:graphic>
      </p:graphicFrame>
      <p:pic>
        <p:nvPicPr>
          <p:cNvPr id="7" name="Image 6">
            <a:extLst>
              <a:ext uri="{FF2B5EF4-FFF2-40B4-BE49-F238E27FC236}">
                <a16:creationId xmlns:a16="http://schemas.microsoft.com/office/drawing/2014/main" id="{51A633BC-0704-CF55-0829-A020D72224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0865" y="5339224"/>
            <a:ext cx="891108" cy="533961"/>
          </a:xfrm>
          <a:prstGeom prst="rect">
            <a:avLst/>
          </a:prstGeom>
        </p:spPr>
      </p:pic>
    </p:spTree>
    <p:extLst>
      <p:ext uri="{BB962C8B-B14F-4D97-AF65-F5344CB8AC3E}">
        <p14:creationId xmlns:p14="http://schemas.microsoft.com/office/powerpoint/2010/main" val="2182626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873088067"/>
              </p:ext>
            </p:extLst>
          </p:nvPr>
        </p:nvGraphicFramePr>
        <p:xfrm>
          <a:off x="361541" y="1808163"/>
          <a:ext cx="11430002" cy="3301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Action Logement Services</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Suite à une restructuration à marche forcée et au rapprochement de 21 filiales, les services paie et comptabilité avaient besoin d’un accompagnement pour retrouver les montants à payer au titre des charges sociales pour les 2 dernières années</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Formalisation de cartographies des écarts pour chaque type de charges sociales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Analyse des comptes et reconstitution des charges sociale à payer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Formalisation d’un dossier de recommandation pour fiabiliser le traitement des charges sociales</a:t>
                      </a:r>
                    </a:p>
                  </a:txBody>
                  <a:tcPr marL="68580" marR="68580" marT="0" marB="0"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Due </a:t>
                      </a:r>
                      <a:r>
                        <a:rPr lang="fr-FR" sz="1100" kern="1200" noProof="0" dirty="0" err="1">
                          <a:solidFill>
                            <a:schemeClr val="tx1"/>
                          </a:solidFill>
                          <a:latin typeface="+mn-lt"/>
                          <a:ea typeface="+mn-ea"/>
                          <a:cs typeface="+mn-cs"/>
                        </a:rPr>
                        <a:t>Dilligence</a:t>
                      </a:r>
                      <a:r>
                        <a:rPr lang="fr-FR" sz="1100" kern="1200" noProof="0" dirty="0">
                          <a:solidFill>
                            <a:schemeClr val="tx1"/>
                          </a:solidFill>
                          <a:latin typeface="+mn-lt"/>
                          <a:ea typeface="+mn-ea"/>
                          <a:cs typeface="+mn-cs"/>
                        </a:rPr>
                        <a:t> Risque et Conformité sur une entité d’Europe Centrale en vue de son intégration à Orange Bank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Gap </a:t>
                      </a:r>
                      <a:r>
                        <a:rPr lang="fr-FR" sz="1100" kern="1200" noProof="0" dirty="0" err="1">
                          <a:solidFill>
                            <a:schemeClr val="dk1"/>
                          </a:solidFill>
                          <a:latin typeface="+mn-lt"/>
                          <a:ea typeface="+mn-ea"/>
                          <a:cs typeface="Arial"/>
                        </a:rPr>
                        <a:t>analysis</a:t>
                      </a:r>
                      <a:r>
                        <a:rPr lang="fr-FR" sz="1100" kern="1200" noProof="0" dirty="0">
                          <a:solidFill>
                            <a:schemeClr val="dk1"/>
                          </a:solidFill>
                          <a:latin typeface="+mn-lt"/>
                          <a:ea typeface="+mn-ea"/>
                          <a:cs typeface="Arial"/>
                        </a:rPr>
                        <a:t> entité acquise  /OBK France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Evaluation de l’adéquation des risques et du niveau de provisionnement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Synthèse des axes d’amélioration (équipe/ outils/ process) et mise en avant des point d’attention pour follow-up</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Image 1" descr="Une image contenant chemise, alimentation, dessin&#10;&#10;Description générée automatiquement">
            <a:extLst>
              <a:ext uri="{FF2B5EF4-FFF2-40B4-BE49-F238E27FC236}">
                <a16:creationId xmlns:a16="http://schemas.microsoft.com/office/drawing/2014/main" id="{77DC107A-58BB-EA88-C1F4-CF859394E3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166" y="2209323"/>
            <a:ext cx="763138" cy="644427"/>
          </a:xfrm>
          <a:prstGeom prst="rect">
            <a:avLst/>
          </a:prstGeom>
        </p:spPr>
      </p:pic>
      <p:pic>
        <p:nvPicPr>
          <p:cNvPr id="13" name="Espace réservé pour une image  10">
            <a:extLst>
              <a:ext uri="{FF2B5EF4-FFF2-40B4-BE49-F238E27FC236}">
                <a16:creationId xmlns:a16="http://schemas.microsoft.com/office/drawing/2014/main" id="{73650053-0561-ABA0-6BFF-F800B3CBB4B4}"/>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660656" y="4112316"/>
            <a:ext cx="1004157" cy="733877"/>
          </a:xfrm>
          <a:prstGeom prst="rect">
            <a:avLst/>
          </a:prstGeom>
        </p:spPr>
      </p:pic>
    </p:spTree>
    <p:extLst>
      <p:ext uri="{BB962C8B-B14F-4D97-AF65-F5344CB8AC3E}">
        <p14:creationId xmlns:p14="http://schemas.microsoft.com/office/powerpoint/2010/main" val="52722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dirty="0"/>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087280601"/>
              </p:ext>
            </p:extLst>
          </p:nvPr>
        </p:nvGraphicFramePr>
        <p:xfrm>
          <a:off x="361541" y="1808163"/>
          <a:ext cx="11430002" cy="3301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CNP Assurances</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Assistance Revue du process </a:t>
                      </a:r>
                      <a:r>
                        <a:rPr lang="fr-FR" sz="1100" kern="1200" noProof="0" dirty="0" err="1">
                          <a:solidFill>
                            <a:schemeClr val="tx1"/>
                          </a:solidFill>
                          <a:latin typeface="Arial" panose="020B0604020202020204" pitchFamily="34" charset="0"/>
                          <a:ea typeface="+mn-ea"/>
                          <a:cs typeface="Arial" panose="020B0604020202020204" pitchFamily="34" charset="0"/>
                        </a:rPr>
                        <a:t>Private</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Equity</a:t>
                      </a:r>
                      <a:r>
                        <a:rPr lang="fr-FR" sz="1100" kern="1200" noProof="0" dirty="0">
                          <a:solidFill>
                            <a:schemeClr val="tx1"/>
                          </a:solidFill>
                          <a:latin typeface="Arial" panose="020B0604020202020204" pitchFamily="34" charset="0"/>
                          <a:ea typeface="+mn-ea"/>
                          <a:cs typeface="Arial" panose="020B0604020202020204" pitchFamily="34" charset="0"/>
                        </a:rPr>
                        <a:t> et Revue annuelle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du process d’investissement et de revu en </a:t>
                      </a:r>
                      <a:r>
                        <a:rPr lang="fr-FR" sz="1100" kern="1200" noProof="0" dirty="0" err="1">
                          <a:solidFill>
                            <a:schemeClr val="dk1"/>
                          </a:solidFill>
                          <a:latin typeface="+mn-lt"/>
                          <a:ea typeface="+mn-ea"/>
                          <a:cs typeface="Arial"/>
                        </a:rPr>
                        <a:t>Private</a:t>
                      </a:r>
                      <a:r>
                        <a:rPr lang="fr-FR" sz="1100" kern="1200" noProof="0" dirty="0">
                          <a:solidFill>
                            <a:schemeClr val="dk1"/>
                          </a:solidFill>
                          <a:latin typeface="+mn-lt"/>
                          <a:ea typeface="+mn-ea"/>
                          <a:cs typeface="Arial"/>
                        </a:rPr>
                        <a:t> </a:t>
                      </a:r>
                      <a:r>
                        <a:rPr lang="fr-FR" sz="1100" kern="1200" noProof="0" dirty="0" err="1">
                          <a:solidFill>
                            <a:schemeClr val="dk1"/>
                          </a:solidFill>
                          <a:latin typeface="+mn-lt"/>
                          <a:ea typeface="+mn-ea"/>
                          <a:cs typeface="Arial"/>
                        </a:rPr>
                        <a:t>Equity</a:t>
                      </a:r>
                      <a:endParaRPr lang="fr-FR" sz="1100" kern="1200" noProof="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Proposition d’amélioration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Partage et co-construction du nouveau process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Participation au process opérationnel de revue annuelle</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dirty="0">
                        <a:solidFill>
                          <a:schemeClr val="tx1"/>
                        </a:solidFill>
                        <a:latin typeface="Arial" panose="020B0604020202020204" pitchFamily="34" charset="0"/>
                        <a:ea typeface="+mn-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BMW Financial Services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r>
                        <a:rPr lang="fr-FR" sz="1100" kern="1200" dirty="0">
                          <a:solidFill>
                            <a:schemeClr val="tx1"/>
                          </a:solidFill>
                          <a:latin typeface="Arial" panose="020B0604020202020204" pitchFamily="34" charset="0"/>
                          <a:ea typeface="+mn-ea"/>
                          <a:cs typeface="Arial" panose="020B0604020202020204" pitchFamily="34" charset="0"/>
                        </a:rPr>
                        <a:t>Renforcer les équipes en charge de la production mensuelle et trimestrielle des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règlementaires de BMW Finance France </a:t>
                      </a:r>
                    </a:p>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r>
                        <a:rPr lang="fr-FR" sz="1100" kern="1200" dirty="0">
                          <a:solidFill>
                            <a:schemeClr val="tx1"/>
                          </a:solidFill>
                          <a:latin typeface="Arial" panose="020B0604020202020204" pitchFamily="34" charset="0"/>
                          <a:ea typeface="+mn-ea"/>
                          <a:cs typeface="Arial" panose="020B0604020202020204" pitchFamily="34" charset="0"/>
                        </a:rPr>
                        <a:t>Préparer l’entrée en vigueur de la règlementation </a:t>
                      </a:r>
                      <a:r>
                        <a:rPr lang="en-GB" sz="1100" kern="1200" dirty="0">
                          <a:solidFill>
                            <a:schemeClr val="tx1"/>
                          </a:solidFill>
                          <a:latin typeface="Arial" panose="020B0604020202020204" pitchFamily="34" charset="0"/>
                          <a:ea typeface="+mn-ea"/>
                          <a:cs typeface="Arial" panose="020B0604020202020204" pitchFamily="34" charset="0"/>
                        </a:rPr>
                        <a:t>CRDV - CRR2</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et suivi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règlementaires COREP, Grands Risques, Ratio de Levier, ratios de liquidité et de financement (LCR, NSFR, ALMM) et Asset </a:t>
                      </a:r>
                      <a:r>
                        <a:rPr lang="fr-FR" sz="1100" kern="1200" noProof="0" dirty="0" err="1">
                          <a:solidFill>
                            <a:schemeClr val="dk1"/>
                          </a:solidFill>
                          <a:latin typeface="+mn-lt"/>
                          <a:ea typeface="+mn-ea"/>
                          <a:cs typeface="Arial"/>
                        </a:rPr>
                        <a:t>Encumbrance</a:t>
                      </a:r>
                      <a:r>
                        <a:rPr lang="fr-FR" sz="1100" kern="1200" noProof="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Veille et mise en conformité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en lien avec la réglementation CRR2</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Mise à jour de la documentation (processus, documentation règlementaire) associée au périmètre à charge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3" name="Picture 4" descr="Insurtech : CNP Assurances achète Azimut et iSalud - News Assurances Pro">
            <a:extLst>
              <a:ext uri="{FF2B5EF4-FFF2-40B4-BE49-F238E27FC236}">
                <a16:creationId xmlns:a16="http://schemas.microsoft.com/office/drawing/2014/main" id="{C4407E16-2862-9402-F926-AFF0665C9233}"/>
              </a:ext>
            </a:extLst>
          </p:cNvPr>
          <p:cNvPicPr>
            <a:picLocks noChangeArrowheads="1"/>
          </p:cNvPicPr>
          <p:nvPr/>
        </p:nvPicPr>
        <p:blipFill rotWithShape="1">
          <a:blip r:embed="rId5">
            <a:extLst>
              <a:ext uri="{28A0092B-C50C-407E-A947-70E740481C1C}">
                <a14:useLocalDpi xmlns:a14="http://schemas.microsoft.com/office/drawing/2010/main" val="0"/>
              </a:ext>
            </a:extLst>
          </a:blip>
          <a:srcRect l="22243" t="13468" r="22243" b="13468"/>
          <a:stretch/>
        </p:blipFill>
        <p:spPr bwMode="auto">
          <a:xfrm>
            <a:off x="714893" y="2190681"/>
            <a:ext cx="950716" cy="6855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os services - ESPACE BERTEAUX VERNOUILLET">
            <a:extLst>
              <a:ext uri="{FF2B5EF4-FFF2-40B4-BE49-F238E27FC236}">
                <a16:creationId xmlns:a16="http://schemas.microsoft.com/office/drawing/2014/main" id="{21E2981E-6F40-A2C8-28AE-B852A21B75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8174" y="4061494"/>
            <a:ext cx="1224153" cy="664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13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135922548"/>
              </p:ext>
            </p:extLst>
          </p:nvPr>
        </p:nvGraphicFramePr>
        <p:xfrm>
          <a:off x="361541" y="1808163"/>
          <a:ext cx="11430002" cy="348323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a:t>
                      </a:r>
                      <a:br>
                        <a:rPr lang="fr-FR" sz="900" b="1" i="1" kern="1200" noProof="0">
                          <a:solidFill>
                            <a:schemeClr val="tx1"/>
                          </a:solidFill>
                          <a:latin typeface="+mn-lt"/>
                          <a:ea typeface="+mn-ea"/>
                          <a:cs typeface="+mn-cs"/>
                        </a:rPr>
                      </a:br>
                      <a:r>
                        <a:rPr lang="fr-FR" sz="900" b="1" i="1" kern="1200" noProof="0">
                          <a:solidFill>
                            <a:schemeClr val="tx1"/>
                          </a:solidFill>
                          <a:latin typeface="+mn-lt"/>
                          <a:ea typeface="+mn-ea"/>
                          <a:cs typeface="+mn-cs"/>
                        </a:rPr>
                        <a:t>Leasing &amp; Factoring</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Projet de déploiement d’un outil de </a:t>
                      </a:r>
                      <a:r>
                        <a:rPr lang="fr-FR" sz="1100" kern="1200" noProof="0" dirty="0" err="1">
                          <a:solidFill>
                            <a:schemeClr val="tx1"/>
                          </a:solidFill>
                          <a:latin typeface="Arial" panose="020B0604020202020204" pitchFamily="34" charset="0"/>
                          <a:ea typeface="+mn-ea"/>
                          <a:cs typeface="Arial" panose="020B0604020202020204" pitchFamily="34" charset="0"/>
                        </a:rPr>
                        <a:t>scoring</a:t>
                      </a:r>
                      <a:r>
                        <a:rPr lang="fr-FR" sz="1100" kern="1200" noProof="0" dirty="0">
                          <a:solidFill>
                            <a:schemeClr val="tx1"/>
                          </a:solidFill>
                          <a:latin typeface="Arial" panose="020B0604020202020204" pitchFamily="34" charset="0"/>
                          <a:ea typeface="+mn-ea"/>
                          <a:cs typeface="Arial" panose="020B0604020202020204" pitchFamily="34" charset="0"/>
                        </a:rPr>
                        <a:t> à l’octroi (Solution Experian) sur deux périmètres géographiques, l’Espagne et l’Allemagne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Structuration du suivi projet, de l’espace documentaire associé et mise à jour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des </a:t>
                      </a:r>
                      <a:r>
                        <a:rPr lang="fr-FR" sz="1100" kern="1200" noProof="0" dirty="0" err="1">
                          <a:solidFill>
                            <a:schemeClr val="dk1"/>
                          </a:solidFill>
                          <a:latin typeface="+mn-lt"/>
                          <a:ea typeface="+mn-ea"/>
                          <a:cs typeface="Arial"/>
                        </a:rPr>
                        <a:t>reportings</a:t>
                      </a:r>
                      <a:r>
                        <a:rPr lang="fr-FR" sz="1100" kern="1200" noProof="0" dirty="0">
                          <a:solidFill>
                            <a:schemeClr val="dk1"/>
                          </a:solidFill>
                          <a:latin typeface="+mn-lt"/>
                          <a:ea typeface="+mn-ea"/>
                          <a:cs typeface="Arial"/>
                        </a:rPr>
                        <a:t>, KPI du projet en vision tableau de bord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Préparation des Comités de suivi : COSUI, COPIL projet, et autres instances liées à la Gouvernance du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Coordination et consolidation des informations projet avec les parties prenantes et responsables de projets et de chantiers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Picture 2" descr="Image associée">
            <a:extLst>
              <a:ext uri="{FF2B5EF4-FFF2-40B4-BE49-F238E27FC236}">
                <a16:creationId xmlns:a16="http://schemas.microsoft.com/office/drawing/2014/main" id="{D1970CB2-88F4-0A28-9B8B-D199438697B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54" t="34006" r="2544" b="33844"/>
          <a:stretch/>
        </p:blipFill>
        <p:spPr bwMode="auto">
          <a:xfrm>
            <a:off x="417083" y="2589274"/>
            <a:ext cx="1584000" cy="227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079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447394093"/>
              </p:ext>
            </p:extLst>
          </p:nvPr>
        </p:nvGraphicFramePr>
        <p:xfrm>
          <a:off x="361541" y="1808163"/>
          <a:ext cx="11430002" cy="2563957"/>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09410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Renfort de l’équipe Contrôle Permanent sur le périmètre Production, Préconisation, Suivi de la liquidité suite à des recommandations de la BCE et de l’Inspection Générale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Prise de connaissance de l’organisation et de l’environnement de contrôle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Lecture documentaire des processus, méthodologie, guide et des anciens contrôles effectués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Vérification des contrôles opérationnels et des fiches opérationnelles récapitulatives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Préparation des entretiens métiers et réalisation des entretiens métiers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des fiches contrôles permanent avec contexte, objectif, résultat de contrôles, conclusions et préconisations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4723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Picture 2" descr="Crédit Agricole Logo : histoire, signification de l'emblème">
            <a:extLst>
              <a:ext uri="{FF2B5EF4-FFF2-40B4-BE49-F238E27FC236}">
                <a16:creationId xmlns:a16="http://schemas.microsoft.com/office/drawing/2014/main" id="{113097A3-AC3E-A99B-4AA9-B705B496E1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068" y="2482811"/>
            <a:ext cx="1109773" cy="621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80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559569600"/>
              </p:ext>
            </p:extLst>
          </p:nvPr>
        </p:nvGraphicFramePr>
        <p:xfrm>
          <a:off x="361541" y="1808163"/>
          <a:ext cx="11430002" cy="348926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63537">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SNCF</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Au sein de la direction et du développement de l’environnement de travail de la SNCF, reprise et amélioration du département de contrôle interne.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à jour et rédaction des délégations de pouvoirs (montants et personnes)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Audit du processus d’attribution et de restitution des outils de mobilités (téléphones portables, tablettes, ordinateurs). Analyse de la flotte. Recherche d’anomalies. Analyse des factures.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Remise à jour du contrôle interne (sensibilisations, rappels)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Cartographie de l’environnement de contrôle et amélioration des process.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le cadre du plan d’audit annuel de la DCPE (Inspection Générale &amp; Audit Interne), participation à 2 missions d’audit de filiales de la Société Générale.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u="sng" kern="1200" dirty="0">
                          <a:solidFill>
                            <a:schemeClr val="tx1"/>
                          </a:solidFill>
                          <a:latin typeface="Arial" panose="020B0604020202020204" pitchFamily="34" charset="0"/>
                          <a:ea typeface="+mn-ea"/>
                          <a:cs typeface="Arial" panose="020B0604020202020204" pitchFamily="34" charset="0"/>
                        </a:rPr>
                        <a:t>Audit de l’Entrée en Relation Client de Boursorama (19 milliards d’actifs)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Phase préparatoire : recherche de documentation, lecture d’anciens rapports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Conduite des vérifications : contrôle MRZ, gestion des primes, appels FICOBA, lettre de droit au compte, statut FATCA, provenance des fonds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des conclusions et des recommandations.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u="sng" kern="1200" dirty="0">
                          <a:solidFill>
                            <a:schemeClr val="tx1"/>
                          </a:solidFill>
                          <a:latin typeface="Arial" panose="020B0604020202020204" pitchFamily="34" charset="0"/>
                          <a:ea typeface="+mn-ea"/>
                          <a:cs typeface="Arial" panose="020B0604020202020204" pitchFamily="34" charset="0"/>
                        </a:rPr>
                        <a:t>Audit de la Direction du Contentieux de CGI  (3 milliards d’encours)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Phase préparatoire : recherche de documentation, lecture d’anciens rapports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Conduite des vérifications : revue de dossiers, contrôle des actions juridiques : hypothèques, assignations et mise en demeure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des conclusions et des recommandations.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11" name="Picture 2">
            <a:extLst>
              <a:ext uri="{FF2B5EF4-FFF2-40B4-BE49-F238E27FC236}">
                <a16:creationId xmlns:a16="http://schemas.microsoft.com/office/drawing/2014/main" id="{3CE6447B-1C9A-B1E9-447B-E5607FC51B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0056" y="2429021"/>
            <a:ext cx="814939" cy="4285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CDEF2E2A-2316-5DD4-7CB6-63995D7F6E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316" y="4067774"/>
            <a:ext cx="1374420" cy="276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614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414204798"/>
              </p:ext>
            </p:extLst>
          </p:nvPr>
        </p:nvGraphicFramePr>
        <p:xfrm>
          <a:off x="361541" y="1808163"/>
          <a:ext cx="11430002" cy="401354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Suite à l’arrêté du 3 Novembre 2014 de l’ACPR, relatif au contrôle interne, une mise en conformité et une amélioration des contrôles de supervision managériale (contrôle opérationnel) a été décidé par GTS pour le périmètre France et International.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Périmètre : GTS France et GTS International</a:t>
                      </a: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u="sng" kern="1200" dirty="0">
                          <a:solidFill>
                            <a:schemeClr val="tx1"/>
                          </a:solidFill>
                          <a:latin typeface="Arial" panose="020B0604020202020204" pitchFamily="34" charset="0"/>
                          <a:ea typeface="+mn-ea"/>
                          <a:cs typeface="Arial" panose="020B0604020202020204" pitchFamily="34" charset="0"/>
                        </a:rPr>
                        <a:t>Audit, amélioration et déploiement des contrôle de supervision managériale (SMA)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Révision du référentiel interne des contrôles de supervision managériale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Création de la cartographie d’éligibilité des contrôles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Revue de l’éligibilité des contrôles : organisation et animation des meetings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Organisation et réalisation de « workshop » afin rédiger les contrôles de supervision managériale de chaque service (350 contrôles via 190 workshops).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Réalisation de la sensibilisation auprès des responsables de contrôle permanent de niveau 1 et au contrôle de supervision managériale</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ING</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Suite à une circulaire de la CSSF Luxembourgeoise (Commission de Surveillance du Secteur Financier), une évolution interne est nécessaire sur le processus KYC de mise à jour des informations client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fonctionnelle du changement lié à la circulaire CSSF</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Gap </a:t>
                      </a:r>
                      <a:r>
                        <a:rPr lang="fr-FR" sz="1100" kern="1200" dirty="0" err="1">
                          <a:solidFill>
                            <a:schemeClr val="dk1"/>
                          </a:solidFill>
                          <a:latin typeface="+mn-lt"/>
                          <a:ea typeface="+mn-ea"/>
                          <a:cs typeface="Arial"/>
                        </a:rPr>
                        <a:t>analysis</a:t>
                      </a:r>
                      <a:r>
                        <a:rPr lang="fr-FR" sz="1100" kern="1200" dirty="0">
                          <a:solidFill>
                            <a:schemeClr val="dk1"/>
                          </a:solidFill>
                          <a:latin typeface="+mn-lt"/>
                          <a:ea typeface="+mn-ea"/>
                          <a:cs typeface="Arial"/>
                        </a:rPr>
                        <a:t> entre l’existant et le futur processus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du process et matérialisation ; création du processus sous Visio</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KYC </a:t>
                      </a:r>
                      <a:r>
                        <a:rPr lang="fr-FR" sz="1100" kern="1200" dirty="0" err="1">
                          <a:solidFill>
                            <a:schemeClr val="dk1"/>
                          </a:solidFill>
                          <a:latin typeface="+mn-lt"/>
                          <a:ea typeface="+mn-ea"/>
                          <a:cs typeface="Arial"/>
                        </a:rPr>
                        <a:t>Review</a:t>
                      </a:r>
                      <a:r>
                        <a:rPr lang="fr-FR" sz="1100" kern="1200" dirty="0">
                          <a:solidFill>
                            <a:schemeClr val="dk1"/>
                          </a:solidFill>
                          <a:latin typeface="+mn-lt"/>
                          <a:ea typeface="+mn-ea"/>
                          <a:cs typeface="Arial"/>
                        </a:rPr>
                        <a:t> : simplification et optimisation, revue de la chaine de valeur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Écriture des Business </a:t>
                      </a:r>
                      <a:r>
                        <a:rPr lang="fr-FR" sz="1100" kern="1200" dirty="0" err="1">
                          <a:solidFill>
                            <a:schemeClr val="dk1"/>
                          </a:solidFill>
                          <a:latin typeface="+mn-lt"/>
                          <a:ea typeface="+mn-ea"/>
                          <a:cs typeface="Arial"/>
                        </a:rPr>
                        <a:t>Requirement</a:t>
                      </a:r>
                      <a:r>
                        <a:rPr lang="fr-FR" sz="1100" kern="1200" dirty="0">
                          <a:solidFill>
                            <a:schemeClr val="dk1"/>
                          </a:solidFill>
                          <a:latin typeface="+mn-lt"/>
                          <a:ea typeface="+mn-ea"/>
                          <a:cs typeface="Arial"/>
                        </a:rPr>
                        <a:t> (projet en mode Agile ; sprint, </a:t>
                      </a:r>
                      <a:r>
                        <a:rPr lang="fr-FR" sz="1100" kern="1200" dirty="0" err="1">
                          <a:solidFill>
                            <a:schemeClr val="dk1"/>
                          </a:solidFill>
                          <a:latin typeface="+mn-lt"/>
                          <a:ea typeface="+mn-ea"/>
                          <a:cs typeface="Arial"/>
                        </a:rPr>
                        <a:t>daily</a:t>
                      </a:r>
                      <a:r>
                        <a:rPr lang="fr-FR" sz="1100" kern="1200" dirty="0">
                          <a:solidFill>
                            <a:schemeClr val="dk1"/>
                          </a:solidFill>
                          <a:latin typeface="+mn-lt"/>
                          <a:ea typeface="+mn-ea"/>
                          <a:cs typeface="Arial"/>
                        </a:rPr>
                        <a:t> meeting, </a:t>
                      </a:r>
                      <a:r>
                        <a:rPr lang="fr-FR" sz="1100" kern="1200" dirty="0" err="1">
                          <a:solidFill>
                            <a:schemeClr val="dk1"/>
                          </a:solidFill>
                          <a:latin typeface="+mn-lt"/>
                          <a:ea typeface="+mn-ea"/>
                          <a:cs typeface="Arial"/>
                        </a:rPr>
                        <a:t>review</a:t>
                      </a:r>
                      <a:r>
                        <a:rPr lang="fr-FR" sz="1100" kern="1200" dirty="0">
                          <a:solidFill>
                            <a:schemeClr val="dk1"/>
                          </a:solidFill>
                          <a:latin typeface="+mn-lt"/>
                          <a:ea typeface="+mn-ea"/>
                          <a:cs typeface="Arial"/>
                        </a:rPr>
                        <a:t>, rétrospective)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Écriture des tests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Workshops avec le métier, prise en compte des spécifications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à jour de la communication client (3 langues)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Picture 4">
            <a:extLst>
              <a:ext uri="{FF2B5EF4-FFF2-40B4-BE49-F238E27FC236}">
                <a16:creationId xmlns:a16="http://schemas.microsoft.com/office/drawing/2014/main" id="{6EDD1344-EC89-4C43-E311-87AE5CC4D0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897" y="2919855"/>
            <a:ext cx="1374420" cy="2760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NG Logo - Marques et logos: histoire et signification | PNG">
            <a:extLst>
              <a:ext uri="{FF2B5EF4-FFF2-40B4-BE49-F238E27FC236}">
                <a16:creationId xmlns:a16="http://schemas.microsoft.com/office/drawing/2014/main" id="{2AB4E3DB-32DD-F42C-CD6C-831B64DA59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898" y="4527909"/>
            <a:ext cx="1374419" cy="773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472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10</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663466766"/>
              </p:ext>
            </p:extLst>
          </p:nvPr>
        </p:nvGraphicFramePr>
        <p:xfrm>
          <a:off x="361541" y="1808163"/>
          <a:ext cx="11430002" cy="456117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Dans l’optique d’améliorer le processus KYC au niveau monde pour l’entité CIB de la BNP, un nouvel outil a été mis en place (FENERGO) pour remplacer l’ancien outil.</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documentaires et des données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 la politique KYC du groupe BNP Paribas CIB</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de l’architecture documentaire pour l’ensemble des départements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Expression des besoins dans l’outil JIRA</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Participation aux phases de recettes lors des différentes releases (projet Agile)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Paramétrage de l’outil avec les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Tests et remontées des bugs aux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et participation à la création des supports de formation pour les équipes opérationnelles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régionaux (Local </a:t>
                      </a:r>
                      <a:r>
                        <a:rPr lang="fr-FR" sz="1000" u="sng" kern="1200" dirty="0" err="1">
                          <a:solidFill>
                            <a:schemeClr val="tx1"/>
                          </a:solidFill>
                          <a:latin typeface="+mn-lt"/>
                          <a:ea typeface="+mn-ea"/>
                          <a:cs typeface="Arial" panose="020B0604020202020204" pitchFamily="34" charset="0"/>
                        </a:rPr>
                        <a:t>Requirements</a:t>
                      </a:r>
                      <a:r>
                        <a:rPr lang="fr-FR" sz="1000" u="sng" kern="1200" dirty="0">
                          <a:solidFill>
                            <a:schemeClr val="tx1"/>
                          </a:solidFill>
                          <a:latin typeface="+mn-lt"/>
                          <a:ea typeface="+mn-ea"/>
                          <a:cs typeface="Arial" panose="020B0604020202020204" pitchFamily="34" charset="0"/>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des besoins réglementaires propres aux régions (45 pays, 164 besoins)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Compréhension et validation du besoin avec les régions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Arbitrage des besoins entre la politique globale et les politiques régionales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Au sein du programme LOANSCAPE visant à refondre l'écosystème de la BFI. Le projet  INVEST’ON vise à développer un portail aux investisseurs sur le marché secondaire  pour gérer et exécuter de bout en bout le processus de vente des actifs proposés par CACIB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Projet comparable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Pré cadrage: contexte, objectifs &amp; enjeux; découpage des 3 macro-processus constitution de la BDD, outil comparable, enrichissement des scénarios de </a:t>
                      </a:r>
                      <a:r>
                        <a:rPr lang="fr-FR" sz="1000" kern="1200" dirty="0" err="1">
                          <a:solidFill>
                            <a:schemeClr val="dk1"/>
                          </a:solidFill>
                          <a:latin typeface="+mn-lt"/>
                          <a:ea typeface="+mn-ea"/>
                          <a:cs typeface="Arial"/>
                        </a:rPr>
                        <a:t>pricing</a:t>
                      </a:r>
                      <a:r>
                        <a:rPr lang="fr-FR" sz="1000" kern="120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Workflow fonctionnel : représentation sous </a:t>
                      </a:r>
                      <a:r>
                        <a:rPr lang="fr-FR" sz="1000" kern="1200" dirty="0" err="1">
                          <a:solidFill>
                            <a:schemeClr val="dk1"/>
                          </a:solidFill>
                          <a:latin typeface="+mn-lt"/>
                          <a:ea typeface="+mn-ea"/>
                          <a:cs typeface="Arial"/>
                        </a:rPr>
                        <a:t>visio</a:t>
                      </a:r>
                      <a:r>
                        <a:rPr lang="fr-FR" sz="1000" kern="1200" dirty="0">
                          <a:solidFill>
                            <a:schemeClr val="dk1"/>
                          </a:solidFill>
                          <a:latin typeface="+mn-lt"/>
                          <a:ea typeface="+mn-ea"/>
                          <a:cs typeface="Arial"/>
                        </a:rPr>
                        <a:t> &amp; détail Excel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User stories: pondération &amp; planification &amp; rédaction sous </a:t>
                      </a:r>
                      <a:r>
                        <a:rPr lang="fr-FR" sz="1000" kern="1200" dirty="0" err="1">
                          <a:solidFill>
                            <a:schemeClr val="dk1"/>
                          </a:solidFill>
                          <a:latin typeface="+mn-lt"/>
                          <a:ea typeface="+mn-ea"/>
                          <a:cs typeface="Arial"/>
                        </a:rPr>
                        <a:t>Calitrack</a:t>
                      </a:r>
                      <a:endParaRPr lang="fr-FR" sz="10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Recette applicative INVEST’ON: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en-US" sz="1000" kern="1200" dirty="0">
                          <a:solidFill>
                            <a:schemeClr val="dk1"/>
                          </a:solidFill>
                          <a:latin typeface="+mn-lt"/>
                          <a:ea typeface="+mn-ea"/>
                          <a:cs typeface="Arial"/>
                        </a:rPr>
                        <a:t>Test des </a:t>
                      </a:r>
                      <a:r>
                        <a:rPr lang="en-US" sz="1000" kern="1200" dirty="0" err="1">
                          <a:solidFill>
                            <a:schemeClr val="dk1"/>
                          </a:solidFill>
                          <a:latin typeface="+mn-lt"/>
                          <a:ea typeface="+mn-ea"/>
                          <a:cs typeface="Arial"/>
                        </a:rPr>
                        <a:t>fonctionnalités</a:t>
                      </a:r>
                      <a:r>
                        <a:rPr lang="en-US" sz="1000" kern="1200" dirty="0">
                          <a:solidFill>
                            <a:schemeClr val="dk1"/>
                          </a:solidFill>
                          <a:latin typeface="+mn-lt"/>
                          <a:ea typeface="+mn-ea"/>
                          <a:cs typeface="Arial"/>
                        </a:rPr>
                        <a:t> : Update Asset, Asset proposal, Rollback on asset</a:t>
                      </a:r>
                      <a:r>
                        <a:rPr lang="fr-FR" sz="1000" kern="1200" dirty="0">
                          <a:solidFill>
                            <a:schemeClr val="dk1"/>
                          </a:solidFill>
                          <a:latin typeface="+mn-lt"/>
                          <a:ea typeface="+mn-ea"/>
                          <a:cs typeface="Arial"/>
                        </a:rPr>
                        <a:t>, Program release &amp; Notifications.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Conduite du changement: </a:t>
                      </a:r>
                      <a:r>
                        <a:rPr lang="fr-FR" sz="1000" u="none" kern="1200" dirty="0">
                          <a:solidFill>
                            <a:schemeClr val="tx1"/>
                          </a:solidFill>
                          <a:latin typeface="+mn-lt"/>
                          <a:ea typeface="+mn-ea"/>
                          <a:cs typeface="Arial" panose="020B0604020202020204" pitchFamily="34" charset="0"/>
                        </a:rPr>
                        <a:t>rétro documentation fonctionnelle &amp; formation.</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CODEV: </a:t>
                      </a:r>
                      <a:r>
                        <a:rPr lang="fr-FR" sz="1000" u="none" kern="1200" dirty="0">
                          <a:solidFill>
                            <a:schemeClr val="tx1"/>
                          </a:solidFill>
                          <a:latin typeface="+mn-lt"/>
                          <a:ea typeface="+mn-ea"/>
                          <a:cs typeface="Arial" panose="020B0604020202020204" pitchFamily="34" charset="0"/>
                        </a:rPr>
                        <a:t>constitution d’un groupe de pairs (Business </a:t>
                      </a:r>
                      <a:r>
                        <a:rPr lang="fr-FR" sz="1000" u="none" kern="1200" dirty="0" err="1">
                          <a:solidFill>
                            <a:schemeClr val="tx1"/>
                          </a:solidFill>
                          <a:latin typeface="+mn-lt"/>
                          <a:ea typeface="+mn-ea"/>
                          <a:cs typeface="Arial" panose="020B0604020202020204" pitchFamily="34" charset="0"/>
                        </a:rPr>
                        <a:t>Analyst</a:t>
                      </a:r>
                      <a:r>
                        <a:rPr lang="fr-FR" sz="1000" u="none" kern="1200" dirty="0">
                          <a:solidFill>
                            <a:schemeClr val="tx1"/>
                          </a:solidFill>
                          <a:latin typeface="+mn-lt"/>
                          <a:ea typeface="+mn-ea"/>
                          <a:cs typeface="Arial" panose="020B0604020202020204" pitchFamily="34" charset="0"/>
                        </a:rPr>
                        <a:t>) pour échanger sur les pratiques et traiter les problématiques rencontrées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7" name="Image 6">
            <a:extLst>
              <a:ext uri="{FF2B5EF4-FFF2-40B4-BE49-F238E27FC236}">
                <a16:creationId xmlns:a16="http://schemas.microsoft.com/office/drawing/2014/main" id="{CA4A6152-0CF1-7082-ECFC-D4AF51AC646A}"/>
              </a:ext>
            </a:extLst>
          </p:cNvPr>
          <p:cNvPicPr>
            <a:picLocks noChangeAspect="1"/>
          </p:cNvPicPr>
          <p:nvPr/>
        </p:nvPicPr>
        <p:blipFill>
          <a:blip r:embed="rId5"/>
          <a:stretch>
            <a:fillRect/>
          </a:stretch>
        </p:blipFill>
        <p:spPr>
          <a:xfrm>
            <a:off x="219297" y="4938583"/>
            <a:ext cx="1982304" cy="1037406"/>
          </a:xfrm>
          <a:prstGeom prst="rect">
            <a:avLst/>
          </a:prstGeom>
        </p:spPr>
      </p:pic>
      <p:pic>
        <p:nvPicPr>
          <p:cNvPr id="10" name="Image 9">
            <a:extLst>
              <a:ext uri="{FF2B5EF4-FFF2-40B4-BE49-F238E27FC236}">
                <a16:creationId xmlns:a16="http://schemas.microsoft.com/office/drawing/2014/main" id="{30DADBC8-9FC4-8C3C-CACF-8895DBE40C27}"/>
              </a:ext>
            </a:extLst>
          </p:cNvPr>
          <p:cNvPicPr>
            <a:picLocks noChangeAspect="1"/>
          </p:cNvPicPr>
          <p:nvPr/>
        </p:nvPicPr>
        <p:blipFill>
          <a:blip r:embed="rId6"/>
          <a:stretch>
            <a:fillRect/>
          </a:stretch>
        </p:blipFill>
        <p:spPr>
          <a:xfrm>
            <a:off x="361542" y="3188985"/>
            <a:ext cx="1743008" cy="287295"/>
          </a:xfrm>
          <a:prstGeom prst="rect">
            <a:avLst/>
          </a:prstGeom>
        </p:spPr>
      </p:pic>
    </p:spTree>
    <p:extLst>
      <p:ext uri="{BB962C8B-B14F-4D97-AF65-F5344CB8AC3E}">
        <p14:creationId xmlns:p14="http://schemas.microsoft.com/office/powerpoint/2010/main" val="191441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836967921"/>
              </p:ext>
            </p:extLst>
          </p:nvPr>
        </p:nvGraphicFramePr>
        <p:xfrm>
          <a:off x="361541" y="1808163"/>
          <a:ext cx="11430002" cy="426012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Proposition de plans d’action pour structurer la démarche éthique du Groupe, afin de l’intégrer de manière plus durable, à l’environnement opérationnel des activités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Plan d’intégration de la dimension éthique à des process opérationnels du groupe (NAP, relations d’affaire, recrutement)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Benchmark de quelques entreprises en pointe en éthique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des orientations pour un alignement du </a:t>
                      </a:r>
                      <a:r>
                        <a:rPr lang="fr-FR" sz="1100" i="1" kern="1200" dirty="0" err="1">
                          <a:solidFill>
                            <a:schemeClr val="dk1"/>
                          </a:solidFill>
                          <a:latin typeface="+mn-lt"/>
                          <a:ea typeface="+mn-ea"/>
                          <a:cs typeface="Arial"/>
                        </a:rPr>
                        <a:t>disclosure</a:t>
                      </a:r>
                      <a:r>
                        <a:rPr lang="fr-FR" sz="1100" kern="1200" dirty="0">
                          <a:solidFill>
                            <a:schemeClr val="dk1"/>
                          </a:solidFill>
                          <a:latin typeface="+mn-lt"/>
                          <a:ea typeface="+mn-ea"/>
                          <a:cs typeface="Arial"/>
                        </a:rPr>
                        <a:t> sur les exigences des agences de notation extra-financières (ESG)</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946116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Pour répondre à la réglementation BCBS239, le Groupe a lancé une initiative de convergence Finance et Risques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Participation au cadrage du programme IT avec MSI (besoin, choix de solution)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Participation au cadrage de l’initiative métier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774117173"/>
                  </a:ext>
                </a:extLst>
              </a:tr>
              <a:tr h="104127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Centre des Professions Financières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Animation d’une </a:t>
                      </a:r>
                      <a:r>
                        <a:rPr lang="fr-FR" sz="1100" kern="1200" noProof="0" dirty="0" err="1">
                          <a:solidFill>
                            <a:schemeClr val="tx1"/>
                          </a:solidFill>
                          <a:latin typeface="Arial" panose="020B0604020202020204" pitchFamily="34" charset="0"/>
                          <a:ea typeface="+mn-ea"/>
                          <a:cs typeface="Arial" panose="020B0604020202020204" pitchFamily="34" charset="0"/>
                        </a:rPr>
                        <a:t>task</a:t>
                      </a:r>
                      <a:r>
                        <a:rPr lang="fr-FR" sz="1100" kern="1200" noProof="0" dirty="0">
                          <a:solidFill>
                            <a:schemeClr val="tx1"/>
                          </a:solidFill>
                          <a:latin typeface="Arial" panose="020B0604020202020204" pitchFamily="34" charset="0"/>
                          <a:ea typeface="+mn-ea"/>
                          <a:cs typeface="Arial" panose="020B0604020202020204" pitchFamily="34" charset="0"/>
                        </a:rPr>
                        <a:t> force d’experts du secteur bancaire (directions risques et conformité) visant à améliorer les données de listes de PEP&amp;RCA (</a:t>
                      </a:r>
                      <a:r>
                        <a:rPr lang="fr-FR" sz="1100" kern="1200" noProof="0" dirty="0" err="1">
                          <a:solidFill>
                            <a:schemeClr val="tx1"/>
                          </a:solidFill>
                          <a:latin typeface="Arial" panose="020B0604020202020204" pitchFamily="34" charset="0"/>
                          <a:ea typeface="+mn-ea"/>
                          <a:cs typeface="Arial" panose="020B0604020202020204" pitchFamily="34" charset="0"/>
                        </a:rPr>
                        <a:t>Politically</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Exposed</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Persons</a:t>
                      </a:r>
                      <a:r>
                        <a:rPr lang="fr-FR" sz="1100" kern="1200" noProof="0" dirty="0">
                          <a:solidFill>
                            <a:schemeClr val="tx1"/>
                          </a:solidFill>
                          <a:latin typeface="Arial" panose="020B0604020202020204" pitchFamily="34" charset="0"/>
                          <a:ea typeface="+mn-ea"/>
                          <a:cs typeface="Arial" panose="020B0604020202020204" pitchFamily="34" charset="0"/>
                        </a:rPr>
                        <a:t>) des fournisseurs externes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Elaboration du référentiel et de la typologie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Identification des enjeux juridiques associés (CNIL, RGPD, CEPD)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des besoins d’évolution à destination du principal fournisseur de liste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Rédaction d’un document de synthèse et d’un article publié dans le magazine du centre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Image 1">
            <a:extLst>
              <a:ext uri="{FF2B5EF4-FFF2-40B4-BE49-F238E27FC236}">
                <a16:creationId xmlns:a16="http://schemas.microsoft.com/office/drawing/2014/main" id="{0D8807EF-6105-E7BD-64C4-AB3E4123FEC2}"/>
              </a:ext>
            </a:extLst>
          </p:cNvPr>
          <p:cNvPicPr>
            <a:picLocks noChangeAspect="1"/>
          </p:cNvPicPr>
          <p:nvPr/>
        </p:nvPicPr>
        <p:blipFill rotWithShape="1">
          <a:blip r:embed="rId5"/>
          <a:srcRect t="11497" b="22452"/>
          <a:stretch/>
        </p:blipFill>
        <p:spPr>
          <a:xfrm>
            <a:off x="636486" y="4345322"/>
            <a:ext cx="1149430" cy="390525"/>
          </a:xfrm>
          <a:prstGeom prst="rect">
            <a:avLst/>
          </a:prstGeom>
        </p:spPr>
      </p:pic>
      <p:pic>
        <p:nvPicPr>
          <p:cNvPr id="5" name="Image 4">
            <a:extLst>
              <a:ext uri="{FF2B5EF4-FFF2-40B4-BE49-F238E27FC236}">
                <a16:creationId xmlns:a16="http://schemas.microsoft.com/office/drawing/2014/main" id="{2B44C179-34A2-5C8A-87A8-B5D5D11C3A65}"/>
              </a:ext>
            </a:extLst>
          </p:cNvPr>
          <p:cNvPicPr>
            <a:picLocks noChangeAspect="1"/>
          </p:cNvPicPr>
          <p:nvPr/>
        </p:nvPicPr>
        <p:blipFill rotWithShape="1">
          <a:blip r:embed="rId5"/>
          <a:srcRect t="11497" b="22452"/>
          <a:stretch/>
        </p:blipFill>
        <p:spPr>
          <a:xfrm>
            <a:off x="636486" y="2392921"/>
            <a:ext cx="1149430" cy="390525"/>
          </a:xfrm>
          <a:prstGeom prst="rect">
            <a:avLst/>
          </a:prstGeom>
        </p:spPr>
      </p:pic>
      <p:pic>
        <p:nvPicPr>
          <p:cNvPr id="11" name="Image 10">
            <a:extLst>
              <a:ext uri="{FF2B5EF4-FFF2-40B4-BE49-F238E27FC236}">
                <a16:creationId xmlns:a16="http://schemas.microsoft.com/office/drawing/2014/main" id="{11DE718D-4193-99D8-C6D1-B8C2EDCE83D3}"/>
              </a:ext>
            </a:extLst>
          </p:cNvPr>
          <p:cNvPicPr>
            <a:picLocks noChangeAspect="1"/>
          </p:cNvPicPr>
          <p:nvPr/>
        </p:nvPicPr>
        <p:blipFill>
          <a:blip r:embed="rId6"/>
          <a:stretch>
            <a:fillRect/>
          </a:stretch>
        </p:blipFill>
        <p:spPr>
          <a:xfrm>
            <a:off x="501540" y="5217082"/>
            <a:ext cx="1419323" cy="534367"/>
          </a:xfrm>
          <a:prstGeom prst="rect">
            <a:avLst/>
          </a:prstGeom>
        </p:spPr>
      </p:pic>
    </p:spTree>
    <p:extLst>
      <p:ext uri="{BB962C8B-B14F-4D97-AF65-F5344CB8AC3E}">
        <p14:creationId xmlns:p14="http://schemas.microsoft.com/office/powerpoint/2010/main" val="174131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737042596"/>
              </p:ext>
            </p:extLst>
          </p:nvPr>
        </p:nvGraphicFramePr>
        <p:xfrm>
          <a:off x="361541" y="1808164"/>
          <a:ext cx="11430002" cy="450017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292643">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293165">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Renforcement du suivi des travaux réglementaires (RGPD, LCB-FT) au sein de la Direction Assurance Vie (DAV)</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de l’avancement des chantiers du Programme RGPD et des travaux RGPD des marques, cadrage, relais et suivi des sollicitations auprès des correspondants métiers à la DAV</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Etat des lieux sur les 3 marques MMA, MAAF et GMF de la collecte des données KYC : en fonction des parcours clients et sur les rôles prioritaires du point de vue de la DAV</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des écarts avec les exigences KYC / LCB-FT exprimées par la conformité Groupe, identification des pistes de travail envisageables (remédiation, évolutions SI, consignes réseaux)</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1351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Le plan stratégique du groupe BPCE avait fixé pour objectif d’adapter le dispositif associé au traitement des chèques. Ce moyen de paiement en forte décroissance devait être optimisé en termes de coût tout en révisant les modalités opérationnelles avec les partenaires sous-traitants.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Harmonisation des pratiques dans le groupe. Définition d’une nouvelle tarification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Proposition de leviers pour diminuer l’usage du chèque chez certains clients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Ajustement du niveau des prestations et de la qualité ou des délais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des contrats des sous-traitants pour une meilleur comparabilité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Présentation et restitution des résultats aux banques et caisses des travaux</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6980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endParaRPr lang="fr-FR" sz="1100" i="1" dirty="0"/>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69449350"/>
                  </a:ext>
                </a:extLst>
              </a:tr>
            </a:tbl>
          </a:graphicData>
        </a:graphic>
      </p:graphicFrame>
      <p:pic>
        <p:nvPicPr>
          <p:cNvPr id="2" name="Image 1" descr="Une image contenant dessin&#10;&#10;Description générée automatiquement">
            <a:extLst>
              <a:ext uri="{FF2B5EF4-FFF2-40B4-BE49-F238E27FC236}">
                <a16:creationId xmlns:a16="http://schemas.microsoft.com/office/drawing/2014/main" id="{D47A2843-8976-F820-1A3B-F5AB4ADC1C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356" y="3872428"/>
            <a:ext cx="1211088" cy="419645"/>
          </a:xfrm>
          <a:prstGeom prst="rect">
            <a:avLst/>
          </a:prstGeom>
        </p:spPr>
      </p:pic>
      <p:pic>
        <p:nvPicPr>
          <p:cNvPr id="3" name="Picture 3" descr="Covéa — Wikipédia">
            <a:extLst>
              <a:ext uri="{FF2B5EF4-FFF2-40B4-BE49-F238E27FC236}">
                <a16:creationId xmlns:a16="http://schemas.microsoft.com/office/drawing/2014/main" id="{09F76F21-3630-9B0C-9FF2-33168C1B089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9476" y="2548805"/>
            <a:ext cx="726377" cy="582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616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13</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2986169520"/>
              </p:ext>
            </p:extLst>
          </p:nvPr>
        </p:nvGraphicFramePr>
        <p:xfrm>
          <a:off x="381000" y="1825625"/>
          <a:ext cx="11430002" cy="422549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Pernod Ricard</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Suivi et optimisation du processus de consolidation budgétaire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100" i="1" u="sng" kern="1200" dirty="0">
                          <a:solidFill>
                            <a:schemeClr val="dk1"/>
                          </a:solidFill>
                          <a:latin typeface="+mn-lt"/>
                          <a:ea typeface="+mn-ea"/>
                          <a:cs typeface="Arial"/>
                        </a:rPr>
                        <a:t>Coordination et amélioration des cycles budgétaires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Budget/</a:t>
                      </a:r>
                      <a:r>
                        <a:rPr lang="fr-FR" sz="1000" kern="1200" dirty="0" err="1">
                          <a:solidFill>
                            <a:schemeClr val="dk1"/>
                          </a:solidFill>
                          <a:latin typeface="+mn-lt"/>
                          <a:ea typeface="+mn-ea"/>
                          <a:cs typeface="Arial"/>
                        </a:rPr>
                        <a:t>Forecast</a:t>
                      </a:r>
                      <a:r>
                        <a:rPr lang="fr-FR" sz="1000" kern="1200" dirty="0">
                          <a:solidFill>
                            <a:schemeClr val="dk1"/>
                          </a:solidFill>
                          <a:latin typeface="+mn-lt"/>
                          <a:ea typeface="+mn-ea"/>
                          <a:cs typeface="Arial"/>
                        </a:rPr>
                        <a:t> : Construction du budget en début d’année fiscale et revue trimestrielle (</a:t>
                      </a:r>
                      <a:r>
                        <a:rPr lang="fr-FR" sz="1000" kern="1200" dirty="0" err="1">
                          <a:solidFill>
                            <a:schemeClr val="dk1"/>
                          </a:solidFill>
                          <a:latin typeface="+mn-lt"/>
                          <a:ea typeface="+mn-ea"/>
                          <a:cs typeface="Arial"/>
                        </a:rPr>
                        <a:t>forecast</a:t>
                      </a:r>
                      <a:r>
                        <a:rPr lang="fr-FR" sz="1000" kern="1200" dirty="0">
                          <a:solidFill>
                            <a:schemeClr val="dk1"/>
                          </a:solidFill>
                          <a:latin typeface="+mn-lt"/>
                          <a:ea typeface="+mn-ea"/>
                          <a:cs typeface="Arial"/>
                        </a:rPr>
                        <a: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Collecte des données essentielles OPEX &amp; CAPEX</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Suivi de la refacturation intra groupe.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err="1">
                          <a:solidFill>
                            <a:schemeClr val="dk1"/>
                          </a:solidFill>
                          <a:latin typeface="+mn-lt"/>
                          <a:ea typeface="+mn-ea"/>
                          <a:cs typeface="Arial"/>
                        </a:rPr>
                        <a:t>Monthly</a:t>
                      </a:r>
                      <a:r>
                        <a:rPr lang="fr-FR" sz="1000" kern="1200" dirty="0">
                          <a:solidFill>
                            <a:schemeClr val="dk1"/>
                          </a:solidFill>
                          <a:latin typeface="+mn-lt"/>
                          <a:ea typeface="+mn-ea"/>
                          <a:cs typeface="Arial"/>
                        </a:rPr>
                        <a:t> </a:t>
                      </a:r>
                      <a:r>
                        <a:rPr lang="fr-FR" sz="1000" kern="1200" dirty="0" err="1">
                          <a:solidFill>
                            <a:schemeClr val="dk1"/>
                          </a:solidFill>
                          <a:latin typeface="+mn-lt"/>
                          <a:ea typeface="+mn-ea"/>
                          <a:cs typeface="Arial"/>
                        </a:rPr>
                        <a:t>reporting</a:t>
                      </a:r>
                      <a:r>
                        <a:rPr lang="fr-FR" sz="1000" kern="1200" dirty="0">
                          <a:solidFill>
                            <a:schemeClr val="dk1"/>
                          </a:solidFill>
                          <a:latin typeface="+mn-lt"/>
                          <a:ea typeface="+mn-ea"/>
                          <a:cs typeface="Arial"/>
                        </a:rPr>
                        <a:t> : remontée mensuelle des dépenses IT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Contrôle de la qualité des données reçues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Alimentation du support de </a:t>
                      </a:r>
                      <a:r>
                        <a:rPr lang="fr-FR" sz="1000" kern="1200" dirty="0" err="1">
                          <a:solidFill>
                            <a:schemeClr val="dk1"/>
                          </a:solidFill>
                          <a:latin typeface="+mn-lt"/>
                          <a:ea typeface="+mn-ea"/>
                          <a:cs typeface="Arial"/>
                        </a:rPr>
                        <a:t>reporting</a:t>
                      </a:r>
                      <a:endParaRPr lang="fr-FR" sz="10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Suivi de KPI clés (qualité des données envoyés à l’IT, délais de soumissions, écarts potentiels…)</a:t>
                      </a:r>
                    </a:p>
                    <a:p>
                      <a:pPr marL="0" marR="0" lvl="0" indent="0" algn="l" defTabSz="91440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100" i="1" u="sng" kern="1200" dirty="0">
                          <a:solidFill>
                            <a:schemeClr val="dk1"/>
                          </a:solidFill>
                          <a:latin typeface="+mn-lt"/>
                          <a:ea typeface="+mn-ea"/>
                          <a:cs typeface="Arial"/>
                        </a:rPr>
                        <a:t>Pilotage des initiatives et projets digitaux du groupe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Maintien de la solution API développée par le </a:t>
                      </a:r>
                      <a:r>
                        <a:rPr lang="fr-FR" sz="1000" kern="1200" dirty="0" err="1">
                          <a:solidFill>
                            <a:schemeClr val="dk1"/>
                          </a:solidFill>
                          <a:latin typeface="+mn-lt"/>
                          <a:ea typeface="+mn-ea"/>
                          <a:cs typeface="Arial"/>
                        </a:rPr>
                        <a:t>CoE</a:t>
                      </a:r>
                      <a:r>
                        <a:rPr lang="fr-FR" sz="1000" kern="1200" dirty="0">
                          <a:solidFill>
                            <a:schemeClr val="dk1"/>
                          </a:solidFill>
                          <a:latin typeface="+mn-lt"/>
                          <a:ea typeface="+mn-ea"/>
                          <a:cs typeface="Arial"/>
                        </a:rPr>
                        <a:t> Back Office du groupe nécessaire à l’envoi automatique des dépenses IT réalisées chaque mois.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Investigation des erreurs d’alimentation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Participation à la comitologie du groupe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continue de la structure de coûts dans chacune des filiales pour refléter la nouvelle organisation PR, et mieux suivre les coûts IT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des financiers locaux aux nouvelles méthodes de suivis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Accompagnement dans le déploiement local (configuration des ERP, de l’API).</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b="0" i="0" u="none" strike="noStrike">
                        <a:solidFill>
                          <a:srgbClr val="000000"/>
                        </a:solidFill>
                        <a:effectLst/>
                        <a:latin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17" name="Picture 2" descr="pernod ricard logo - Tournaire">
            <a:extLst>
              <a:ext uri="{FF2B5EF4-FFF2-40B4-BE49-F238E27FC236}">
                <a16:creationId xmlns:a16="http://schemas.microsoft.com/office/drawing/2014/main" id="{0D7EF531-C6B1-EE15-BAE7-66D4CEF1FB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880" t="22607" r="12040"/>
          <a:stretch/>
        </p:blipFill>
        <p:spPr bwMode="auto">
          <a:xfrm>
            <a:off x="718747" y="3429000"/>
            <a:ext cx="1225383" cy="587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5830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0507946-B4A6-4180-8230-9167FFD8B45D}"/>
</file>

<file path=customXml/itemProps3.xml><?xml version="1.0" encoding="utf-8"?>
<ds:datastoreItem xmlns:ds="http://schemas.openxmlformats.org/officeDocument/2006/customXml" ds:itemID="{1783928A-16BB-46DD-99FA-B3F8B6A54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2365</Words>
  <Application>Microsoft Office PowerPoint</Application>
  <PresentationFormat>Grand écran</PresentationFormat>
  <Paragraphs>247</Paragraphs>
  <Slides>13</Slides>
  <Notes>1</Notes>
  <HiddenSlides>0</HiddenSlides>
  <MMClips>0</MMClips>
  <ScaleCrop>false</ScaleCrop>
  <HeadingPairs>
    <vt:vector size="8" baseType="variant">
      <vt:variant>
        <vt:lpstr>Polices utilisées</vt:lpstr>
      </vt:variant>
      <vt:variant>
        <vt:i4>3</vt:i4>
      </vt:variant>
      <vt:variant>
        <vt:lpstr>Thème</vt:lpstr>
      </vt:variant>
      <vt:variant>
        <vt:i4>1</vt:i4>
      </vt:variant>
      <vt:variant>
        <vt:lpstr>Serveurs OLE incorporés</vt:lpstr>
      </vt:variant>
      <vt:variant>
        <vt:i4>1</vt:i4>
      </vt:variant>
      <vt:variant>
        <vt:lpstr>Titres des diapositives</vt:lpstr>
      </vt:variant>
      <vt:variant>
        <vt:i4>13</vt:i4>
      </vt:variant>
    </vt:vector>
  </HeadingPairs>
  <TitlesOfParts>
    <vt:vector size="18" baseType="lpstr">
      <vt:lpstr>Arial</vt:lpstr>
      <vt:lpstr>Calibri</vt:lpstr>
      <vt:lpstr>Raleway</vt:lpstr>
      <vt:lpstr>2023 03_ACI partners</vt:lpstr>
      <vt:lpstr>Diapositive think-cell</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Héni BEN MRAD</cp:lastModifiedBy>
  <cp:revision>21</cp:revision>
  <dcterms:created xsi:type="dcterms:W3CDTF">2023-09-06T09:59:04Z</dcterms:created>
  <dcterms:modified xsi:type="dcterms:W3CDTF">2024-05-28T15:36:17Z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1598500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