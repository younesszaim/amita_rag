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147378320" r:id="rId5"/>
    <p:sldId id="2147378325" r:id="rId6"/>
    <p:sldId id="2147378327" r:id="rId7"/>
    <p:sldId id="2147378328" r:id="rId8"/>
    <p:sldId id="2147378329" r:id="rId9"/>
    <p:sldId id="2147378333" r:id="rId10"/>
    <p:sldId id="2147378337" r:id="rId11"/>
    <p:sldId id="2147378652" r:id="rId12"/>
  </p:sldIdLst>
  <p:sldSz cx="12192000" cy="6858000"/>
  <p:notesSz cx="6858000" cy="9144000"/>
  <p:custDataLst>
    <p:tags r:id="rId14"/>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5" Type="http://schemas.openxmlformats.org/officeDocument/2006/relationships/image" Target="../media/image12.jpe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7.pn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6" Type="http://schemas.openxmlformats.org/officeDocument/2006/relationships/image" Target="../media/image19.tiff"/><Relationship Id="rId5" Type="http://schemas.openxmlformats.org/officeDocument/2006/relationships/image" Target="../media/image18.pn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20.gi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5" Type="http://schemas.openxmlformats.org/officeDocument/2006/relationships/image" Target="../media/image12.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extLst>
              <p:ext uri="{D42A27DB-BD31-4B8C-83A1-F6EECF244321}">
                <p14:modId xmlns:p14="http://schemas.microsoft.com/office/powerpoint/2010/main" val="3726556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 </a:t>
            </a:r>
            <a:r>
              <a:rPr lang="fr-FR" b="1">
                <a:solidFill>
                  <a:srgbClr val="FF0000"/>
                </a:solidFill>
              </a:rPr>
              <a:t>1</a:t>
            </a:r>
            <a:endParaRPr lang="fr-F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163708778"/>
              </p:ext>
            </p:extLst>
          </p:nvPr>
        </p:nvGraphicFramePr>
        <p:xfrm>
          <a:off x="361541" y="1808163"/>
          <a:ext cx="11430002" cy="298761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Logo client ici</a:t>
                      </a: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Dans le cadre d’un projet de transformation de l’organisation du service pilotage et de ses outils, ainsi que de la modification de l’architecture des données, PACIFICA a souhaité faire évoluer les tableaux de bords utilisés par la direction commerciale et le réseau des caisses.</a:t>
                      </a:r>
                    </a:p>
                    <a:p>
                      <a:r>
                        <a:rPr lang="fr-FR" sz="1100" dirty="0">
                          <a:solidFill>
                            <a:schemeClr val="tx1"/>
                          </a:solidFill>
                        </a:rPr>
                        <a:t>Les équipes ACI </a:t>
                      </a:r>
                      <a:r>
                        <a:rPr lang="fr-FR" sz="1100" dirty="0" err="1">
                          <a:solidFill>
                            <a:schemeClr val="tx1"/>
                          </a:solidFill>
                        </a:rPr>
                        <a:t>partners</a:t>
                      </a:r>
                      <a:r>
                        <a:rPr lang="fr-FR" sz="1100" dirty="0">
                          <a:solidFill>
                            <a:schemeClr val="tx1"/>
                          </a:solidFill>
                        </a:rPr>
                        <a:t> sont intervenues en qualité d’expert de la donnée pour la prise en compte de ces évolutions dans l’outil, son amélioration et la formation des collaborateurs à sa maîtrise.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Définition des besoins d’évolutions fonctionnelles et techniques avec les métiers</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Amélioration technique de l’outil et paramétrage de l’outil pour prise en compte des changements d’architecture SI</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Revue des indicateurs et tableaux de bords pour prise en compte des évolutions métiers (refonte des graphiques et de la maquette, revue des modes de calculs des indicateurs, etc.)</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Formation des utilisateurs au paramétrage de l’outil et aux bonnes pratiques d’utilisation de l’outil</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1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5" name="Image 4" descr="Une image contenant dessin&#10;&#10;Description générée automatiquement">
            <a:extLst>
              <a:ext uri="{FF2B5EF4-FFF2-40B4-BE49-F238E27FC236}">
                <a16:creationId xmlns:a16="http://schemas.microsoft.com/office/drawing/2014/main" id="{904E6CB6-E7CE-8FF6-A3E8-1E07D0D6274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9436" y="2481174"/>
            <a:ext cx="1125415" cy="1111910"/>
          </a:xfrm>
          <a:prstGeom prst="rect">
            <a:avLst/>
          </a:prstGeom>
        </p:spPr>
      </p:pic>
      <p:sp>
        <p:nvSpPr>
          <p:cNvPr id="7" name="ZoneTexte 6">
            <a:extLst>
              <a:ext uri="{FF2B5EF4-FFF2-40B4-BE49-F238E27FC236}">
                <a16:creationId xmlns:a16="http://schemas.microsoft.com/office/drawing/2014/main" id="{E96075AA-5366-A662-F2FB-8112A92E8F62}"/>
              </a:ext>
            </a:extLst>
          </p:cNvPr>
          <p:cNvSpPr txBox="1"/>
          <p:nvPr/>
        </p:nvSpPr>
        <p:spPr>
          <a:xfrm>
            <a:off x="765583" y="3429000"/>
            <a:ext cx="853119" cy="261610"/>
          </a:xfrm>
          <a:prstGeom prst="rect">
            <a:avLst/>
          </a:prstGeom>
          <a:noFill/>
        </p:spPr>
        <p:txBody>
          <a:bodyPr wrap="none" rtlCol="0">
            <a:spAutoFit/>
          </a:bodyPr>
          <a:lstStyle/>
          <a:p>
            <a:pPr algn="ctr"/>
            <a:r>
              <a:rPr lang="fr-FR" sz="1100" b="1"/>
              <a:t>PACIFICA</a:t>
            </a:r>
          </a:p>
        </p:txBody>
      </p:sp>
    </p:spTree>
    <p:extLst>
      <p:ext uri="{BB962C8B-B14F-4D97-AF65-F5344CB8AC3E}">
        <p14:creationId xmlns:p14="http://schemas.microsoft.com/office/powerpoint/2010/main" val="49813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711777747"/>
              </p:ext>
            </p:extLst>
          </p:nvPr>
        </p:nvGraphicFramePr>
        <p:xfrm>
          <a:off x="361541" y="1808163"/>
          <a:ext cx="11430002" cy="42019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dirty="0">
                        <a:solidFill>
                          <a:schemeClr val="dk1"/>
                        </a:solidFill>
                        <a:latin typeface="+mn-lt"/>
                        <a:ea typeface="+mn-ea"/>
                        <a:cs typeface="Arial"/>
                      </a:endParaRP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MH a souhaité développer un score de vulnérabilité de ses entreprises et le mettre à disposition de l’ensemble de ses directions métiers pour mesurer et maitriser au mieux les effets potentiels de la crise économique en matière de cotisations non perçues, portabilité et hausse de la sinistralité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équipes data, métiers et des experts, définition et construction des indicateurs pertinents dans l’appréciation de la vulnérabilité des entreprises clientes de Malakoff Humanis à partir de données internes et externes collectées, consolidées et croisées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Construction d’un MVP de tableau de bords contenant ces différents indices de vulnérabilité des entreprises en vision portefeuille et entreprise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métiers, analyse des différents processus métiers et définition des processus cible intégrant le score de vulnérabilité dans les différents « jalons » de prise de décision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 nouvelles règles métiers intégrant ce score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Accompagnement opérationnel du déploiement des processus cible et formation des formateurs métiers à l’utilisation du score et des outils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Image 10" descr="Une image contenant dessin&#10;&#10;Description générée automatiquement">
            <a:extLst>
              <a:ext uri="{FF2B5EF4-FFF2-40B4-BE49-F238E27FC236}">
                <a16:creationId xmlns:a16="http://schemas.microsoft.com/office/drawing/2014/main" id="{C5333C12-6D35-3BB0-3352-E3E5FFEA2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826" y="3816220"/>
            <a:ext cx="1225819" cy="448300"/>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538125851"/>
              </p:ext>
            </p:extLst>
          </p:nvPr>
        </p:nvGraphicFramePr>
        <p:xfrm>
          <a:off x="361541" y="1808163"/>
          <a:ext cx="11430002" cy="380011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MACIF</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La Macif a souhaité se faire accompagner sur les problématiques RGPD, notamment sur les axes gestion de la donnée et conduite du changement.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et synthèse de l’existant; travaux de mise en conformité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Matrice de criticité et lotissement d’applicatifs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Développement d’une solution d’encadrement IA des ZTL (POC)</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de formation ciblées selon les populations (e-learning, classe virtuelle..)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d’une campagne de sensibilisation à destination de l’ensemble des collaborateurs du groupe (cybersécurité)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Déploiement d’un plan de communication autour du RGPD</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Picture 3">
            <a:extLst>
              <a:ext uri="{FF2B5EF4-FFF2-40B4-BE49-F238E27FC236}">
                <a16:creationId xmlns:a16="http://schemas.microsoft.com/office/drawing/2014/main" id="{22C4BFF3-DA1C-DAF5-E1DD-235126D8AC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988" y="3144660"/>
            <a:ext cx="604190" cy="5933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Naissance d'Aéma Groupe, nouvel acteur mutualiste de protection sur le  marché français">
            <a:extLst>
              <a:ext uri="{FF2B5EF4-FFF2-40B4-BE49-F238E27FC236}">
                <a16:creationId xmlns:a16="http://schemas.microsoft.com/office/drawing/2014/main" id="{D9796773-E1CD-30FF-EF24-DFCF82E892A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1856" b="17491"/>
          <a:stretch/>
        </p:blipFill>
        <p:spPr bwMode="auto">
          <a:xfrm>
            <a:off x="737670" y="3762939"/>
            <a:ext cx="942826" cy="357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079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588610730"/>
              </p:ext>
            </p:extLst>
          </p:nvPr>
        </p:nvGraphicFramePr>
        <p:xfrm>
          <a:off x="361541" y="1808163"/>
          <a:ext cx="11430002" cy="368491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BPCE Assurances a lancé fin 2017 un ambitieux programme de ré-internalisation et simplification de son modèle opérationnel Assurance Non-Vie</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sein du projet Conduite du Changement Transverse,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a construit le plan d’accompagnement avec l’ensemble des parties prenantes du Programme.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de schéma cible du dispositif d’accompagnement des changements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Dispositif d’écoute terrain (communauté des ambassadeurs)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Contribution au plan de communication du cadrage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de dispositif d’accompagnement du déploiement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Proposition d’un dispositif de formation adapté aux contraintes terrain et cartographie du flux cible de formation à horizon (conception, réalisation, planification, réalisation des formations, suivi et outils)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SMI Mutuelle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un contexte interne de forte transformation SMI Mutuelle a choisi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pour l’accompagner au cadrage du plan conduite du changement sur 2 projets majeurs en cours : le renouvellement de l’outil cœur de métier et le déploiement d’un CRM (Salesforce)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Réalisation du diagnostic d’impact (série d’entretiens avec l’ensemble des équipes de l’entreprise pour identifier les impacts, leur nature)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Cadrage du plan de conduite du changement sur 5 axes (pilotage, accompagnement, organisation, communication et formation.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7" name="Picture 2" descr="Résultat de recherche d'images pour &quot;smi&quot;">
            <a:extLst>
              <a:ext uri="{FF2B5EF4-FFF2-40B4-BE49-F238E27FC236}">
                <a16:creationId xmlns:a16="http://schemas.microsoft.com/office/drawing/2014/main" id="{2F2E1301-6D5F-D639-22E1-13CA56C2FAA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654" y="4449888"/>
            <a:ext cx="1132242" cy="559132"/>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3" descr="Feu vert à la création du groupe bancaire BPCE, un nouveau-né plein  d'ambition">
            <a:extLst>
              <a:ext uri="{FF2B5EF4-FFF2-40B4-BE49-F238E27FC236}">
                <a16:creationId xmlns:a16="http://schemas.microsoft.com/office/drawing/2014/main" id="{D8A24544-7E7F-A9F8-DA5E-4B12DDAB65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635" y="2606579"/>
            <a:ext cx="1144281" cy="449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987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606582904"/>
              </p:ext>
            </p:extLst>
          </p:nvPr>
        </p:nvGraphicFramePr>
        <p:xfrm>
          <a:off x="361541" y="1808163"/>
          <a:ext cx="11430002" cy="298761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Klésia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le contexte post-fusion, des groupes Mornay et D&amp;O, le groupe Klesia a souhaité se faire accompagner pour rapprocher les pratiques de ses équipes de chefs de projet tout en s’adaptant à ses nouvelles contraintes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a:t>
                      </a: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Les équipes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ont déployé un nouvel outil de gestion projet et de suivi des temps, engagé des actions de formation auprès des chefs de projet le plus largement possible.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d’un diagnostic (recueil des attentes et besoins des directions lors d’ateliers dédiés, o</a:t>
                      </a:r>
                      <a:r>
                        <a:rPr lang="fr-FR" sz="1100" kern="1200" dirty="0" err="1">
                          <a:solidFill>
                            <a:schemeClr val="dk1"/>
                          </a:solidFill>
                          <a:latin typeface="+mn-lt"/>
                          <a:ea typeface="+mn-ea"/>
                          <a:cs typeface="Arial"/>
                        </a:rPr>
                        <a:t>rganisation</a:t>
                      </a:r>
                      <a:r>
                        <a:rPr lang="fr-FR" sz="1100" kern="1200" dirty="0">
                          <a:solidFill>
                            <a:schemeClr val="dk1"/>
                          </a:solidFill>
                          <a:latin typeface="+mn-lt"/>
                          <a:ea typeface="+mn-ea"/>
                          <a:cs typeface="Arial"/>
                        </a:rPr>
                        <a:t> de groupes d’échanges pour recueillir le ressenti nécessaire aux actions d’ajustement des outils &amp; du dispositif d’accompagnement)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Accompagnement (aide à la préparation des instances projets avec les chefs de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Formation (</a:t>
                      </a:r>
                      <a:r>
                        <a:rPr lang="fr-FR" sz="1100" kern="1200" dirty="0">
                          <a:solidFill>
                            <a:schemeClr val="dk1"/>
                          </a:solidFill>
                          <a:latin typeface="+mn-lt"/>
                          <a:ea typeface="+mn-ea"/>
                          <a:cs typeface="Arial"/>
                        </a:rPr>
                        <a:t>Réalisation et diffusion de guides utilisateur détaillés et préparation de formation)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Communication (</a:t>
                      </a:r>
                      <a:r>
                        <a:rPr lang="fr-FR" sz="1100" kern="1200" dirty="0">
                          <a:solidFill>
                            <a:schemeClr val="dk1"/>
                          </a:solidFill>
                          <a:latin typeface="+mn-lt"/>
                          <a:ea typeface="+mn-ea"/>
                          <a:cs typeface="Arial"/>
                        </a:rPr>
                        <a:t>Présentation de la démarche et de l’outil aux différentes directions de l’entreprise afin de rallier les différentes équipes à la démarche)</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alt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alt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Picture 2" descr="Klesia">
            <a:extLst>
              <a:ext uri="{FF2B5EF4-FFF2-40B4-BE49-F238E27FC236}">
                <a16:creationId xmlns:a16="http://schemas.microsoft.com/office/drawing/2014/main" id="{F1102F77-8533-10DA-2AF0-25AE5DF699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716" y="2761652"/>
            <a:ext cx="1068622" cy="347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586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663466766"/>
              </p:ext>
            </p:extLst>
          </p:nvPr>
        </p:nvGraphicFramePr>
        <p:xfrm>
          <a:off x="361541" y="1808163"/>
          <a:ext cx="11430002" cy="45611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Dans l’optique d’améliorer le processus KYC au niveau monde pour l’entité CIB de la BNP, un nouvel outil a été mis en place (FENERGO) pour remplacer l’ancien outil.</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documentaires et des données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 la politique KYC du groupe BNP Paribas CIB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de l’architecture documentaire pour l’ensemble des départements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Expression des besoins dans l’outil JIRA</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Participation aux phases de recettes lors des différentes releases (projet Agile)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Paramétrage de l’outil avec les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Tests et remontées des bugs aux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et participation à la création des supports de formation pour les équipes opérationnelles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régionaux (Local </a:t>
                      </a:r>
                      <a:r>
                        <a:rPr lang="fr-FR" sz="1000" u="sng" kern="1200" dirty="0" err="1">
                          <a:solidFill>
                            <a:schemeClr val="tx1"/>
                          </a:solidFill>
                          <a:latin typeface="+mn-lt"/>
                          <a:ea typeface="+mn-ea"/>
                          <a:cs typeface="Arial" panose="020B0604020202020204" pitchFamily="34" charset="0"/>
                        </a:rPr>
                        <a:t>Requirements</a:t>
                      </a:r>
                      <a:r>
                        <a:rPr lang="fr-FR" sz="1000" u="sng" kern="1200" dirty="0">
                          <a:solidFill>
                            <a:schemeClr val="tx1"/>
                          </a:solidFill>
                          <a:latin typeface="+mn-lt"/>
                          <a:ea typeface="+mn-ea"/>
                          <a:cs typeface="Arial" panose="020B0604020202020204" pitchFamily="34" charset="0"/>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des besoins réglementaires propres aux régions (45 pays, 164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Compréhension et validation du besoin avec les régions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Arbitrage des besoins entre la politique globale et les politiques régionales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Au sein du programme LOANSCAPE visant à refondre l'écosystème de la BFI. Le projet  INVEST’ON vise à développer un portail aux investisseurs sur le marché secondaire  pour gérer et exécuter de bout en bout le processus de vente des actifs proposés par CACIB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Projet comparable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Pré cadrage: contexte, objectifs &amp; enjeux; découpage des 3 macro-processus constitution de la BDD, outil comparable, enrichissement des scénarios de </a:t>
                      </a:r>
                      <a:r>
                        <a:rPr lang="fr-FR" sz="1000" kern="1200" dirty="0" err="1">
                          <a:solidFill>
                            <a:schemeClr val="dk1"/>
                          </a:solidFill>
                          <a:latin typeface="+mn-lt"/>
                          <a:ea typeface="+mn-ea"/>
                          <a:cs typeface="Arial"/>
                        </a:rPr>
                        <a:t>pricing</a:t>
                      </a:r>
                      <a:r>
                        <a:rPr lang="fr-FR" sz="1000" kern="120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Workflow fonctionnel : représentation sous </a:t>
                      </a:r>
                      <a:r>
                        <a:rPr lang="fr-FR" sz="1000" kern="1200" dirty="0" err="1">
                          <a:solidFill>
                            <a:schemeClr val="dk1"/>
                          </a:solidFill>
                          <a:latin typeface="+mn-lt"/>
                          <a:ea typeface="+mn-ea"/>
                          <a:cs typeface="Arial"/>
                        </a:rPr>
                        <a:t>visio</a:t>
                      </a:r>
                      <a:r>
                        <a:rPr lang="fr-FR" sz="1000" kern="1200" dirty="0">
                          <a:solidFill>
                            <a:schemeClr val="dk1"/>
                          </a:solidFill>
                          <a:latin typeface="+mn-lt"/>
                          <a:ea typeface="+mn-ea"/>
                          <a:cs typeface="Arial"/>
                        </a:rPr>
                        <a:t> &amp; détail Excel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User stories: pondération &amp; planification &amp; rédaction sous </a:t>
                      </a:r>
                      <a:r>
                        <a:rPr lang="fr-FR" sz="1000" kern="1200" dirty="0" err="1">
                          <a:solidFill>
                            <a:schemeClr val="dk1"/>
                          </a:solidFill>
                          <a:latin typeface="+mn-lt"/>
                          <a:ea typeface="+mn-ea"/>
                          <a:cs typeface="Arial"/>
                        </a:rPr>
                        <a:t>Calitrack</a:t>
                      </a:r>
                      <a:endParaRPr lang="fr-FR" sz="10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Recette applicative INVEST’ON: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en-US" sz="1000" kern="1200" dirty="0">
                          <a:solidFill>
                            <a:schemeClr val="dk1"/>
                          </a:solidFill>
                          <a:latin typeface="+mn-lt"/>
                          <a:ea typeface="+mn-ea"/>
                          <a:cs typeface="Arial"/>
                        </a:rPr>
                        <a:t>Test des </a:t>
                      </a:r>
                      <a:r>
                        <a:rPr lang="en-US" sz="1000" kern="1200" dirty="0" err="1">
                          <a:solidFill>
                            <a:schemeClr val="dk1"/>
                          </a:solidFill>
                          <a:latin typeface="+mn-lt"/>
                          <a:ea typeface="+mn-ea"/>
                          <a:cs typeface="Arial"/>
                        </a:rPr>
                        <a:t>fonctionnalités</a:t>
                      </a:r>
                      <a:r>
                        <a:rPr lang="en-US" sz="1000" kern="1200" dirty="0">
                          <a:solidFill>
                            <a:schemeClr val="dk1"/>
                          </a:solidFill>
                          <a:latin typeface="+mn-lt"/>
                          <a:ea typeface="+mn-ea"/>
                          <a:cs typeface="Arial"/>
                        </a:rPr>
                        <a:t> : Update Asset, Asset proposal, Rollback on asset</a:t>
                      </a:r>
                      <a:r>
                        <a:rPr lang="fr-FR" sz="1000" kern="1200" dirty="0">
                          <a:solidFill>
                            <a:schemeClr val="dk1"/>
                          </a:solidFill>
                          <a:latin typeface="+mn-lt"/>
                          <a:ea typeface="+mn-ea"/>
                          <a:cs typeface="Arial"/>
                        </a:rPr>
                        <a:t>, Program release &amp; Notifications.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Conduite du changement: </a:t>
                      </a:r>
                      <a:r>
                        <a:rPr lang="fr-FR" sz="1000" u="none" kern="1200" dirty="0">
                          <a:solidFill>
                            <a:schemeClr val="tx1"/>
                          </a:solidFill>
                          <a:latin typeface="+mn-lt"/>
                          <a:ea typeface="+mn-ea"/>
                          <a:cs typeface="Arial" panose="020B0604020202020204" pitchFamily="34" charset="0"/>
                        </a:rPr>
                        <a:t>rétro documentation fonctionnelle &amp; formation.</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CODEV: </a:t>
                      </a:r>
                      <a:r>
                        <a:rPr lang="fr-FR" sz="1000" u="none" kern="1200" dirty="0">
                          <a:solidFill>
                            <a:schemeClr val="tx1"/>
                          </a:solidFill>
                          <a:latin typeface="+mn-lt"/>
                          <a:ea typeface="+mn-ea"/>
                          <a:cs typeface="Arial" panose="020B0604020202020204" pitchFamily="34" charset="0"/>
                        </a:rPr>
                        <a:t>constitution d’un groupe de pairs (Business </a:t>
                      </a:r>
                      <a:r>
                        <a:rPr lang="fr-FR" sz="1000" u="none" kern="1200" dirty="0" err="1">
                          <a:solidFill>
                            <a:schemeClr val="tx1"/>
                          </a:solidFill>
                          <a:latin typeface="+mn-lt"/>
                          <a:ea typeface="+mn-ea"/>
                          <a:cs typeface="Arial" panose="020B0604020202020204" pitchFamily="34" charset="0"/>
                        </a:rPr>
                        <a:t>Analyst</a:t>
                      </a:r>
                      <a:r>
                        <a:rPr lang="fr-FR" sz="1000" u="none" kern="1200" dirty="0">
                          <a:solidFill>
                            <a:schemeClr val="tx1"/>
                          </a:solidFill>
                          <a:latin typeface="+mn-lt"/>
                          <a:ea typeface="+mn-ea"/>
                          <a:cs typeface="Arial" panose="020B0604020202020204" pitchFamily="34" charset="0"/>
                        </a:rPr>
                        <a:t>) pour échanger sur les pratiques et traiter les problématiques rencontrées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CA4A6152-0CF1-7082-ECFC-D4AF51AC646A}"/>
              </a:ext>
            </a:extLst>
          </p:cNvPr>
          <p:cNvPicPr>
            <a:picLocks noChangeAspect="1"/>
          </p:cNvPicPr>
          <p:nvPr/>
        </p:nvPicPr>
        <p:blipFill>
          <a:blip r:embed="rId5"/>
          <a:stretch>
            <a:fillRect/>
          </a:stretch>
        </p:blipFill>
        <p:spPr>
          <a:xfrm>
            <a:off x="219297" y="4938583"/>
            <a:ext cx="1982304" cy="1037406"/>
          </a:xfrm>
          <a:prstGeom prst="rect">
            <a:avLst/>
          </a:prstGeom>
        </p:spPr>
      </p:pic>
      <p:pic>
        <p:nvPicPr>
          <p:cNvPr id="10" name="Image 9">
            <a:extLst>
              <a:ext uri="{FF2B5EF4-FFF2-40B4-BE49-F238E27FC236}">
                <a16:creationId xmlns:a16="http://schemas.microsoft.com/office/drawing/2014/main" id="{30DADBC8-9FC4-8C3C-CACF-8895DBE40C27}"/>
              </a:ext>
            </a:extLst>
          </p:cNvPr>
          <p:cNvPicPr>
            <a:picLocks noChangeAspect="1"/>
          </p:cNvPicPr>
          <p:nvPr/>
        </p:nvPicPr>
        <p:blipFill>
          <a:blip r:embed="rId6"/>
          <a:stretch>
            <a:fillRect/>
          </a:stretch>
        </p:blipFill>
        <p:spPr>
          <a:xfrm>
            <a:off x="361542" y="3188985"/>
            <a:ext cx="1743008" cy="287295"/>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97737943"/>
              </p:ext>
            </p:extLst>
          </p:nvPr>
        </p:nvGraphicFramePr>
        <p:xfrm>
          <a:off x="381000" y="1825625"/>
          <a:ext cx="11430002" cy="400783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Neuflize OBC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Accompagnement au changement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Pilotage, diagnostic de l’existant, recueil des besoin métiers, organisation sur le volet change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Co-construction d’un plan de formation/com à destination des équipes métiers et </a:t>
                      </a:r>
                      <a:r>
                        <a:rPr lang="fr-FR" sz="1100" b="0" i="0" kern="1200" noProof="0" dirty="0">
                          <a:solidFill>
                            <a:schemeClr val="dk1"/>
                          </a:solidFill>
                          <a:latin typeface="+mn-lt"/>
                          <a:ea typeface="+mn-ea"/>
                          <a:cs typeface="Arial"/>
                        </a:rPr>
                        <a:t>pilotage du déploiement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Structuration des nouveaux processus, accompagnement des équipes, animation d’ateliers/restitution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000" b="0" i="0" u="none" strike="noStrike" dirty="0">
                        <a:solidFill>
                          <a:srgbClr val="000000"/>
                        </a:solidFill>
                        <a:effectLst/>
                        <a:latin typeface="Arial" panose="020B0604020202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6" name="Image 5" descr="Une image contenant texte, Police, logo, Graphique&#10;&#10;Description générée automatiquement">
            <a:extLst>
              <a:ext uri="{FF2B5EF4-FFF2-40B4-BE49-F238E27FC236}">
                <a16:creationId xmlns:a16="http://schemas.microsoft.com/office/drawing/2014/main" id="{81E0F9BB-4F7A-4C1A-72E4-649D44ABC2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739" y="3858524"/>
            <a:ext cx="1329267" cy="460931"/>
          </a:xfrm>
          <a:prstGeom prst="rect">
            <a:avLst/>
          </a:prstGeom>
        </p:spPr>
      </p:pic>
    </p:spTree>
    <p:extLst>
      <p:ext uri="{BB962C8B-B14F-4D97-AF65-F5344CB8AC3E}">
        <p14:creationId xmlns:p14="http://schemas.microsoft.com/office/powerpoint/2010/main" val="3772056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43116181"/>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dirty="0"/>
                        <a:t>Accompagnement dans le cadre des projets d’IA Générative</a:t>
                      </a:r>
                      <a:r>
                        <a:rPr lang="fr-FR" sz="1100" kern="1200" spc="-200" dirty="0">
                          <a:solidFill>
                            <a:schemeClr val="tx1"/>
                          </a:solidFill>
                          <a:latin typeface="+mn-lt"/>
                          <a:ea typeface="+mn-ea"/>
                          <a:cs typeface="+mn-cs"/>
                        </a:rPr>
                        <a:t>  / </a:t>
                      </a:r>
                      <a:r>
                        <a:rPr lang="fr-FR" sz="1100" dirty="0"/>
                        <a:t>Chefferie de projet IA générative</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Identification des cas d’usage et construction d’une feuille de route IA générative MH avec l’ensemble des acteurs concernés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des outils de recensement des besoins et opportunités d'exploitation de l'IA générative dans les métiers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et animation des ateliers d'idéation</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 la veille sur l'IA Générative et des ressources contributrices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Construction d’une roadmap produit priorisée et de la </a:t>
                      </a:r>
                      <a:r>
                        <a:rPr lang="fr-FR" sz="1000" kern="1200" dirty="0" err="1">
                          <a:solidFill>
                            <a:srgbClr val="000000"/>
                          </a:solidFill>
                          <a:latin typeface="+mn-lt"/>
                          <a:ea typeface="+mn-ea"/>
                          <a:cs typeface="+mn-cs"/>
                        </a:rPr>
                        <a:t>backlog</a:t>
                      </a:r>
                      <a:r>
                        <a:rPr lang="fr-FR" sz="1000" kern="1200" dirty="0">
                          <a:solidFill>
                            <a:srgbClr val="000000"/>
                          </a:solidFill>
                          <a:latin typeface="+mn-lt"/>
                          <a:ea typeface="+mn-ea"/>
                          <a:cs typeface="+mn-cs"/>
                        </a:rPr>
                        <a:t> correspondante </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Contribution à la l’instruction et au lancement des UC priorisés</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Instruction des cas d’usage: analyse d'opportunité, création de valeur, brief produit, hypothèses à tester</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Support à l'équipe produit (data, DSI et métier) sur les aspects de gouvernance, gestion de risque, métiers (ex. processus, RACI…) et technique (ex. infrastructure à mettre en place) pour les </a:t>
                      </a:r>
                      <a:r>
                        <a:rPr lang="fr-FR" sz="1000" kern="1200" dirty="0" err="1">
                          <a:solidFill>
                            <a:srgbClr val="000000"/>
                          </a:solidFill>
                          <a:latin typeface="+mn-lt"/>
                          <a:ea typeface="+mn-ea"/>
                          <a:cs typeface="+mn-cs"/>
                        </a:rPr>
                        <a:t>usecases</a:t>
                      </a:r>
                      <a:r>
                        <a:rPr lang="fr-FR" sz="1000" kern="1200" dirty="0">
                          <a:solidFill>
                            <a:srgbClr val="000000"/>
                          </a:solidFill>
                          <a:latin typeface="+mn-lt"/>
                          <a:ea typeface="+mn-ea"/>
                          <a:cs typeface="+mn-cs"/>
                        </a:rPr>
                        <a:t> retenus</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Animation des instances de gouvernance, de la communication et de la conduite du changement </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d'animation des instances de gouvernance (COPIL, COMOP, ateliers de travail, compte-rendu)</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du plan de communication et des éléments de conduite du changement à mettre en place (ex. supports de formation)</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115353"/>
            <a:ext cx="1312111" cy="479858"/>
          </a:xfrm>
          <a:prstGeom prst="rect">
            <a:avLst/>
          </a:prstGeom>
        </p:spPr>
      </p:pic>
    </p:spTree>
    <p:extLst>
      <p:ext uri="{BB962C8B-B14F-4D97-AF65-F5344CB8AC3E}">
        <p14:creationId xmlns:p14="http://schemas.microsoft.com/office/powerpoint/2010/main" val="31243639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C756052-8FCF-4174-9006-A84F94FEDB90}"/>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1493</Words>
  <Application>Microsoft Office PowerPoint</Application>
  <PresentationFormat>Grand écran</PresentationFormat>
  <Paragraphs>133</Paragraphs>
  <Slides>8</Slides>
  <Notes>0</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8</vt:i4>
      </vt:variant>
    </vt:vector>
  </HeadingPairs>
  <TitlesOfParts>
    <vt:vector size="13" baseType="lpstr">
      <vt:lpstr>Arial</vt:lpstr>
      <vt:lpstr>Calibri</vt:lpstr>
      <vt:lpstr>Raleway</vt:lpstr>
      <vt:lpstr>2023 03_ACI partners</vt:lpstr>
      <vt:lpstr>Diapositive think-cell</vt:lpstr>
      <vt:lpstr>Extrait de nos références 1</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22</cp:revision>
  <dcterms:created xsi:type="dcterms:W3CDTF">2023-09-06T09:59:04Z</dcterms:created>
  <dcterms:modified xsi:type="dcterms:W3CDTF">2024-05-28T15:37:28Z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1599500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