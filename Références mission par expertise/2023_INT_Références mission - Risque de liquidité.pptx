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147378326" r:id="rId5"/>
    <p:sldId id="2147378330" r:id="rId6"/>
    <p:sldId id="2147378338" r:id="rId7"/>
    <p:sldId id="2147378337" r:id="rId8"/>
  </p:sldIdLst>
  <p:sldSz cx="12192000" cy="6858000"/>
  <p:notesSz cx="6858000" cy="9144000"/>
  <p:custDataLst>
    <p:tags r:id="rId10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éférences courtes" id="{FA5D18A6-A89E-4126-A8CF-BB317364FD49}">
          <p14:sldIdLst>
            <p14:sldId id="2147378326"/>
            <p14:sldId id="2147378330"/>
            <p14:sldId id="2147378338"/>
            <p14:sldId id="214737833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</pc:sldChg>
    </pc:docChg>
  </pc:docChgLst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17/04/2025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59" imgH="360" progId="TCLayout.ActiveDocument.1">
                  <p:embed/>
                </p:oleObj>
              </mc:Choice>
              <mc:Fallback>
                <p:oleObj name="think-cell Slide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59" imgH="360" progId="TCLayout.ActiveDocument.1">
                  <p:embed/>
                </p:oleObj>
              </mc:Choice>
              <mc:Fallback>
                <p:oleObj name="think-cell Slide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59" imgH="360" progId="TCLayout.ActiveDocument.1">
                  <p:embed/>
                </p:oleObj>
              </mc:Choice>
              <mc:Fallback>
                <p:oleObj name="think-cell Slide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‹#›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Relationship Id="rId5" Type="http://schemas.openxmlformats.org/officeDocument/2006/relationships/image" Target="../media/image12.png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3.xml"/><Relationship Id="rId5" Type="http://schemas.openxmlformats.org/officeDocument/2006/relationships/image" Target="../media/image17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3968000"/>
              </p:ext>
            </p:extLst>
          </p:nvPr>
        </p:nvGraphicFramePr>
        <p:xfrm>
          <a:off x="361541" y="1808163"/>
          <a:ext cx="11430002" cy="3301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BMW Financial Services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Renforcer les équipes en charge de la production mensuelle et trimestrielle des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règlementaires de BMW Finance France </a:t>
                      </a:r>
                    </a:p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Préparer l’entrée en vigueur de la règlementation </a:t>
                      </a:r>
                      <a:r>
                        <a:rPr lang="en-GB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CRDV - CRR2</a:t>
                      </a: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Production et suivi des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règlementaires COREP, Grands Risques, Ratio de Levier, ratios de liquidité et de financement (LCR, NSFR, ALMM) et Asset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Encumbrance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.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Veille et mise en conformité des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en lien avec la réglementation CRR2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à jour de la documentation (processus, documentation règlementaire) associée au périmètre à charge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7" name="Picture 2" descr="Nos services - ESPACE BERTEAUX VERNOUILLET">
            <a:extLst>
              <a:ext uri="{FF2B5EF4-FFF2-40B4-BE49-F238E27FC236}">
                <a16:creationId xmlns:a16="http://schemas.microsoft.com/office/drawing/2014/main" id="{21E2981E-6F40-A2C8-28AE-B852A21B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75" y="4103699"/>
            <a:ext cx="1224153" cy="66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1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7398782"/>
              </p:ext>
            </p:extLst>
          </p:nvPr>
        </p:nvGraphicFramePr>
        <p:xfrm>
          <a:off x="361541" y="1808163"/>
          <a:ext cx="11430002" cy="25639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109410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Renfort de l’équipe Contrôle Permanent sur le périmètre Production, Préconisation, Suivi de la liquidité suite à des recommandations de la BCE et de l’Inspection Générale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Prise de connaissance de l’organisation et de l’environnement de contrôle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Lecture documentaire des processus, méthodologie, guide et des anciens contrôles effectués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Vérification des contrôles opérationnels et des fiches opérationnelles récapitulatives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Préparation des entretiens métiers et réalisation des entretiens métiers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Rédaction des fiches contrôles permanent avec contexte, objectif, résultat de contrôles, conclusions et préconisations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1047231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</a:tbl>
          </a:graphicData>
        </a:graphic>
      </p:graphicFrame>
      <p:pic>
        <p:nvPicPr>
          <p:cNvPr id="3" name="Picture 2" descr="Crédit Agricole Logo : histoire, signification de l'emblème">
            <a:extLst>
              <a:ext uri="{FF2B5EF4-FFF2-40B4-BE49-F238E27FC236}">
                <a16:creationId xmlns:a16="http://schemas.microsoft.com/office/drawing/2014/main" id="{113097A3-AC3E-A99B-4AA9-B705B496E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68" y="2482811"/>
            <a:ext cx="1109773" cy="621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805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9019510"/>
              </p:ext>
            </p:extLst>
          </p:nvPr>
        </p:nvGraphicFramePr>
        <p:xfrm>
          <a:off x="381000" y="1825625"/>
          <a:ext cx="11430002" cy="32416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746876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Dans un contexte de création de la filière liquidité du Groupe, le CA (CA.sa et CACIB) a souhaité définir le risque de liquidité, ses indicateurs et ses modalités de pilotage et d’encadrement de ce risque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du modèle interne de liquidité (définition de indicateurs, stress test, limite, plan d’urgence, gouvernance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Déploiement du dispositif au niveau des entités et déclinaison en fonction des métiers (CIB, métiers du titres, Asset management, Assurance,…)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en place du processus de production et d’un SI afférent au calcul des métriques de liquidité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Accompagnement au suivi de l’audit de l’inspection sur le risque de liquidité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12" name="Image 15">
            <a:extLst>
              <a:ext uri="{FF2B5EF4-FFF2-40B4-BE49-F238E27FC236}">
                <a16:creationId xmlns:a16="http://schemas.microsoft.com/office/drawing/2014/main" id="{33DFAC2C-2270-61AE-8770-7A71F6D3D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035" y="3837963"/>
            <a:ext cx="1078325" cy="55466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9D98676-5630-1550-A763-A58D1262CE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095" y="4382249"/>
            <a:ext cx="1580204" cy="393525"/>
          </a:xfrm>
          <a:prstGeom prst="rect">
            <a:avLst/>
          </a:prstGeom>
        </p:spPr>
      </p:pic>
      <p:pic>
        <p:nvPicPr>
          <p:cNvPr id="7" name="Graphique 6" descr="Ajouter avec un remplissage uni">
            <a:extLst>
              <a:ext uri="{FF2B5EF4-FFF2-40B4-BE49-F238E27FC236}">
                <a16:creationId xmlns:a16="http://schemas.microsoft.com/office/drawing/2014/main" id="{5A2B72CB-ACE7-151C-6A9F-9AADD8C716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27815" y="4234011"/>
            <a:ext cx="180765" cy="18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94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0" imgH="501" progId="TCLayout.ActiveDocument.1">
                  <p:embed/>
                </p:oleObj>
              </mc:Choice>
              <mc:Fallback>
                <p:oleObj name="think-cell Slide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4743741"/>
              </p:ext>
            </p:extLst>
          </p:nvPr>
        </p:nvGraphicFramePr>
        <p:xfrm>
          <a:off x="381000" y="1825625"/>
          <a:ext cx="11430002" cy="38728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Société Générale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Suite à l’exercice </a:t>
                      </a:r>
                      <a:r>
                        <a:rPr lang="fr-FR" sz="1100" kern="1200" noProof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LiST</a:t>
                      </a: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, lancement de plusieurs initiatives de remédiation dans le cadre du renforcement du dispositif liquidité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Revue des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de pilotage de la liquidité au niveau des business unit et du Groupe et mise en place d’indicateurs de pilotage des ratios réglementaires (LCR/NSFR)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Harmonisation des gaps de liquidité statiques et stressé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Assistance à la refonte du SI de pilotage de la liquidité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b="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555948"/>
                  </a:ext>
                </a:extLst>
              </a:tr>
              <a:tr h="111875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353690"/>
                  </a:ext>
                </a:extLst>
              </a:tr>
            </a:tbl>
          </a:graphicData>
        </a:graphic>
      </p:graphicFrame>
      <p:pic>
        <p:nvPicPr>
          <p:cNvPr id="9" name="Picture Placeholder 12">
            <a:extLst>
              <a:ext uri="{FF2B5EF4-FFF2-40B4-BE49-F238E27FC236}">
                <a16:creationId xmlns:a16="http://schemas.microsoft.com/office/drawing/2014/main" id="{795A3A30-D776-0C9E-195C-223E046D24C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712" b="-14712"/>
          <a:stretch/>
        </p:blipFill>
        <p:spPr bwMode="gray">
          <a:xfrm>
            <a:off x="676612" y="3051977"/>
            <a:ext cx="1033523" cy="356347"/>
          </a:xfrm>
          <a:prstGeom prst="rect">
            <a:avLst/>
          </a:prstGeom>
          <a:solidFill>
            <a:schemeClr val="bg1"/>
          </a:solidFill>
          <a:ln/>
        </p:spPr>
      </p:pic>
    </p:spTree>
    <p:extLst>
      <p:ext uri="{BB962C8B-B14F-4D97-AF65-F5344CB8AC3E}">
        <p14:creationId xmlns:p14="http://schemas.microsoft.com/office/powerpoint/2010/main" val="37720568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eate a new document." ma:contentTypeScope="" ma:versionID="bc6f69bf5c0fab46b0890501e777c6a1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6656d7fccc761501876d40b0bdff1b8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Props1.xml><?xml version="1.0" encoding="utf-8"?>
<ds:datastoreItem xmlns:ds="http://schemas.openxmlformats.org/officeDocument/2006/customXml" ds:itemID="{1145B9B3-9CBA-49A9-88B5-2E1B2A169165}"/>
</file>

<file path=customXml/itemProps2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b662136d-f4c7-4ecd-aecf-392677ef4b39"/>
    <ds:schemaRef ds:uri="5438b2ed-c33a-4943-80d4-1eb1a51ca64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444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Raleway</vt:lpstr>
      <vt:lpstr>2023 03_ACI partners</vt:lpstr>
      <vt:lpstr>think-cell Slide</vt:lpstr>
      <vt:lpstr>Extrait de nos références</vt:lpstr>
      <vt:lpstr>Extrait de nos références</vt:lpstr>
      <vt:lpstr>Extrait de nos références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Ismaël LICER</cp:lastModifiedBy>
  <cp:revision>22</cp:revision>
  <dcterms:created xsi:type="dcterms:W3CDTF">2023-09-06T09:59:04Z</dcterms:created>
  <dcterms:modified xsi:type="dcterms:W3CDTF">2025-04-17T15:12:41Z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1600200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</Properties>
</file>