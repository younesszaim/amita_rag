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notesSlides/notesSlide7.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16"/>
  </p:notesMasterIdLst>
  <p:handoutMasterIdLst>
    <p:handoutMasterId r:id="rId17"/>
  </p:handoutMasterIdLst>
  <p:sldIdLst>
    <p:sldId id="2147473144" r:id="rId5"/>
    <p:sldId id="2147473142" r:id="rId6"/>
    <p:sldId id="2147378427" r:id="rId7"/>
    <p:sldId id="260" r:id="rId8"/>
    <p:sldId id="266" r:id="rId9"/>
    <p:sldId id="269" r:id="rId10"/>
    <p:sldId id="268" r:id="rId11"/>
    <p:sldId id="265" r:id="rId12"/>
    <p:sldId id="267" r:id="rId13"/>
    <p:sldId id="2147473166" r:id="rId14"/>
    <p:sldId id="2147473167"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7480"/>
    <a:srgbClr val="FA803D"/>
    <a:srgbClr val="353637"/>
    <a:srgbClr val="43A2BF"/>
    <a:srgbClr val="FFFFFF"/>
    <a:srgbClr val="B5E1EF"/>
    <a:srgbClr val="6AA6B7"/>
    <a:srgbClr val="AEC4DA"/>
    <a:srgbClr val="C9D7E7"/>
    <a:srgbClr val="161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879B1-5345-4E7B-85F4-C842E10F264A}" v="9" dt="2025-04-03T14:24:31.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8" autoAdjust="0"/>
    <p:restoredTop sz="94660"/>
  </p:normalViewPr>
  <p:slideViewPr>
    <p:cSldViewPr snapToGrid="0">
      <p:cViewPr varScale="1">
        <p:scale>
          <a:sx n="88" d="100"/>
          <a:sy n="88" d="100"/>
        </p:scale>
        <p:origin x="76" y="7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égoire Sourdel" userId="fd51565d-66fc-4c8a-b4a9-618555bedca2" providerId="ADAL" clId="{0A5879B1-5345-4E7B-85F4-C842E10F264A}"/>
    <pc:docChg chg="custSel addSld delSld modSld">
      <pc:chgData name="Grégoire Sourdel" userId="fd51565d-66fc-4c8a-b4a9-618555bedca2" providerId="ADAL" clId="{0A5879B1-5345-4E7B-85F4-C842E10F264A}" dt="2025-04-03T14:24:59.028" v="249" actId="20577"/>
      <pc:docMkLst>
        <pc:docMk/>
      </pc:docMkLst>
      <pc:sldChg chg="addSp modSp add">
        <pc:chgData name="Grégoire Sourdel" userId="fd51565d-66fc-4c8a-b4a9-618555bedca2" providerId="ADAL" clId="{0A5879B1-5345-4E7B-85F4-C842E10F264A}" dt="2025-04-03T14:24:25.269" v="183"/>
        <pc:sldMkLst>
          <pc:docMk/>
          <pc:sldMk cId="3370223058" sldId="260"/>
        </pc:sldMkLst>
        <pc:spChg chg="add mod">
          <ac:chgData name="Grégoire Sourdel" userId="fd51565d-66fc-4c8a-b4a9-618555bedca2" providerId="ADAL" clId="{0A5879B1-5345-4E7B-85F4-C842E10F264A}" dt="2025-04-03T14:24:25.269" v="183"/>
          <ac:spMkLst>
            <pc:docMk/>
            <pc:sldMk cId="3370223058" sldId="260"/>
            <ac:spMk id="5" creationId="{CC386B3C-B74D-7877-2C1D-35945C60A9F7}"/>
          </ac:spMkLst>
        </pc:spChg>
      </pc:sldChg>
      <pc:sldChg chg="addSp modSp add">
        <pc:chgData name="Grégoire Sourdel" userId="fd51565d-66fc-4c8a-b4a9-618555bedca2" providerId="ADAL" clId="{0A5879B1-5345-4E7B-85F4-C842E10F264A}" dt="2025-04-03T14:24:30.557" v="187"/>
        <pc:sldMkLst>
          <pc:docMk/>
          <pc:sldMk cId="2727255344" sldId="265"/>
        </pc:sldMkLst>
        <pc:spChg chg="add mod">
          <ac:chgData name="Grégoire Sourdel" userId="fd51565d-66fc-4c8a-b4a9-618555bedca2" providerId="ADAL" clId="{0A5879B1-5345-4E7B-85F4-C842E10F264A}" dt="2025-04-03T14:24:30.557" v="187"/>
          <ac:spMkLst>
            <pc:docMk/>
            <pc:sldMk cId="2727255344" sldId="265"/>
            <ac:spMk id="2" creationId="{64F96A02-A41B-70A9-9BF3-FE009E6D8E64}"/>
          </ac:spMkLst>
        </pc:spChg>
      </pc:sldChg>
      <pc:sldChg chg="addSp modSp add">
        <pc:chgData name="Grégoire Sourdel" userId="fd51565d-66fc-4c8a-b4a9-618555bedca2" providerId="ADAL" clId="{0A5879B1-5345-4E7B-85F4-C842E10F264A}" dt="2025-04-03T14:24:28.495" v="184"/>
        <pc:sldMkLst>
          <pc:docMk/>
          <pc:sldMk cId="2651000674" sldId="266"/>
        </pc:sldMkLst>
        <pc:spChg chg="add mod">
          <ac:chgData name="Grégoire Sourdel" userId="fd51565d-66fc-4c8a-b4a9-618555bedca2" providerId="ADAL" clId="{0A5879B1-5345-4E7B-85F4-C842E10F264A}" dt="2025-04-03T14:24:28.495" v="184"/>
          <ac:spMkLst>
            <pc:docMk/>
            <pc:sldMk cId="2651000674" sldId="266"/>
            <ac:spMk id="2" creationId="{6A118943-13A1-855C-17EA-357AEF350505}"/>
          </ac:spMkLst>
        </pc:spChg>
      </pc:sldChg>
      <pc:sldChg chg="addSp modSp add">
        <pc:chgData name="Grégoire Sourdel" userId="fd51565d-66fc-4c8a-b4a9-618555bedca2" providerId="ADAL" clId="{0A5879B1-5345-4E7B-85F4-C842E10F264A}" dt="2025-04-03T14:24:31.035" v="188"/>
        <pc:sldMkLst>
          <pc:docMk/>
          <pc:sldMk cId="2577042647" sldId="267"/>
        </pc:sldMkLst>
        <pc:spChg chg="add mod">
          <ac:chgData name="Grégoire Sourdel" userId="fd51565d-66fc-4c8a-b4a9-618555bedca2" providerId="ADAL" clId="{0A5879B1-5345-4E7B-85F4-C842E10F264A}" dt="2025-04-03T14:24:31.035" v="188"/>
          <ac:spMkLst>
            <pc:docMk/>
            <pc:sldMk cId="2577042647" sldId="267"/>
            <ac:spMk id="2" creationId="{6107DE07-69A8-E173-A25A-9C153B9147ED}"/>
          </ac:spMkLst>
        </pc:spChg>
      </pc:sldChg>
      <pc:sldChg chg="addSp modSp add">
        <pc:chgData name="Grégoire Sourdel" userId="fd51565d-66fc-4c8a-b4a9-618555bedca2" providerId="ADAL" clId="{0A5879B1-5345-4E7B-85F4-C842E10F264A}" dt="2025-04-03T14:24:29.930" v="186"/>
        <pc:sldMkLst>
          <pc:docMk/>
          <pc:sldMk cId="775326339" sldId="268"/>
        </pc:sldMkLst>
        <pc:spChg chg="add mod">
          <ac:chgData name="Grégoire Sourdel" userId="fd51565d-66fc-4c8a-b4a9-618555bedca2" providerId="ADAL" clId="{0A5879B1-5345-4E7B-85F4-C842E10F264A}" dt="2025-04-03T14:24:29.930" v="186"/>
          <ac:spMkLst>
            <pc:docMk/>
            <pc:sldMk cId="775326339" sldId="268"/>
            <ac:spMk id="2" creationId="{9C3B76AC-82E9-52F9-3132-E72DD645444F}"/>
          </ac:spMkLst>
        </pc:spChg>
      </pc:sldChg>
      <pc:sldChg chg="addSp modSp add">
        <pc:chgData name="Grégoire Sourdel" userId="fd51565d-66fc-4c8a-b4a9-618555bedca2" providerId="ADAL" clId="{0A5879B1-5345-4E7B-85F4-C842E10F264A}" dt="2025-04-03T14:24:29.341" v="185"/>
        <pc:sldMkLst>
          <pc:docMk/>
          <pc:sldMk cId="1122727280" sldId="269"/>
        </pc:sldMkLst>
        <pc:spChg chg="add mod">
          <ac:chgData name="Grégoire Sourdel" userId="fd51565d-66fc-4c8a-b4a9-618555bedca2" providerId="ADAL" clId="{0A5879B1-5345-4E7B-85F4-C842E10F264A}" dt="2025-04-03T14:24:29.341" v="185"/>
          <ac:spMkLst>
            <pc:docMk/>
            <pc:sldMk cId="1122727280" sldId="269"/>
            <ac:spMk id="2" creationId="{A4576A31-F389-2497-D19B-AB2581E8AC7C}"/>
          </ac:spMkLst>
        </pc:spChg>
      </pc:sldChg>
      <pc:sldChg chg="addSp modSp add mod">
        <pc:chgData name="Grégoire Sourdel" userId="fd51565d-66fc-4c8a-b4a9-618555bedca2" providerId="ADAL" clId="{0A5879B1-5345-4E7B-85F4-C842E10F264A}" dt="2025-04-03T14:24:17.700" v="182" actId="20577"/>
        <pc:sldMkLst>
          <pc:docMk/>
          <pc:sldMk cId="3320148214" sldId="2147378427"/>
        </pc:sldMkLst>
        <pc:spChg chg="add mod">
          <ac:chgData name="Grégoire Sourdel" userId="fd51565d-66fc-4c8a-b4a9-618555bedca2" providerId="ADAL" clId="{0A5879B1-5345-4E7B-85F4-C842E10F264A}" dt="2025-04-03T14:24:17.700" v="182" actId="20577"/>
          <ac:spMkLst>
            <pc:docMk/>
            <pc:sldMk cId="3320148214" sldId="2147378427"/>
            <ac:spMk id="5" creationId="{809A8A5B-6CAF-A1E1-A81A-F2AED904FCA7}"/>
          </ac:spMkLst>
        </pc:spChg>
      </pc:sldChg>
      <pc:sldChg chg="addSp modSp mod">
        <pc:chgData name="Grégoire Sourdel" userId="fd51565d-66fc-4c8a-b4a9-618555bedca2" providerId="ADAL" clId="{0A5879B1-5345-4E7B-85F4-C842E10F264A}" dt="2025-04-03T14:24:47.346" v="247" actId="20577"/>
        <pc:sldMkLst>
          <pc:docMk/>
          <pc:sldMk cId="2876425171" sldId="2147473142"/>
        </pc:sldMkLst>
        <pc:spChg chg="mod">
          <ac:chgData name="Grégoire Sourdel" userId="fd51565d-66fc-4c8a-b4a9-618555bedca2" providerId="ADAL" clId="{0A5879B1-5345-4E7B-85F4-C842E10F264A}" dt="2025-04-03T14:21:46.075" v="123" actId="20577"/>
          <ac:spMkLst>
            <pc:docMk/>
            <pc:sldMk cId="2876425171" sldId="2147473142"/>
            <ac:spMk id="2" creationId="{B6399308-A61A-08DD-CE08-E7F6C1E3ABF5}"/>
          </ac:spMkLst>
        </pc:spChg>
        <pc:spChg chg="add mod">
          <ac:chgData name="Grégoire Sourdel" userId="fd51565d-66fc-4c8a-b4a9-618555bedca2" providerId="ADAL" clId="{0A5879B1-5345-4E7B-85F4-C842E10F264A}" dt="2025-04-03T14:24:47.346" v="247" actId="20577"/>
          <ac:spMkLst>
            <pc:docMk/>
            <pc:sldMk cId="2876425171" sldId="2147473142"/>
            <ac:spMk id="10" creationId="{E8A497CC-4601-2C72-8B74-4EB876E13D3E}"/>
          </ac:spMkLst>
        </pc:spChg>
        <pc:graphicFrameChg chg="modGraphic">
          <ac:chgData name="Grégoire Sourdel" userId="fd51565d-66fc-4c8a-b4a9-618555bedca2" providerId="ADAL" clId="{0A5879B1-5345-4E7B-85F4-C842E10F264A}" dt="2025-04-03T13:56:14.639" v="100" actId="6549"/>
          <ac:graphicFrameMkLst>
            <pc:docMk/>
            <pc:sldMk cId="2876425171" sldId="2147473142"/>
            <ac:graphicFrameMk id="6" creationId="{A3A19647-FD7D-E123-3162-76D42B52E86D}"/>
          </ac:graphicFrameMkLst>
        </pc:graphicFrameChg>
      </pc:sldChg>
      <pc:sldChg chg="modSp mod">
        <pc:chgData name="Grégoire Sourdel" userId="fd51565d-66fc-4c8a-b4a9-618555bedca2" providerId="ADAL" clId="{0A5879B1-5345-4E7B-85F4-C842E10F264A}" dt="2025-04-03T14:24:59.028" v="249" actId="20577"/>
        <pc:sldMkLst>
          <pc:docMk/>
          <pc:sldMk cId="4021883580" sldId="2147473144"/>
        </pc:sldMkLst>
        <pc:spChg chg="mod">
          <ac:chgData name="Grégoire Sourdel" userId="fd51565d-66fc-4c8a-b4a9-618555bedca2" providerId="ADAL" clId="{0A5879B1-5345-4E7B-85F4-C842E10F264A}" dt="2025-04-03T14:23:38.152" v="162" actId="12"/>
          <ac:spMkLst>
            <pc:docMk/>
            <pc:sldMk cId="4021883580" sldId="2147473144"/>
            <ac:spMk id="9" creationId="{9374B764-4A1F-3B82-6EFD-6F08A0BA92C7}"/>
          </ac:spMkLst>
        </pc:spChg>
        <pc:spChg chg="mod">
          <ac:chgData name="Grégoire Sourdel" userId="fd51565d-66fc-4c8a-b4a9-618555bedca2" providerId="ADAL" clId="{0A5879B1-5345-4E7B-85F4-C842E10F264A}" dt="2025-04-03T14:24:59.028" v="249" actId="20577"/>
          <ac:spMkLst>
            <pc:docMk/>
            <pc:sldMk cId="4021883580" sldId="2147473144"/>
            <ac:spMk id="16" creationId="{420076D4-B819-417A-BFE5-4D16BA421578}"/>
          </ac:spMkLst>
        </pc:spChg>
        <pc:spChg chg="mod">
          <ac:chgData name="Grégoire Sourdel" userId="fd51565d-66fc-4c8a-b4a9-618555bedca2" providerId="ADAL" clId="{0A5879B1-5345-4E7B-85F4-C842E10F264A}" dt="2025-04-03T14:21:53.543" v="124"/>
          <ac:spMkLst>
            <pc:docMk/>
            <pc:sldMk cId="4021883580" sldId="2147473144"/>
            <ac:spMk id="17" creationId="{4C348E1F-4DDB-78C8-F542-3EB2401B4404}"/>
          </ac:spMkLst>
        </pc:spChg>
        <pc:spChg chg="mod">
          <ac:chgData name="Grégoire Sourdel" userId="fd51565d-66fc-4c8a-b4a9-618555bedca2" providerId="ADAL" clId="{0A5879B1-5345-4E7B-85F4-C842E10F264A}" dt="2025-04-03T14:23:20.661" v="159"/>
          <ac:spMkLst>
            <pc:docMk/>
            <pc:sldMk cId="4021883580" sldId="2147473144"/>
            <ac:spMk id="18" creationId="{E10ED7D2-0817-34E4-AA65-28CAB2ADE35A}"/>
          </ac:spMkLst>
        </pc:spChg>
        <pc:spChg chg="mod">
          <ac:chgData name="Grégoire Sourdel" userId="fd51565d-66fc-4c8a-b4a9-618555bedca2" providerId="ADAL" clId="{0A5879B1-5345-4E7B-85F4-C842E10F264A}" dt="2025-04-03T14:23:00.627" v="155"/>
          <ac:spMkLst>
            <pc:docMk/>
            <pc:sldMk cId="4021883580" sldId="2147473144"/>
            <ac:spMk id="24" creationId="{7761FC5B-F15E-D548-7B04-4D512A40AAF3}"/>
          </ac:spMkLst>
        </pc:spChg>
        <pc:spChg chg="mod">
          <ac:chgData name="Grégoire Sourdel" userId="fd51565d-66fc-4c8a-b4a9-618555bedca2" providerId="ADAL" clId="{0A5879B1-5345-4E7B-85F4-C842E10F264A}" dt="2025-04-03T14:23:10.540" v="158" actId="20577"/>
          <ac:spMkLst>
            <pc:docMk/>
            <pc:sldMk cId="4021883580" sldId="2147473144"/>
            <ac:spMk id="33" creationId="{0DA58CDB-0089-2305-03DB-BCBFAB23D67A}"/>
          </ac:spMkLst>
        </pc:spChg>
        <pc:spChg chg="mod">
          <ac:chgData name="Grégoire Sourdel" userId="fd51565d-66fc-4c8a-b4a9-618555bedca2" providerId="ADAL" clId="{0A5879B1-5345-4E7B-85F4-C842E10F264A}" dt="2025-04-03T14:22:52.264" v="154" actId="20577"/>
          <ac:spMkLst>
            <pc:docMk/>
            <pc:sldMk cId="4021883580" sldId="2147473144"/>
            <ac:spMk id="48" creationId="{83D17651-3B3A-A8A5-DD90-007B18392C69}"/>
          </ac:spMkLst>
        </pc:spChg>
      </pc:sldChg>
      <pc:sldChg chg="del">
        <pc:chgData name="Grégoire Sourdel" userId="fd51565d-66fc-4c8a-b4a9-618555bedca2" providerId="ADAL" clId="{0A5879B1-5345-4E7B-85F4-C842E10F264A}" dt="2025-04-03T13:55:47.258" v="70" actId="47"/>
        <pc:sldMkLst>
          <pc:docMk/>
          <pc:sldMk cId="1215846549" sldId="214747316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B24B2C0-44A7-E859-F0F5-248C134869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195FBEB-AFF2-385C-9860-DC3C5A10E1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3ED521-90D3-4786-B7B2-29257DB33A99}" type="datetimeFigureOut">
              <a:rPr lang="fr-FR" smtClean="0"/>
              <a:t>03/04/2025</a:t>
            </a:fld>
            <a:endParaRPr lang="fr-FR"/>
          </a:p>
        </p:txBody>
      </p:sp>
      <p:sp>
        <p:nvSpPr>
          <p:cNvPr id="4" name="Espace réservé du pied de page 3">
            <a:extLst>
              <a:ext uri="{FF2B5EF4-FFF2-40B4-BE49-F238E27FC236}">
                <a16:creationId xmlns:a16="http://schemas.microsoft.com/office/drawing/2014/main" id="{8BC2FB3E-C108-C16D-1C58-DFC3617648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98B3C60-4ADE-17B5-A9E7-ED077B292D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AD0581-994E-4E23-BE9A-FBA5982806C4}" type="slidenum">
              <a:rPr lang="fr-FR" smtClean="0"/>
              <a:t>‹N°›</a:t>
            </a:fld>
            <a:endParaRPr lang="fr-FR"/>
          </a:p>
        </p:txBody>
      </p:sp>
    </p:spTree>
    <p:extLst>
      <p:ext uri="{BB962C8B-B14F-4D97-AF65-F5344CB8AC3E}">
        <p14:creationId xmlns:p14="http://schemas.microsoft.com/office/powerpoint/2010/main" val="3469604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43FFD9-8027-4C6C-B719-3E33B2AEFA5C}" type="datetimeFigureOut">
              <a:rPr lang="fr-FR" smtClean="0"/>
              <a:t>03/04/2025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CD49A-1064-457F-9288-ED9170BDB4C3}" type="slidenum">
              <a:rPr lang="fr-FR" smtClean="0"/>
              <a:t>‹N°›</a:t>
            </a:fld>
            <a:endParaRPr lang="fr-FR"/>
          </a:p>
        </p:txBody>
      </p:sp>
    </p:spTree>
    <p:extLst>
      <p:ext uri="{BB962C8B-B14F-4D97-AF65-F5344CB8AC3E}">
        <p14:creationId xmlns:p14="http://schemas.microsoft.com/office/powerpoint/2010/main" val="426716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4CCBB6-FBCA-4E1B-8481-3CF74219937C}" type="slidenum">
              <a:rPr lang="fr-FR" smtClean="0"/>
              <a:pPr/>
              <a:t>2</a:t>
            </a:fld>
            <a:endParaRPr lang="fr-FR"/>
          </a:p>
        </p:txBody>
      </p:sp>
    </p:spTree>
    <p:extLst>
      <p:ext uri="{BB962C8B-B14F-4D97-AF65-F5344CB8AC3E}">
        <p14:creationId xmlns:p14="http://schemas.microsoft.com/office/powerpoint/2010/main" val="134495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4</a:t>
            </a:fld>
            <a:endParaRPr lang="fr-FR"/>
          </a:p>
        </p:txBody>
      </p:sp>
    </p:spTree>
    <p:extLst>
      <p:ext uri="{BB962C8B-B14F-4D97-AF65-F5344CB8AC3E}">
        <p14:creationId xmlns:p14="http://schemas.microsoft.com/office/powerpoint/2010/main" val="1407696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5</a:t>
            </a:fld>
            <a:endParaRPr lang="fr-FR"/>
          </a:p>
        </p:txBody>
      </p:sp>
    </p:spTree>
    <p:extLst>
      <p:ext uri="{BB962C8B-B14F-4D97-AF65-F5344CB8AC3E}">
        <p14:creationId xmlns:p14="http://schemas.microsoft.com/office/powerpoint/2010/main" val="3598721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6</a:t>
            </a:fld>
            <a:endParaRPr lang="fr-FR"/>
          </a:p>
        </p:txBody>
      </p:sp>
    </p:spTree>
    <p:extLst>
      <p:ext uri="{BB962C8B-B14F-4D97-AF65-F5344CB8AC3E}">
        <p14:creationId xmlns:p14="http://schemas.microsoft.com/office/powerpoint/2010/main" val="451170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7</a:t>
            </a:fld>
            <a:endParaRPr lang="fr-FR"/>
          </a:p>
        </p:txBody>
      </p:sp>
    </p:spTree>
    <p:extLst>
      <p:ext uri="{BB962C8B-B14F-4D97-AF65-F5344CB8AC3E}">
        <p14:creationId xmlns:p14="http://schemas.microsoft.com/office/powerpoint/2010/main" val="2241010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8</a:t>
            </a:fld>
            <a:endParaRPr lang="fr-FR"/>
          </a:p>
        </p:txBody>
      </p:sp>
    </p:spTree>
    <p:extLst>
      <p:ext uri="{BB962C8B-B14F-4D97-AF65-F5344CB8AC3E}">
        <p14:creationId xmlns:p14="http://schemas.microsoft.com/office/powerpoint/2010/main" val="2275798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5A9D2D88-A556-4952-8399-BEB8EF8A0335}" type="slidenum">
              <a:rPr lang="fr-FR" smtClean="0"/>
              <a:t>9</a:t>
            </a:fld>
            <a:endParaRPr lang="fr-FR"/>
          </a:p>
        </p:txBody>
      </p:sp>
    </p:spTree>
    <p:extLst>
      <p:ext uri="{BB962C8B-B14F-4D97-AF65-F5344CB8AC3E}">
        <p14:creationId xmlns:p14="http://schemas.microsoft.com/office/powerpoint/2010/main" val="4073983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7D3B-D737-6FBF-D89E-5DB58BB689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D6A6E0-5CBA-9262-8D53-57F8CB86A3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6FB38C3-9AB6-D267-3C5F-F96E0C9291F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186B97-1E7E-E3B3-35F8-8FFA5B125460}"/>
              </a:ext>
            </a:extLst>
          </p:cNvPr>
          <p:cNvSpPr>
            <a:spLocks noGrp="1"/>
          </p:cNvSpPr>
          <p:nvPr>
            <p:ph type="sldNum" sz="quarter" idx="5"/>
          </p:nvPr>
        </p:nvSpPr>
        <p:spPr/>
        <p:txBody>
          <a:bodyPr/>
          <a:lstStyle/>
          <a:p>
            <a:fld id="{E14CCBB6-FBCA-4E1B-8481-3CF74219937C}" type="slidenum">
              <a:rPr lang="fr-FR" smtClean="0"/>
              <a:pPr/>
              <a:t>11</a:t>
            </a:fld>
            <a:endParaRPr lang="fr-FR"/>
          </a:p>
        </p:txBody>
      </p:sp>
    </p:spTree>
    <p:extLst>
      <p:ext uri="{BB962C8B-B14F-4D97-AF65-F5344CB8AC3E}">
        <p14:creationId xmlns:p14="http://schemas.microsoft.com/office/powerpoint/2010/main" val="4120329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6.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oleObject" Target="../embeddings/oleObject18.bin"/><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876170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8" name="Picture Placeholder 4">
            <a:extLst>
              <a:ext uri="{FF2B5EF4-FFF2-40B4-BE49-F238E27FC236}">
                <a16:creationId xmlns:a16="http://schemas.microsoft.com/office/drawing/2014/main" id="{0DABC13F-E722-938B-B2A7-E7F0C4530395}"/>
              </a:ext>
            </a:extLst>
          </p:cNvPr>
          <p:cNvPicPr>
            <a:picLocks noChangeAspect="1"/>
          </p:cNvPicPr>
          <p:nvPr/>
        </p:nvPicPr>
        <p:blipFill rotWithShape="1">
          <a:blip r:embed="rId5">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2" y="6232126"/>
            <a:ext cx="3398399" cy="365125"/>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050" b="0" kern="1200" cap="none" baseline="0" dirty="0">
                <a:solidFill>
                  <a:schemeClr val="bg1">
                    <a:lumMod val="50000"/>
                  </a:schemeClr>
                </a:solidFill>
                <a:latin typeface="+mj-lt"/>
                <a:ea typeface="+mn-ea"/>
                <a:cs typeface="+mn-cs"/>
              </a:defRPr>
            </a:lvl1pPr>
          </a:lstStyle>
          <a:p>
            <a:pPr lvl="0"/>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3" name="Espace réservé du contenu 14">
            <a:extLst>
              <a:ext uri="{FF2B5EF4-FFF2-40B4-BE49-F238E27FC236}">
                <a16:creationId xmlns:a16="http://schemas.microsoft.com/office/drawing/2014/main" id="{E148F707-7F4A-452A-957D-A68A3040F28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69516" y="521012"/>
            <a:ext cx="3398244" cy="1528773"/>
          </a:xfrm>
          <a:prstGeom prst="rect">
            <a:avLst/>
          </a:prstGeom>
        </p:spPr>
      </p:pic>
      <p:sp>
        <p:nvSpPr>
          <p:cNvPr id="5" name="ZoneTexte 4">
            <a:extLst>
              <a:ext uri="{FF2B5EF4-FFF2-40B4-BE49-F238E27FC236}">
                <a16:creationId xmlns:a16="http://schemas.microsoft.com/office/drawing/2014/main" id="{C6D6CB2A-A13C-0602-09B6-D12BA3E91498}"/>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9" name="ZoneTexte 8">
            <a:extLst>
              <a:ext uri="{FF2B5EF4-FFF2-40B4-BE49-F238E27FC236}">
                <a16:creationId xmlns:a16="http://schemas.microsoft.com/office/drawing/2014/main" id="{22A52835-DD73-95D3-1FCA-BEC25C36E413}"/>
              </a:ext>
            </a:extLst>
          </p:cNvPr>
          <p:cNvSpPr txBox="1"/>
          <p:nvPr/>
        </p:nvSpPr>
        <p:spPr>
          <a:xfrm>
            <a:off x="-1307963" y="1880092"/>
            <a:ext cx="1157769" cy="2381027"/>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Trois images de couverture personnalisées existent pour les bureaux de Paris, Niort et Nantes.</a:t>
            </a:r>
          </a:p>
          <a:p>
            <a:pPr rtl="0">
              <a:spcBef>
                <a:spcPts val="600"/>
              </a:spcBef>
            </a:pPr>
            <a:endParaRPr lang="fr-FR" sz="1000" b="0" spc="0" baseline="0" noProof="0">
              <a:latin typeface="+mn-lt"/>
            </a:endParaRPr>
          </a:p>
          <a:p>
            <a:pPr rtl="0">
              <a:spcBef>
                <a:spcPts val="600"/>
              </a:spcBef>
            </a:pPr>
            <a:r>
              <a:rPr lang="fr-FR" sz="1000" b="0" spc="0" baseline="0" noProof="0">
                <a:latin typeface="+mn-lt"/>
              </a:rPr>
              <a:t>Faire un clic droit dans un espace vide de la diapositive, puis sur </a:t>
            </a:r>
            <a:r>
              <a:rPr lang="fr-FR" sz="1000" b="1" spc="0" baseline="0" noProof="0">
                <a:latin typeface="+mn-lt"/>
              </a:rPr>
              <a:t>Diapositive de </a:t>
            </a:r>
            <a:r>
              <a:rPr lang="fr-FR" sz="1000" b="1" spc="0" baseline="0" noProof="0" err="1">
                <a:latin typeface="+mn-lt"/>
              </a:rPr>
              <a:t>titre_Personnalisable</a:t>
            </a:r>
            <a:endParaRPr lang="fr-FR" sz="1000" b="1" spc="0" baseline="0" noProof="0">
              <a:latin typeface="+mn-lt"/>
            </a:endParaRPr>
          </a:p>
        </p:txBody>
      </p:sp>
    </p:spTree>
    <p:extLst>
      <p:ext uri="{BB962C8B-B14F-4D97-AF65-F5344CB8AC3E}">
        <p14:creationId xmlns:p14="http://schemas.microsoft.com/office/powerpoint/2010/main" val="343669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maire 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825170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254" y="1606555"/>
            <a:ext cx="7850745" cy="4570406"/>
          </a:xfrm>
        </p:spPr>
        <p:txBody>
          <a:bodyPr/>
          <a:lstStyle>
            <a:lvl1pPr marL="342900" indent="-342900" rtl="0">
              <a:lnSpc>
                <a:spcPct val="150000"/>
              </a:lnSpc>
              <a:spcBef>
                <a:spcPts val="0"/>
              </a:spcBef>
              <a:spcAft>
                <a:spcPts val="0"/>
              </a:spcAft>
              <a:buFont typeface="+mj-lt"/>
              <a:buAutoNum type="arabicPeriod"/>
              <a:defRPr sz="1800" b="1"/>
            </a:lvl1pPr>
            <a:lvl2pPr rtl="0">
              <a:lnSpc>
                <a:spcPct val="150000"/>
              </a:lnSpc>
              <a:spcBef>
                <a:spcPts val="0"/>
              </a:spcBef>
              <a:spcAft>
                <a:spcPts val="0"/>
              </a:spcAft>
              <a:defRPr sz="1600"/>
            </a:lvl2pPr>
            <a:lvl3pPr rtl="0">
              <a:lnSpc>
                <a:spcPct val="150000"/>
              </a:lnSpc>
              <a:spcBef>
                <a:spcPts val="0"/>
              </a:spcBef>
              <a:spcAft>
                <a:spcPts val="0"/>
              </a:spcAft>
              <a:defRPr sz="1400"/>
            </a:lvl3pPr>
            <a:lvl4pPr rtl="0">
              <a:lnSpc>
                <a:spcPct val="150000"/>
              </a:lnSpc>
              <a:spcBef>
                <a:spcPts val="0"/>
              </a:spcBef>
              <a:spcAft>
                <a:spcPts val="0"/>
              </a:spcAft>
              <a:defRPr sz="1200"/>
            </a:lvl4pPr>
            <a:lvl5pPr rtl="0">
              <a:lnSpc>
                <a:spcPct val="150000"/>
              </a:lnSpc>
              <a:spcBef>
                <a:spcPts val="0"/>
              </a:spcBef>
              <a:spcAft>
                <a:spcPts val="0"/>
              </a:spcAft>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487C0864-7829-C799-8722-32EE68C7772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53611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735589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405391" y="2702734"/>
            <a:ext cx="5536800"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8" name="Espace réservé du texte 13">
            <a:extLst>
              <a:ext uri="{FF2B5EF4-FFF2-40B4-BE49-F238E27FC236}">
                <a16:creationId xmlns:a16="http://schemas.microsoft.com/office/drawing/2014/main" id="{62CB8C63-10F4-D080-DEBB-D6D14DB08D23}"/>
              </a:ext>
            </a:extLst>
          </p:cNvPr>
          <p:cNvSpPr>
            <a:spLocks noGrp="1"/>
          </p:cNvSpPr>
          <p:nvPr>
            <p:ph type="body" sz="quarter" idx="13" hasCustomPrompt="1"/>
          </p:nvPr>
        </p:nvSpPr>
        <p:spPr>
          <a:xfrm>
            <a:off x="405391" y="4171763"/>
            <a:ext cx="5536800" cy="615553"/>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700" b="0" kern="1200" cap="none" baseline="0" dirty="0">
                <a:solidFill>
                  <a:srgbClr val="43A2BF"/>
                </a:solidFill>
                <a:latin typeface="+mj-lt"/>
                <a:ea typeface="+mn-ea"/>
                <a:cs typeface="+mn-cs"/>
              </a:defRPr>
            </a:lvl1pPr>
          </a:lstStyle>
          <a:p>
            <a:pPr lvl="0"/>
            <a:r>
              <a:rPr lang="fr-FR"/>
              <a:t>Sous-titre de la présentation</a:t>
            </a:r>
          </a:p>
        </p:txBody>
      </p:sp>
      <p:pic>
        <p:nvPicPr>
          <p:cNvPr id="22" name="Espace réservé du contenu 14" descr="Une image contenant Police, Graphique, graphisme, capture d’écran&#10;&#10;Description générée automatiquement">
            <a:extLst>
              <a:ext uri="{FF2B5EF4-FFF2-40B4-BE49-F238E27FC236}">
                <a16:creationId xmlns:a16="http://schemas.microsoft.com/office/drawing/2014/main" id="{361737A8-8A52-2A97-77F8-8D7DBF70DB2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9516" y="518616"/>
            <a:ext cx="3398244" cy="1533566"/>
          </a:xfrm>
          <a:prstGeom prst="rect">
            <a:avLst/>
          </a:prstGeom>
        </p:spPr>
      </p:pic>
      <p:sp>
        <p:nvSpPr>
          <p:cNvPr id="23" name="Espace réservé du pied de page 2">
            <a:extLst>
              <a:ext uri="{FF2B5EF4-FFF2-40B4-BE49-F238E27FC236}">
                <a16:creationId xmlns:a16="http://schemas.microsoft.com/office/drawing/2014/main" id="{0D4F6383-6F22-24BA-EB2D-43D439F7C189}"/>
              </a:ext>
            </a:extLst>
          </p:cNvPr>
          <p:cNvSpPr txBox="1">
            <a:spLocks/>
          </p:cNvSpPr>
          <p:nvPr/>
        </p:nvSpPr>
        <p:spPr>
          <a:xfrm>
            <a:off x="405392" y="6232126"/>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27" name="Espace réservé du texte 13">
            <a:extLst>
              <a:ext uri="{FF2B5EF4-FFF2-40B4-BE49-F238E27FC236}">
                <a16:creationId xmlns:a16="http://schemas.microsoft.com/office/drawing/2014/main" id="{82948179-F907-438B-6216-BE02362C5766}"/>
              </a:ext>
            </a:extLst>
          </p:cNvPr>
          <p:cNvSpPr>
            <a:spLocks noGrp="1"/>
          </p:cNvSpPr>
          <p:nvPr>
            <p:ph type="body" sz="quarter" idx="14" hasCustomPrompt="1"/>
          </p:nvPr>
        </p:nvSpPr>
        <p:spPr>
          <a:xfrm>
            <a:off x="405392" y="5306443"/>
            <a:ext cx="3398400" cy="365125"/>
          </a:xfrm>
        </p:spPr>
        <p:txBody>
          <a:bodyPr anchor="t">
            <a:noAutofit/>
          </a:bodyPr>
          <a:lstStyle>
            <a:lvl1pPr marL="0" indent="0" algn="l" defTabSz="914400" rtl="0" eaLnBrk="1" latinLnBrk="0" hangingPunct="1">
              <a:lnSpc>
                <a:spcPct val="90000"/>
              </a:lnSpc>
              <a:spcBef>
                <a:spcPts val="1000"/>
              </a:spcBef>
              <a:buClr>
                <a:schemeClr val="tx2"/>
              </a:buClr>
              <a:buFont typeface="+mj-lt"/>
              <a:buNone/>
              <a:defRPr lang="fr-FR" sz="1050" b="0" kern="1200" cap="none" baseline="0" dirty="0">
                <a:solidFill>
                  <a:schemeClr val="bg1">
                    <a:lumMod val="50000"/>
                  </a:schemeClr>
                </a:solidFill>
                <a:latin typeface="+mj-lt"/>
                <a:ea typeface="+mn-ea"/>
                <a:cs typeface="+mn-cs"/>
              </a:defRPr>
            </a:lvl1pPr>
          </a:lstStyle>
          <a:p>
            <a:pPr lvl="0"/>
            <a:r>
              <a:rPr lang="fr-FR"/>
              <a:t>Date</a:t>
            </a:r>
          </a:p>
        </p:txBody>
      </p:sp>
      <p:pic>
        <p:nvPicPr>
          <p:cNvPr id="5" name="Picture Placeholder 4">
            <a:extLst>
              <a:ext uri="{FF2B5EF4-FFF2-40B4-BE49-F238E27FC236}">
                <a16:creationId xmlns:a16="http://schemas.microsoft.com/office/drawing/2014/main" id="{4B024DAB-970A-A95E-B527-DDAAC1E66A7D}"/>
              </a:ext>
            </a:extLst>
          </p:cNvPr>
          <p:cNvPicPr>
            <a:picLocks noChangeAspect="1"/>
          </p:cNvPicPr>
          <p:nvPr/>
        </p:nvPicPr>
        <p:blipFill rotWithShape="1">
          <a:blip r:embed="rId6">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6" name="ZoneTexte 5">
            <a:extLst>
              <a:ext uri="{FF2B5EF4-FFF2-40B4-BE49-F238E27FC236}">
                <a16:creationId xmlns:a16="http://schemas.microsoft.com/office/drawing/2014/main" id="{E748005A-86AE-5AF9-54E1-49B6AA7560A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7" name="ZoneTexte 6">
            <a:extLst>
              <a:ext uri="{FF2B5EF4-FFF2-40B4-BE49-F238E27FC236}">
                <a16:creationId xmlns:a16="http://schemas.microsoft.com/office/drawing/2014/main" id="{445E5415-A25C-1D04-E049-BFFD02009B61}"/>
              </a:ext>
            </a:extLst>
          </p:cNvPr>
          <p:cNvSpPr txBox="1"/>
          <p:nvPr/>
        </p:nvSpPr>
        <p:spPr>
          <a:xfrm>
            <a:off x="-1307963" y="0"/>
            <a:ext cx="1157769" cy="4689352"/>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modifier l’image de couverture (à droite) :</a:t>
            </a:r>
          </a:p>
          <a:p>
            <a:pPr rtl="0">
              <a:spcBef>
                <a:spcPts val="600"/>
              </a:spcBef>
            </a:pPr>
            <a:r>
              <a:rPr lang="fr-FR" sz="1000" spc="0" baseline="0" noProof="0">
                <a:latin typeface="+mn-lt"/>
              </a:rPr>
              <a:t>Insérer l’image souhaitée sur une autre diapositive.</a:t>
            </a:r>
          </a:p>
          <a:p>
            <a:pPr rtl="0">
              <a:spcBef>
                <a:spcPts val="600"/>
              </a:spcBef>
            </a:pPr>
            <a:r>
              <a:rPr lang="fr-FR" sz="1000" spc="0" baseline="0" noProof="0">
                <a:latin typeface="+mn-lt"/>
              </a:rPr>
              <a:t>Sélectionner l’image de couverture puis cliquer sur </a:t>
            </a:r>
            <a:r>
              <a:rPr lang="fr-FR" sz="1000" b="1" spc="0" baseline="0" noProof="0">
                <a:latin typeface="+mn-lt"/>
              </a:rPr>
              <a:t>Reproduire la mise en forme (CTRL+SHIFT+C)</a:t>
            </a:r>
            <a:r>
              <a:rPr lang="fr-FR" sz="1000" spc="0" baseline="0" noProof="0">
                <a:latin typeface="+mn-lt"/>
              </a:rPr>
              <a:t> </a:t>
            </a:r>
          </a:p>
          <a:p>
            <a:pPr rtl="0">
              <a:spcBef>
                <a:spcPts val="600"/>
              </a:spcBef>
            </a:pPr>
            <a:r>
              <a:rPr lang="fr-FR" sz="1000" spc="0" baseline="0" noProof="0">
                <a:latin typeface="+mn-lt"/>
              </a:rPr>
              <a:t>Se rendre sur l’autre diapositive, </a:t>
            </a:r>
            <a:r>
              <a:rPr lang="fr-FR" sz="1000" b="1" spc="0" baseline="0" noProof="0">
                <a:latin typeface="+mn-lt"/>
              </a:rPr>
              <a:t>Reproduire la mise en forme (CTRL+SHIFT+V)</a:t>
            </a:r>
            <a:r>
              <a:rPr lang="fr-FR" sz="1000" spc="0" baseline="0" noProof="0">
                <a:latin typeface="+mn-lt"/>
              </a:rPr>
              <a:t> sur l’image souhaitée, puis cliquer sur </a:t>
            </a:r>
            <a:r>
              <a:rPr lang="fr-FR" sz="1000" b="1" spc="0" baseline="0" noProof="0">
                <a:latin typeface="+mn-lt"/>
              </a:rPr>
              <a:t>Copier</a:t>
            </a:r>
            <a:r>
              <a:rPr lang="fr-FR" sz="1000" spc="0" baseline="0" noProof="0">
                <a:latin typeface="+mn-lt"/>
              </a:rPr>
              <a:t>.</a:t>
            </a:r>
          </a:p>
          <a:p>
            <a:pPr rtl="0">
              <a:spcBef>
                <a:spcPts val="600"/>
              </a:spcBef>
            </a:pPr>
            <a:r>
              <a:rPr lang="fr-FR" sz="1000" b="0" spc="0" baseline="0" noProof="0">
                <a:latin typeface="+mn-lt"/>
              </a:rPr>
              <a:t>Faire un clic droit sur l’image de couverture puis </a:t>
            </a:r>
            <a:r>
              <a:rPr lang="fr-FR" sz="1000" b="1" spc="0" baseline="0" noProof="0">
                <a:latin typeface="+mn-lt"/>
              </a:rPr>
              <a:t>: changer d’image &gt; À partir du presse papier </a:t>
            </a:r>
          </a:p>
        </p:txBody>
      </p:sp>
    </p:spTree>
    <p:extLst>
      <p:ext uri="{BB962C8B-B14F-4D97-AF65-F5344CB8AC3E}">
        <p14:creationId xmlns:p14="http://schemas.microsoft.com/office/powerpoint/2010/main" val="250383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e de titre_Personnalisabl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448683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3" y="6232126"/>
            <a:ext cx="3398400" cy="365125"/>
          </a:xfrm>
        </p:spPr>
        <p:txBody>
          <a:bodyPr vert="horz" lIns="91440" tIns="45720" rIns="91440" bIns="45720" rtlCol="0" anchor="t">
            <a:noAutofit/>
          </a:bodyPr>
          <a:lstStyle>
            <a:lvl1pPr rtl="0">
              <a:defRPr lang="fr-FR" sz="1050" b="0" cap="none" baseline="0" dirty="0">
                <a:solidFill>
                  <a:schemeClr val="bg1">
                    <a:lumMod val="50000"/>
                  </a:schemeClr>
                </a:solidFill>
                <a:latin typeface="+mj-lt"/>
              </a:defRPr>
            </a:lvl1pPr>
          </a:lstStyle>
          <a:p>
            <a:pPr marL="0" lvl="0" indent="0">
              <a:lnSpc>
                <a:spcPct val="90000"/>
              </a:lnSpc>
              <a:spcBef>
                <a:spcPts val="1000"/>
              </a:spcBef>
              <a:buFont typeface="+mj-lt"/>
              <a:buNone/>
            </a:pPr>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13" name="Espace réservé du contenu 14">
            <a:extLst>
              <a:ext uri="{FF2B5EF4-FFF2-40B4-BE49-F238E27FC236}">
                <a16:creationId xmlns:a16="http://schemas.microsoft.com/office/drawing/2014/main" id="{A662533E-9044-50F4-6124-A854428ABE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9516" y="521012"/>
            <a:ext cx="3398244" cy="1528773"/>
          </a:xfrm>
          <a:prstGeom prst="rect">
            <a:avLst/>
          </a:prstGeom>
        </p:spPr>
      </p:pic>
      <p:sp>
        <p:nvSpPr>
          <p:cNvPr id="3" name="ZoneTexte 2">
            <a:extLst>
              <a:ext uri="{FF2B5EF4-FFF2-40B4-BE49-F238E27FC236}">
                <a16:creationId xmlns:a16="http://schemas.microsoft.com/office/drawing/2014/main" id="{C7587D82-E432-0963-A697-4CFE56F47A5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10" name="Espace réservé pour une image  8">
            <a:extLst>
              <a:ext uri="{FF2B5EF4-FFF2-40B4-BE49-F238E27FC236}">
                <a16:creationId xmlns:a16="http://schemas.microsoft.com/office/drawing/2014/main" id="{87E1669B-0B26-BB47-9924-6E636B429347}"/>
              </a:ext>
            </a:extLst>
          </p:cNvPr>
          <p:cNvSpPr>
            <a:spLocks noGrp="1"/>
          </p:cNvSpPr>
          <p:nvPr>
            <p:ph type="pic" sz="quarter" idx="23"/>
          </p:nvPr>
        </p:nvSpPr>
        <p:spPr>
          <a:xfrm>
            <a:off x="6095996" y="152400"/>
            <a:ext cx="5940424" cy="6553200"/>
          </a:xfrm>
        </p:spPr>
        <p:txBody>
          <a:bodyPr/>
          <a:lstStyle>
            <a:lvl1pPr rtl="0">
              <a:defRPr/>
            </a:lvl1pPr>
          </a:lstStyle>
          <a:p>
            <a:r>
              <a:rPr lang="fr-FR"/>
              <a:t>Cliquez sur l'icône pour ajouter une image</a:t>
            </a:r>
          </a:p>
        </p:txBody>
      </p:sp>
      <p:sp>
        <p:nvSpPr>
          <p:cNvPr id="15" name="ZoneTexte 14">
            <a:extLst>
              <a:ext uri="{FF2B5EF4-FFF2-40B4-BE49-F238E27FC236}">
                <a16:creationId xmlns:a16="http://schemas.microsoft.com/office/drawing/2014/main" id="{A637B34E-105B-3E7F-55FE-DC172C64C96F}"/>
              </a:ext>
            </a:extLst>
          </p:cNvPr>
          <p:cNvSpPr txBox="1"/>
          <p:nvPr/>
        </p:nvSpPr>
        <p:spPr>
          <a:xfrm>
            <a:off x="-1307963" y="1880092"/>
            <a:ext cx="1157769" cy="2765748"/>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Cliquez sur l’icone pour ajouter l’image de couverture</a:t>
            </a:r>
          </a:p>
          <a:p>
            <a:pPr rtl="0">
              <a:spcBef>
                <a:spcPts val="600"/>
              </a:spcBef>
            </a:pPr>
            <a:r>
              <a:rPr lang="fr-FR" sz="1000" b="0" spc="0" baseline="0" noProof="0">
                <a:latin typeface="+mn-lt"/>
              </a:rPr>
              <a:t>Dans l’explorateur de fichiers, rendez-vous dans </a:t>
            </a:r>
            <a:r>
              <a:rPr lang="fr-FR" sz="1000" b="1" spc="0" baseline="0" noProof="0">
                <a:latin typeface="+mn-lt"/>
              </a:rPr>
              <a:t>01_Essentiels &gt; 03 Thèmes et </a:t>
            </a:r>
            <a:r>
              <a:rPr lang="fr-FR" sz="1000" b="1" spc="0" baseline="0" noProof="0" err="1">
                <a:latin typeface="+mn-lt"/>
              </a:rPr>
              <a:t>templates</a:t>
            </a:r>
            <a:endParaRPr lang="fr-FR" sz="1000" b="1" spc="0" baseline="0" noProof="0">
              <a:latin typeface="+mn-lt"/>
            </a:endParaRPr>
          </a:p>
          <a:p>
            <a:pPr rtl="0">
              <a:spcBef>
                <a:spcPts val="600"/>
              </a:spcBef>
            </a:pPr>
            <a:endParaRPr lang="fr-FR" sz="1000" b="1" spc="0" baseline="0" noProof="0">
              <a:latin typeface="+mn-lt"/>
            </a:endParaRPr>
          </a:p>
          <a:p>
            <a:pPr rtl="0">
              <a:spcBef>
                <a:spcPts val="600"/>
              </a:spcBef>
            </a:pPr>
            <a:r>
              <a:rPr lang="fr-FR" sz="1000" b="0" spc="0" baseline="0" noProof="0">
                <a:latin typeface="+mn-lt"/>
              </a:rPr>
              <a:t>Choisissez parmi les images prédéfinies celle qui convient à votre présentation</a:t>
            </a:r>
          </a:p>
        </p:txBody>
      </p:sp>
    </p:spTree>
    <p:extLst>
      <p:ext uri="{BB962C8B-B14F-4D97-AF65-F5344CB8AC3E}">
        <p14:creationId xmlns:p14="http://schemas.microsoft.com/office/powerpoint/2010/main" val="424495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maire 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950382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2"/>
              </a:buClr>
              <a:buFont typeface="+mj-lt"/>
              <a:buAutoNum type="arabicPeriod"/>
              <a:defRPr sz="1800" b="1"/>
            </a:lvl1pPr>
            <a:lvl2pPr rtl="0">
              <a:lnSpc>
                <a:spcPct val="150000"/>
              </a:lnSpc>
              <a:spcBef>
                <a:spcPts val="0"/>
              </a:spcBef>
              <a:spcAft>
                <a:spcPts val="0"/>
              </a:spcAft>
              <a:buClr>
                <a:schemeClr val="accent2"/>
              </a:buClr>
              <a:defRPr sz="1600"/>
            </a:lvl2pPr>
            <a:lvl3pPr rtl="0">
              <a:lnSpc>
                <a:spcPct val="150000"/>
              </a:lnSpc>
              <a:spcBef>
                <a:spcPts val="0"/>
              </a:spcBef>
              <a:spcAft>
                <a:spcPts val="0"/>
              </a:spcAft>
              <a:buClr>
                <a:schemeClr val="accent2"/>
              </a:buClr>
              <a:defRPr sz="1400"/>
            </a:lvl3pPr>
            <a:lvl4pPr rtl="0">
              <a:lnSpc>
                <a:spcPct val="150000"/>
              </a:lnSpc>
              <a:spcBef>
                <a:spcPts val="0"/>
              </a:spcBef>
              <a:spcAft>
                <a:spcPts val="0"/>
              </a:spcAft>
              <a:buClr>
                <a:schemeClr val="accent2"/>
              </a:buClr>
              <a:defRPr sz="1200"/>
            </a:lvl4pPr>
            <a:lvl5pPr rtl="0">
              <a:lnSpc>
                <a:spcPct val="150000"/>
              </a:lnSpc>
              <a:spcBef>
                <a:spcPts val="0"/>
              </a:spcBef>
              <a:spcAft>
                <a:spcPts val="0"/>
              </a:spcAft>
              <a:buClr>
                <a:schemeClr val="accent2"/>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505234F8-94D3-C165-62E6-663182F5CFCE}"/>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278128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maire 3">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369266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3"/>
              </a:buClr>
              <a:buFont typeface="+mj-lt"/>
              <a:buAutoNum type="arabicPeriod"/>
              <a:defRPr sz="1800" b="1"/>
            </a:lvl1pPr>
            <a:lvl2pPr rtl="0">
              <a:lnSpc>
                <a:spcPct val="150000"/>
              </a:lnSpc>
              <a:spcBef>
                <a:spcPts val="0"/>
              </a:spcBef>
              <a:spcAft>
                <a:spcPts val="0"/>
              </a:spcAft>
              <a:buClr>
                <a:schemeClr val="accent3"/>
              </a:buClr>
              <a:defRPr sz="1600"/>
            </a:lvl2pPr>
            <a:lvl3pPr rtl="0">
              <a:lnSpc>
                <a:spcPct val="150000"/>
              </a:lnSpc>
              <a:spcBef>
                <a:spcPts val="0"/>
              </a:spcBef>
              <a:spcAft>
                <a:spcPts val="0"/>
              </a:spcAft>
              <a:buClr>
                <a:schemeClr val="accent3"/>
              </a:buClr>
              <a:defRPr sz="1400"/>
            </a:lvl3pPr>
            <a:lvl4pPr rtl="0">
              <a:lnSpc>
                <a:spcPct val="150000"/>
              </a:lnSpc>
              <a:spcBef>
                <a:spcPts val="0"/>
              </a:spcBef>
              <a:spcAft>
                <a:spcPts val="0"/>
              </a:spcAft>
              <a:buClr>
                <a:schemeClr val="accent3"/>
              </a:buClr>
              <a:defRPr sz="1200"/>
            </a:lvl4pPr>
            <a:lvl5pPr rtl="0">
              <a:lnSpc>
                <a:spcPct val="150000"/>
              </a:lnSpc>
              <a:spcBef>
                <a:spcPts val="0"/>
              </a:spcBef>
              <a:spcAft>
                <a:spcPts val="0"/>
              </a:spcAft>
              <a:buClr>
                <a:schemeClr val="accent3"/>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967A15B-ADFE-E002-39C3-0831F895739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08377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maire 4">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27582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4"/>
              </a:buClr>
              <a:buFont typeface="+mj-lt"/>
              <a:buAutoNum type="arabicPeriod"/>
              <a:defRPr sz="1800" b="1"/>
            </a:lvl1pPr>
            <a:lvl2pPr rtl="0">
              <a:lnSpc>
                <a:spcPct val="150000"/>
              </a:lnSpc>
              <a:spcBef>
                <a:spcPts val="0"/>
              </a:spcBef>
              <a:spcAft>
                <a:spcPts val="0"/>
              </a:spcAft>
              <a:buClr>
                <a:schemeClr val="accent4"/>
              </a:buClr>
              <a:defRPr sz="1600"/>
            </a:lvl2pPr>
            <a:lvl3pPr rtl="0">
              <a:lnSpc>
                <a:spcPct val="150000"/>
              </a:lnSpc>
              <a:spcBef>
                <a:spcPts val="0"/>
              </a:spcBef>
              <a:spcAft>
                <a:spcPts val="0"/>
              </a:spcAft>
              <a:buClr>
                <a:schemeClr val="accent4"/>
              </a:buClr>
              <a:defRPr sz="1400"/>
            </a:lvl3pPr>
            <a:lvl4pPr rtl="0">
              <a:lnSpc>
                <a:spcPct val="150000"/>
              </a:lnSpc>
              <a:spcBef>
                <a:spcPts val="0"/>
              </a:spcBef>
              <a:spcAft>
                <a:spcPts val="0"/>
              </a:spcAft>
              <a:buClr>
                <a:schemeClr val="accent4"/>
              </a:buClr>
              <a:defRPr sz="1200"/>
            </a:lvl4pPr>
            <a:lvl5pPr rtl="0">
              <a:lnSpc>
                <a:spcPct val="150000"/>
              </a:lnSpc>
              <a:spcBef>
                <a:spcPts val="0"/>
              </a:spcBef>
              <a:spcAft>
                <a:spcPts val="0"/>
              </a:spcAft>
              <a:buClr>
                <a:schemeClr val="accent4"/>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D8198-8C95-89E2-D4DD-26835884EF4D}"/>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11516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ommaire 5">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42267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5"/>
              </a:buClr>
              <a:buFont typeface="+mj-lt"/>
              <a:buAutoNum type="arabicPeriod"/>
              <a:defRPr sz="1800" b="1"/>
            </a:lvl1pPr>
            <a:lvl2pPr rtl="0">
              <a:lnSpc>
                <a:spcPct val="150000"/>
              </a:lnSpc>
              <a:spcBef>
                <a:spcPts val="0"/>
              </a:spcBef>
              <a:spcAft>
                <a:spcPts val="0"/>
              </a:spcAft>
              <a:buClr>
                <a:schemeClr val="accent5"/>
              </a:buClr>
              <a:defRPr sz="1600"/>
            </a:lvl2pPr>
            <a:lvl3pPr rtl="0">
              <a:lnSpc>
                <a:spcPct val="150000"/>
              </a:lnSpc>
              <a:spcBef>
                <a:spcPts val="0"/>
              </a:spcBef>
              <a:spcAft>
                <a:spcPts val="0"/>
              </a:spcAft>
              <a:buClr>
                <a:schemeClr val="accent5"/>
              </a:buClr>
              <a:defRPr sz="1400"/>
            </a:lvl3pPr>
            <a:lvl4pPr rtl="0">
              <a:lnSpc>
                <a:spcPct val="150000"/>
              </a:lnSpc>
              <a:spcBef>
                <a:spcPts val="0"/>
              </a:spcBef>
              <a:spcAft>
                <a:spcPts val="0"/>
              </a:spcAft>
              <a:buClr>
                <a:schemeClr val="accent5"/>
              </a:buClr>
              <a:defRPr sz="1200"/>
            </a:lvl4pPr>
            <a:lvl5pPr rtl="0">
              <a:lnSpc>
                <a:spcPct val="150000"/>
              </a:lnSpc>
              <a:spcBef>
                <a:spcPts val="0"/>
              </a:spcBef>
              <a:spcAft>
                <a:spcPts val="0"/>
              </a:spcAft>
              <a:buClr>
                <a:schemeClr val="accent5"/>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2BD0B84-28D6-D743-1B40-DAC84CEB1E0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965925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ommaire 6">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984035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6"/>
              </a:buClr>
              <a:buFont typeface="+mj-lt"/>
              <a:buAutoNum type="arabicPeriod"/>
              <a:defRPr sz="1800" b="1"/>
            </a:lvl1pPr>
            <a:lvl2pPr rtl="0">
              <a:lnSpc>
                <a:spcPct val="150000"/>
              </a:lnSpc>
              <a:spcBef>
                <a:spcPts val="0"/>
              </a:spcBef>
              <a:spcAft>
                <a:spcPts val="0"/>
              </a:spcAft>
              <a:buClr>
                <a:schemeClr val="accent6"/>
              </a:buClr>
              <a:defRPr sz="1600"/>
            </a:lvl2pPr>
            <a:lvl3pPr rtl="0">
              <a:lnSpc>
                <a:spcPct val="150000"/>
              </a:lnSpc>
              <a:spcBef>
                <a:spcPts val="0"/>
              </a:spcBef>
              <a:spcAft>
                <a:spcPts val="0"/>
              </a:spcAft>
              <a:buClr>
                <a:schemeClr val="accent6"/>
              </a:buClr>
              <a:defRPr sz="1400"/>
            </a:lvl3pPr>
            <a:lvl4pPr rtl="0">
              <a:lnSpc>
                <a:spcPct val="150000"/>
              </a:lnSpc>
              <a:spcBef>
                <a:spcPts val="0"/>
              </a:spcBef>
              <a:spcAft>
                <a:spcPts val="0"/>
              </a:spcAft>
              <a:buClr>
                <a:schemeClr val="accent6"/>
              </a:buClr>
              <a:defRPr sz="1200"/>
            </a:lvl4pPr>
            <a:lvl5pPr rtl="0">
              <a:lnSpc>
                <a:spcPct val="150000"/>
              </a:lnSpc>
              <a:spcBef>
                <a:spcPts val="0"/>
              </a:spcBef>
              <a:spcAft>
                <a:spcPts val="0"/>
              </a:spcAft>
              <a:buClr>
                <a:schemeClr val="accent6"/>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31EDE-55F1-3AAA-3114-F0C522F81DF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130591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20612103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a:xfrm>
            <a:off x="380998" y="485692"/>
            <a:ext cx="11430000" cy="695155"/>
          </a:xfrm>
        </p:spPr>
        <p:txBody>
          <a:bodyPr vert="horz" anchor="ctr"/>
          <a:lstStyle>
            <a:lvl1pPr rtl="0">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984917"/>
            <a:ext cx="11430003" cy="4192044"/>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99154"/>
            <a:ext cx="11430003" cy="626469"/>
          </a:xfrm>
        </p:spPr>
        <p:txBody>
          <a:bodyPr vert="horz" lIns="91440" tIns="45720" rIns="91440" bIns="45720" rtlCol="0" anchor="ctr">
            <a:noAutofit/>
          </a:bodyPr>
          <a:lstStyle>
            <a:lvl1pPr marL="0" indent="0" rtl="0">
              <a:lnSpc>
                <a:spcPct val="100000"/>
              </a:lnSpc>
              <a:spcBef>
                <a:spcPts val="0"/>
              </a:spcBef>
              <a:spcAft>
                <a:spcPts val="0"/>
              </a:spcAft>
              <a:buNone/>
              <a:defRPr lang="fr-FR" sz="1800" b="1" cap="all" baseline="0" dirty="0">
                <a:solidFill>
                  <a:srgbClr val="43A2BF"/>
                </a:solidFill>
                <a:latin typeface="+mj-lt"/>
              </a:defRPr>
            </a:lvl1pPr>
          </a:lstStyle>
          <a:p>
            <a:pPr marL="171450" lvl="0" indent="-171450">
              <a:lnSpc>
                <a:spcPct val="90000"/>
              </a:lnSpc>
            </a:pPr>
            <a:r>
              <a:rPr lang="fr-FR"/>
              <a:t>Sous titre</a:t>
            </a:r>
          </a:p>
        </p:txBody>
      </p:sp>
      <p:sp>
        <p:nvSpPr>
          <p:cNvPr id="5" name="Espace réservé de la date 10">
            <a:extLst>
              <a:ext uri="{FF2B5EF4-FFF2-40B4-BE49-F238E27FC236}">
                <a16:creationId xmlns:a16="http://schemas.microsoft.com/office/drawing/2014/main" id="{22AE12D9-7C4B-4DE4-134B-9CC71CD320C7}"/>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8871C8A-9DB9-41A2-9AC6-C4B190C41F7B}" type="datetime1">
              <a:rPr lang="fr-FR" smtClean="0"/>
              <a:t>03/04/2025</a:t>
            </a:fld>
            <a:endParaRPr lang="fr-FR"/>
          </a:p>
        </p:txBody>
      </p:sp>
    </p:spTree>
    <p:extLst>
      <p:ext uri="{BB962C8B-B14F-4D97-AF65-F5344CB8AC3E}">
        <p14:creationId xmlns:p14="http://schemas.microsoft.com/office/powerpoint/2010/main" val="414804688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984846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a date 10">
            <a:extLst>
              <a:ext uri="{FF2B5EF4-FFF2-40B4-BE49-F238E27FC236}">
                <a16:creationId xmlns:a16="http://schemas.microsoft.com/office/drawing/2014/main" id="{7FD1B616-4341-3030-BFB9-20475C1703C8}"/>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65BCA2E0-0322-4472-BF8D-C1C07EBADC96}" type="datetime1">
              <a:rPr lang="fr-FR" smtClean="0"/>
              <a:t>03/04/2025</a:t>
            </a:fld>
            <a:endParaRPr lang="fr-FR"/>
          </a:p>
        </p:txBody>
      </p:sp>
    </p:spTree>
    <p:extLst>
      <p:ext uri="{BB962C8B-B14F-4D97-AF65-F5344CB8AC3E}">
        <p14:creationId xmlns:p14="http://schemas.microsoft.com/office/powerpoint/2010/main" val="392602227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492090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98800"/>
            <a:ext cx="7569001"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983600"/>
            <a:ext cx="7569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DC7A2E00-9D9B-8C17-9A7A-C75861A07C5E}"/>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BD07436-52DC-4409-8EE3-6E2A87171B43}" type="datetime1">
              <a:rPr lang="fr-FR" smtClean="0"/>
              <a:t>03/04/2025</a:t>
            </a:fld>
            <a:endParaRPr lang="fr-FR"/>
          </a:p>
        </p:txBody>
      </p:sp>
    </p:spTree>
    <p:extLst>
      <p:ext uri="{BB962C8B-B14F-4D97-AF65-F5344CB8AC3E}">
        <p14:creationId xmlns:p14="http://schemas.microsoft.com/office/powerpoint/2010/main" val="2944766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004663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7641002"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983600"/>
            <a:ext cx="7641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98800"/>
            <a:ext cx="3708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983600"/>
            <a:ext cx="3708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C863AA0D-DCE2-4840-B50F-1FB5566C3D83}"/>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38DB7FC-3A29-4747-A142-8001527C812B}" type="datetime1">
              <a:rPr lang="fr-FR" smtClean="0"/>
              <a:t>03/04/2025</a:t>
            </a:fld>
            <a:endParaRPr lang="fr-FR"/>
          </a:p>
        </p:txBody>
      </p:sp>
    </p:spTree>
    <p:extLst>
      <p:ext uri="{BB962C8B-B14F-4D97-AF65-F5344CB8AC3E}">
        <p14:creationId xmlns:p14="http://schemas.microsoft.com/office/powerpoint/2010/main" val="2997185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852582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B65B5D9E-220C-683A-78B0-95CF6CB26456}"/>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E5FB0A7-7F23-4E6A-9795-4773C0DDFEEE}" type="datetime1">
              <a:rPr lang="fr-FR" smtClean="0"/>
              <a:t>03/04/2025</a:t>
            </a:fld>
            <a:endParaRPr lang="fr-FR"/>
          </a:p>
        </p:txBody>
      </p:sp>
    </p:spTree>
    <p:extLst>
      <p:ext uri="{BB962C8B-B14F-4D97-AF65-F5344CB8AC3E}">
        <p14:creationId xmlns:p14="http://schemas.microsoft.com/office/powerpoint/2010/main" val="361740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82117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1143000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7" name="Espace réservé de la date 10">
            <a:extLst>
              <a:ext uri="{FF2B5EF4-FFF2-40B4-BE49-F238E27FC236}">
                <a16:creationId xmlns:a16="http://schemas.microsoft.com/office/drawing/2014/main" id="{B2FC24D8-9A98-BB5B-8D7A-C1EFA24C4D70}"/>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521D2C54-CCAC-40AD-839B-4B97D69A549F}" type="datetime1">
              <a:rPr lang="fr-FR" smtClean="0"/>
              <a:t>03/04/2025</a:t>
            </a:fld>
            <a:endParaRPr lang="fr-FR"/>
          </a:p>
        </p:txBody>
      </p:sp>
    </p:spTree>
    <p:extLst>
      <p:ext uri="{BB962C8B-B14F-4D97-AF65-F5344CB8AC3E}">
        <p14:creationId xmlns:p14="http://schemas.microsoft.com/office/powerpoint/2010/main" val="21822665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395318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514BD427-C85E-7FF3-5ADB-6C9695765641}"/>
              </a:ext>
            </a:extLst>
          </p:cNvPr>
          <p:cNvSpPr/>
          <p:nvPr/>
        </p:nvSpPr>
        <p:spPr>
          <a:xfrm>
            <a:off x="9003891" y="6179574"/>
            <a:ext cx="3188110"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1570424" y="6340476"/>
            <a:ext cx="7852526" cy="360000"/>
          </a:xfrm>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904195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983600"/>
            <a:ext cx="9041952"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12" name="Graphique 11">
            <a:extLst>
              <a:ext uri="{FF2B5EF4-FFF2-40B4-BE49-F238E27FC236}">
                <a16:creationId xmlns:a16="http://schemas.microsoft.com/office/drawing/2014/main" id="{CC38F476-59DD-8511-7A29-8B342AED43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9772" y="286503"/>
            <a:ext cx="1901366" cy="855370"/>
          </a:xfrm>
          <a:prstGeom prst="rect">
            <a:avLst/>
          </a:prstGeom>
        </p:spPr>
      </p:pic>
      <p:sp>
        <p:nvSpPr>
          <p:cNvPr id="10" name="Espace réservé de la date 10">
            <a:extLst>
              <a:ext uri="{FF2B5EF4-FFF2-40B4-BE49-F238E27FC236}">
                <a16:creationId xmlns:a16="http://schemas.microsoft.com/office/drawing/2014/main" id="{33736BB2-04AE-E18A-6F46-42CC1E8CE229}"/>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C54E723-D22E-4F2F-BAD1-AC559C1EE34F}" type="datetime1">
              <a:rPr lang="fr-FR" smtClean="0"/>
              <a:t>03/04/2025</a:t>
            </a:fld>
            <a:endParaRPr lang="fr-FR"/>
          </a:p>
        </p:txBody>
      </p:sp>
    </p:spTree>
    <p:extLst>
      <p:ext uri="{BB962C8B-B14F-4D97-AF65-F5344CB8AC3E}">
        <p14:creationId xmlns:p14="http://schemas.microsoft.com/office/powerpoint/2010/main" val="704435284"/>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os contacts :">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9401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95179120-2B8B-CC53-5EDD-380030E6935F}"/>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2" name="Graphique 1">
            <a:extLst>
              <a:ext uri="{FF2B5EF4-FFF2-40B4-BE49-F238E27FC236}">
                <a16:creationId xmlns:a16="http://schemas.microsoft.com/office/drawing/2014/main" id="{3CC61307-6F61-6888-EB92-0346D43A92D7}"/>
              </a:ext>
            </a:extLst>
          </p:cNvPr>
          <p:cNvPicPr>
            <a:picLocks noChangeAspect="1"/>
          </p:cNvPicPr>
          <p:nvPr/>
        </p:nvPicPr>
        <p:blipFill>
          <a:blip r:embed="rId5">
            <a:extLst>
              <a:ext uri="{96DAC541-7B7A-43D3-8B79-37D633B846F1}">
                <asvg:svgBlip xmlns:asvg="http://schemas.microsoft.com/office/drawing/2016/SVG/main" r:embed="rId6"/>
              </a:ext>
            </a:extLst>
          </a:blip>
          <a:srcRect r="45865"/>
          <a:stretch/>
        </p:blipFill>
        <p:spPr>
          <a:xfrm>
            <a:off x="8537849" y="0"/>
            <a:ext cx="3654151" cy="6858000"/>
          </a:xfrm>
          <a:prstGeom prst="rect">
            <a:avLst/>
          </a:prstGeom>
        </p:spPr>
      </p:pic>
      <p:sp>
        <p:nvSpPr>
          <p:cNvPr id="7" name="Titre 2">
            <a:extLst>
              <a:ext uri="{FF2B5EF4-FFF2-40B4-BE49-F238E27FC236}">
                <a16:creationId xmlns:a16="http://schemas.microsoft.com/office/drawing/2014/main" id="{A0F06A95-1F27-C760-E36A-1E7C78DB119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8" name="Text Placeholder 16">
            <a:extLst>
              <a:ext uri="{FF2B5EF4-FFF2-40B4-BE49-F238E27FC236}">
                <a16:creationId xmlns:a16="http://schemas.microsoft.com/office/drawing/2014/main" id="{4B611569-DFE4-D6E5-DB01-4C76E792C0A3}"/>
              </a:ext>
            </a:extLst>
          </p:cNvPr>
          <p:cNvSpPr txBox="1">
            <a:spLocks/>
          </p:cNvSpPr>
          <p:nvPr/>
        </p:nvSpPr>
        <p:spPr>
          <a:xfrm>
            <a:off x="1844085" y="5754279"/>
            <a:ext cx="1907299"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9" name="Text Placeholder 16">
            <a:extLst>
              <a:ext uri="{FF2B5EF4-FFF2-40B4-BE49-F238E27FC236}">
                <a16:creationId xmlns:a16="http://schemas.microsoft.com/office/drawing/2014/main" id="{01449EC0-C12F-909D-CCF8-4E3EC34AC0D1}"/>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pic>
        <p:nvPicPr>
          <p:cNvPr id="10" name="Graphique 9">
            <a:extLst>
              <a:ext uri="{FF2B5EF4-FFF2-40B4-BE49-F238E27FC236}">
                <a16:creationId xmlns:a16="http://schemas.microsoft.com/office/drawing/2014/main" id="{F78D9D22-B0BB-0150-4C7A-378FDD57CE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194" y="4436165"/>
            <a:ext cx="3408898" cy="1533566"/>
          </a:xfrm>
          <a:prstGeom prst="rect">
            <a:avLst/>
          </a:prstGeom>
        </p:spPr>
      </p:pic>
      <p:sp>
        <p:nvSpPr>
          <p:cNvPr id="11" name="Espace réservé du pied de page 2">
            <a:extLst>
              <a:ext uri="{FF2B5EF4-FFF2-40B4-BE49-F238E27FC236}">
                <a16:creationId xmlns:a16="http://schemas.microsoft.com/office/drawing/2014/main" id="{C0E44361-FF10-EE71-96BF-F11A48AB21CC}"/>
              </a:ext>
            </a:extLst>
          </p:cNvPr>
          <p:cNvSpPr txBox="1">
            <a:spLocks/>
          </p:cNvSpPr>
          <p:nvPr/>
        </p:nvSpPr>
        <p:spPr>
          <a:xfrm>
            <a:off x="986193" y="483782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13" name="Titre 12">
            <a:extLst>
              <a:ext uri="{FF2B5EF4-FFF2-40B4-BE49-F238E27FC236}">
                <a16:creationId xmlns:a16="http://schemas.microsoft.com/office/drawing/2014/main" id="{8040899B-70BA-C98E-7243-581C3AFDFEE7}"/>
              </a:ext>
            </a:extLst>
          </p:cNvPr>
          <p:cNvSpPr>
            <a:spLocks noGrp="1"/>
          </p:cNvSpPr>
          <p:nvPr>
            <p:ph type="title" hasCustomPrompt="1"/>
          </p:nvPr>
        </p:nvSpPr>
        <p:spPr>
          <a:xfrm>
            <a:off x="452122" y="485693"/>
            <a:ext cx="11287754" cy="694800"/>
          </a:xfrm>
        </p:spPr>
        <p:txBody>
          <a:bodyPr vert="horz"/>
          <a:lstStyle>
            <a:lvl1pPr marL="0" algn="l" defTabSz="914400" rtl="0" eaLnBrk="1" latinLnBrk="0" hangingPunct="1">
              <a:lnSpc>
                <a:spcPct val="100000"/>
              </a:lnSpc>
              <a:spcBef>
                <a:spcPct val="0"/>
              </a:spcBef>
              <a:buNone/>
              <a:defRPr lang="fr-FR" sz="2000" b="1" kern="1200" cap="all" baseline="0" dirty="0">
                <a:solidFill>
                  <a:schemeClr val="tx1"/>
                </a:solidFill>
                <a:latin typeface="+mj-lt"/>
                <a:ea typeface="+mj-ea"/>
                <a:cs typeface="+mj-cs"/>
              </a:defRPr>
            </a:lvl1pPr>
          </a:lstStyle>
          <a:p>
            <a:r>
              <a:rPr lang="fr-FR"/>
              <a:t>Vos contacts :</a:t>
            </a:r>
          </a:p>
        </p:txBody>
      </p:sp>
      <p:sp>
        <p:nvSpPr>
          <p:cNvPr id="23" name="Espace réservé du texte 22">
            <a:extLst>
              <a:ext uri="{FF2B5EF4-FFF2-40B4-BE49-F238E27FC236}">
                <a16:creationId xmlns:a16="http://schemas.microsoft.com/office/drawing/2014/main" id="{E90ED69B-CFD3-33C1-D2C1-407CB94812A7}"/>
              </a:ext>
            </a:extLst>
          </p:cNvPr>
          <p:cNvSpPr>
            <a:spLocks noGrp="1"/>
          </p:cNvSpPr>
          <p:nvPr>
            <p:ph type="body" sz="quarter" idx="10" hasCustomPrompt="1"/>
          </p:nvPr>
        </p:nvSpPr>
        <p:spPr>
          <a:xfrm>
            <a:off x="160409"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24" name="Espace réservé du texte 22">
            <a:extLst>
              <a:ext uri="{FF2B5EF4-FFF2-40B4-BE49-F238E27FC236}">
                <a16:creationId xmlns:a16="http://schemas.microsoft.com/office/drawing/2014/main" id="{116FACC4-F6A3-FD48-56DA-A346E2EFB48F}"/>
              </a:ext>
            </a:extLst>
          </p:cNvPr>
          <p:cNvSpPr>
            <a:spLocks noGrp="1"/>
          </p:cNvSpPr>
          <p:nvPr>
            <p:ph type="body" sz="quarter" idx="11" hasCustomPrompt="1"/>
          </p:nvPr>
        </p:nvSpPr>
        <p:spPr>
          <a:xfrm>
            <a:off x="160409"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25" name="Espace réservé du texte 22">
            <a:extLst>
              <a:ext uri="{FF2B5EF4-FFF2-40B4-BE49-F238E27FC236}">
                <a16:creationId xmlns:a16="http://schemas.microsoft.com/office/drawing/2014/main" id="{84F2AACE-BBE0-973B-70C7-EB949A19C36F}"/>
              </a:ext>
            </a:extLst>
          </p:cNvPr>
          <p:cNvSpPr>
            <a:spLocks noGrp="1"/>
          </p:cNvSpPr>
          <p:nvPr>
            <p:ph type="body" sz="quarter" idx="12" hasCustomPrompt="1"/>
          </p:nvPr>
        </p:nvSpPr>
        <p:spPr>
          <a:xfrm>
            <a:off x="160409"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29" name="Espace réservé pour une image  27">
            <a:extLst>
              <a:ext uri="{FF2B5EF4-FFF2-40B4-BE49-F238E27FC236}">
                <a16:creationId xmlns:a16="http://schemas.microsoft.com/office/drawing/2014/main" id="{95AD02E2-678F-BA98-98BE-FDF0E1027D5B}"/>
              </a:ext>
            </a:extLst>
          </p:cNvPr>
          <p:cNvSpPr>
            <a:spLocks noGrp="1"/>
          </p:cNvSpPr>
          <p:nvPr>
            <p:ph type="pic" sz="quarter" idx="13"/>
          </p:nvPr>
        </p:nvSpPr>
        <p:spPr>
          <a:xfrm>
            <a:off x="538163" y="1203492"/>
            <a:ext cx="1560512" cy="1628109"/>
          </a:xfrm>
        </p:spPr>
        <p:txBody>
          <a:bodyPr/>
          <a:lstStyle>
            <a:lvl1pPr rtl="0">
              <a:defRPr/>
            </a:lvl1pPr>
          </a:lstStyle>
          <a:p>
            <a:r>
              <a:rPr lang="fr-FR"/>
              <a:t>Cliquez sur l'icône pour ajouter une image</a:t>
            </a:r>
          </a:p>
        </p:txBody>
      </p:sp>
      <p:sp>
        <p:nvSpPr>
          <p:cNvPr id="30" name="Espace réservé du texte 22">
            <a:extLst>
              <a:ext uri="{FF2B5EF4-FFF2-40B4-BE49-F238E27FC236}">
                <a16:creationId xmlns:a16="http://schemas.microsoft.com/office/drawing/2014/main" id="{2AB991A5-B28D-31D4-7C2A-ABCE44AF2DFA}"/>
              </a:ext>
            </a:extLst>
          </p:cNvPr>
          <p:cNvSpPr>
            <a:spLocks noGrp="1"/>
          </p:cNvSpPr>
          <p:nvPr>
            <p:ph type="body" sz="quarter" idx="14" hasCustomPrompt="1"/>
          </p:nvPr>
        </p:nvSpPr>
        <p:spPr>
          <a:xfrm>
            <a:off x="2551576"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1" name="Espace réservé du texte 22">
            <a:extLst>
              <a:ext uri="{FF2B5EF4-FFF2-40B4-BE49-F238E27FC236}">
                <a16:creationId xmlns:a16="http://schemas.microsoft.com/office/drawing/2014/main" id="{3D1E0C0A-2EDD-3661-A430-C375B328B397}"/>
              </a:ext>
            </a:extLst>
          </p:cNvPr>
          <p:cNvSpPr>
            <a:spLocks noGrp="1"/>
          </p:cNvSpPr>
          <p:nvPr>
            <p:ph type="body" sz="quarter" idx="15" hasCustomPrompt="1"/>
          </p:nvPr>
        </p:nvSpPr>
        <p:spPr>
          <a:xfrm>
            <a:off x="2551576"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2" name="Espace réservé du texte 22">
            <a:extLst>
              <a:ext uri="{FF2B5EF4-FFF2-40B4-BE49-F238E27FC236}">
                <a16:creationId xmlns:a16="http://schemas.microsoft.com/office/drawing/2014/main" id="{3848698C-2799-1BF7-AD01-97F06EB07DE3}"/>
              </a:ext>
            </a:extLst>
          </p:cNvPr>
          <p:cNvSpPr>
            <a:spLocks noGrp="1"/>
          </p:cNvSpPr>
          <p:nvPr>
            <p:ph type="body" sz="quarter" idx="16" hasCustomPrompt="1"/>
          </p:nvPr>
        </p:nvSpPr>
        <p:spPr>
          <a:xfrm>
            <a:off x="2551576"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3" name="Espace réservé pour une image  27">
            <a:extLst>
              <a:ext uri="{FF2B5EF4-FFF2-40B4-BE49-F238E27FC236}">
                <a16:creationId xmlns:a16="http://schemas.microsoft.com/office/drawing/2014/main" id="{16715DB2-ED35-33DC-09EB-AC0D37CEC9DA}"/>
              </a:ext>
            </a:extLst>
          </p:cNvPr>
          <p:cNvSpPr>
            <a:spLocks noGrp="1"/>
          </p:cNvSpPr>
          <p:nvPr>
            <p:ph type="pic" sz="quarter" idx="17"/>
          </p:nvPr>
        </p:nvSpPr>
        <p:spPr>
          <a:xfrm>
            <a:off x="2929330" y="1203492"/>
            <a:ext cx="1560512" cy="1628109"/>
          </a:xfrm>
        </p:spPr>
        <p:txBody>
          <a:bodyPr/>
          <a:lstStyle>
            <a:lvl1pPr rtl="0">
              <a:defRPr/>
            </a:lvl1pPr>
          </a:lstStyle>
          <a:p>
            <a:r>
              <a:rPr lang="fr-FR"/>
              <a:t>Cliquez sur l'icône pour ajouter une image</a:t>
            </a:r>
          </a:p>
        </p:txBody>
      </p:sp>
      <p:sp>
        <p:nvSpPr>
          <p:cNvPr id="34" name="Espace réservé du texte 22">
            <a:extLst>
              <a:ext uri="{FF2B5EF4-FFF2-40B4-BE49-F238E27FC236}">
                <a16:creationId xmlns:a16="http://schemas.microsoft.com/office/drawing/2014/main" id="{7FEC946C-C2D2-6CC0-77AD-1693A19C14CD}"/>
              </a:ext>
            </a:extLst>
          </p:cNvPr>
          <p:cNvSpPr>
            <a:spLocks noGrp="1"/>
          </p:cNvSpPr>
          <p:nvPr>
            <p:ph type="body" sz="quarter" idx="18" hasCustomPrompt="1"/>
          </p:nvPr>
        </p:nvSpPr>
        <p:spPr>
          <a:xfrm>
            <a:off x="4942744"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5" name="Espace réservé du texte 22">
            <a:extLst>
              <a:ext uri="{FF2B5EF4-FFF2-40B4-BE49-F238E27FC236}">
                <a16:creationId xmlns:a16="http://schemas.microsoft.com/office/drawing/2014/main" id="{FE760D77-8599-8105-839E-878F4499C694}"/>
              </a:ext>
            </a:extLst>
          </p:cNvPr>
          <p:cNvSpPr>
            <a:spLocks noGrp="1"/>
          </p:cNvSpPr>
          <p:nvPr>
            <p:ph type="body" sz="quarter" idx="19" hasCustomPrompt="1"/>
          </p:nvPr>
        </p:nvSpPr>
        <p:spPr>
          <a:xfrm>
            <a:off x="4942744"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6" name="Espace réservé du texte 22">
            <a:extLst>
              <a:ext uri="{FF2B5EF4-FFF2-40B4-BE49-F238E27FC236}">
                <a16:creationId xmlns:a16="http://schemas.microsoft.com/office/drawing/2014/main" id="{A6EAC7CD-F8DB-F29A-2F2D-FC53CE6A202D}"/>
              </a:ext>
            </a:extLst>
          </p:cNvPr>
          <p:cNvSpPr>
            <a:spLocks noGrp="1"/>
          </p:cNvSpPr>
          <p:nvPr>
            <p:ph type="body" sz="quarter" idx="20" hasCustomPrompt="1"/>
          </p:nvPr>
        </p:nvSpPr>
        <p:spPr>
          <a:xfrm>
            <a:off x="4942744"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7" name="Espace réservé pour une image  27">
            <a:extLst>
              <a:ext uri="{FF2B5EF4-FFF2-40B4-BE49-F238E27FC236}">
                <a16:creationId xmlns:a16="http://schemas.microsoft.com/office/drawing/2014/main" id="{54C671B2-E4BB-899F-47E7-0FD66FC415AB}"/>
              </a:ext>
            </a:extLst>
          </p:cNvPr>
          <p:cNvSpPr>
            <a:spLocks noGrp="1"/>
          </p:cNvSpPr>
          <p:nvPr>
            <p:ph type="pic" sz="quarter" idx="21"/>
          </p:nvPr>
        </p:nvSpPr>
        <p:spPr>
          <a:xfrm>
            <a:off x="5320498" y="1203492"/>
            <a:ext cx="1560512" cy="1628109"/>
          </a:xfrm>
        </p:spPr>
        <p:txBody>
          <a:bodyPr/>
          <a:lstStyle>
            <a:lvl1pPr rtl="0">
              <a:defRPr/>
            </a:lvl1pPr>
          </a:lstStyle>
          <a:p>
            <a:r>
              <a:rPr lang="fr-FR"/>
              <a:t>Cliquez sur l'icône pour ajouter une image</a:t>
            </a:r>
          </a:p>
        </p:txBody>
      </p:sp>
      <p:sp>
        <p:nvSpPr>
          <p:cNvPr id="38" name="Espace réservé du texte 22">
            <a:extLst>
              <a:ext uri="{FF2B5EF4-FFF2-40B4-BE49-F238E27FC236}">
                <a16:creationId xmlns:a16="http://schemas.microsoft.com/office/drawing/2014/main" id="{372B1A6C-DE96-53D9-9A8B-A3554B85A83F}"/>
              </a:ext>
            </a:extLst>
          </p:cNvPr>
          <p:cNvSpPr>
            <a:spLocks noGrp="1"/>
          </p:cNvSpPr>
          <p:nvPr>
            <p:ph type="body" sz="quarter" idx="22" hasCustomPrompt="1"/>
          </p:nvPr>
        </p:nvSpPr>
        <p:spPr>
          <a:xfrm>
            <a:off x="7333911"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9" name="Espace réservé du texte 22">
            <a:extLst>
              <a:ext uri="{FF2B5EF4-FFF2-40B4-BE49-F238E27FC236}">
                <a16:creationId xmlns:a16="http://schemas.microsoft.com/office/drawing/2014/main" id="{2C8BC5F1-B79C-A9E8-15B3-D563C87E537F}"/>
              </a:ext>
            </a:extLst>
          </p:cNvPr>
          <p:cNvSpPr>
            <a:spLocks noGrp="1"/>
          </p:cNvSpPr>
          <p:nvPr>
            <p:ph type="body" sz="quarter" idx="23" hasCustomPrompt="1"/>
          </p:nvPr>
        </p:nvSpPr>
        <p:spPr>
          <a:xfrm>
            <a:off x="7333911"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0" name="Espace réservé du texte 22">
            <a:extLst>
              <a:ext uri="{FF2B5EF4-FFF2-40B4-BE49-F238E27FC236}">
                <a16:creationId xmlns:a16="http://schemas.microsoft.com/office/drawing/2014/main" id="{E2EA75BB-74DC-4842-9BB2-48D0B73E0A4A}"/>
              </a:ext>
            </a:extLst>
          </p:cNvPr>
          <p:cNvSpPr>
            <a:spLocks noGrp="1"/>
          </p:cNvSpPr>
          <p:nvPr>
            <p:ph type="body" sz="quarter" idx="24" hasCustomPrompt="1"/>
          </p:nvPr>
        </p:nvSpPr>
        <p:spPr>
          <a:xfrm>
            <a:off x="7333911"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1" name="Espace réservé pour une image  27">
            <a:extLst>
              <a:ext uri="{FF2B5EF4-FFF2-40B4-BE49-F238E27FC236}">
                <a16:creationId xmlns:a16="http://schemas.microsoft.com/office/drawing/2014/main" id="{7C952499-A464-4FAB-658D-BD08D4B2E315}"/>
              </a:ext>
            </a:extLst>
          </p:cNvPr>
          <p:cNvSpPr>
            <a:spLocks noGrp="1"/>
          </p:cNvSpPr>
          <p:nvPr>
            <p:ph type="pic" sz="quarter" idx="25"/>
          </p:nvPr>
        </p:nvSpPr>
        <p:spPr>
          <a:xfrm>
            <a:off x="7711665" y="1203492"/>
            <a:ext cx="1560512" cy="1628109"/>
          </a:xfrm>
        </p:spPr>
        <p:txBody>
          <a:bodyPr/>
          <a:lstStyle>
            <a:lvl1pPr rtl="0">
              <a:defRPr/>
            </a:lvl1pPr>
          </a:lstStyle>
          <a:p>
            <a:r>
              <a:rPr lang="fr-FR"/>
              <a:t>Cliquez sur l'icône pour ajouter une image</a:t>
            </a:r>
          </a:p>
        </p:txBody>
      </p:sp>
      <p:sp>
        <p:nvSpPr>
          <p:cNvPr id="42" name="Espace réservé du texte 22">
            <a:extLst>
              <a:ext uri="{FF2B5EF4-FFF2-40B4-BE49-F238E27FC236}">
                <a16:creationId xmlns:a16="http://schemas.microsoft.com/office/drawing/2014/main" id="{05FB3A31-8B0E-76A4-B340-CE70CEF56B2B}"/>
              </a:ext>
            </a:extLst>
          </p:cNvPr>
          <p:cNvSpPr>
            <a:spLocks noGrp="1"/>
          </p:cNvSpPr>
          <p:nvPr>
            <p:ph type="body" sz="quarter" idx="26" hasCustomPrompt="1"/>
          </p:nvPr>
        </p:nvSpPr>
        <p:spPr>
          <a:xfrm>
            <a:off x="9724855"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43" name="Espace réservé du texte 22">
            <a:extLst>
              <a:ext uri="{FF2B5EF4-FFF2-40B4-BE49-F238E27FC236}">
                <a16:creationId xmlns:a16="http://schemas.microsoft.com/office/drawing/2014/main" id="{3A7CA541-6CC3-5B2B-5137-23CE7AC3383A}"/>
              </a:ext>
            </a:extLst>
          </p:cNvPr>
          <p:cNvSpPr>
            <a:spLocks noGrp="1"/>
          </p:cNvSpPr>
          <p:nvPr>
            <p:ph type="body" sz="quarter" idx="27" hasCustomPrompt="1"/>
          </p:nvPr>
        </p:nvSpPr>
        <p:spPr>
          <a:xfrm>
            <a:off x="9724855"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4" name="Espace réservé du texte 22">
            <a:extLst>
              <a:ext uri="{FF2B5EF4-FFF2-40B4-BE49-F238E27FC236}">
                <a16:creationId xmlns:a16="http://schemas.microsoft.com/office/drawing/2014/main" id="{5BB26FB2-E7B0-9BF9-45BF-1AB5DD2A063C}"/>
              </a:ext>
            </a:extLst>
          </p:cNvPr>
          <p:cNvSpPr>
            <a:spLocks noGrp="1"/>
          </p:cNvSpPr>
          <p:nvPr>
            <p:ph type="body" sz="quarter" idx="28" hasCustomPrompt="1"/>
          </p:nvPr>
        </p:nvSpPr>
        <p:spPr>
          <a:xfrm>
            <a:off x="9724855"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5" name="Espace réservé pour une image  27">
            <a:extLst>
              <a:ext uri="{FF2B5EF4-FFF2-40B4-BE49-F238E27FC236}">
                <a16:creationId xmlns:a16="http://schemas.microsoft.com/office/drawing/2014/main" id="{E87B8E6C-BC45-A6D3-096D-B1798940D4D9}"/>
              </a:ext>
            </a:extLst>
          </p:cNvPr>
          <p:cNvSpPr>
            <a:spLocks noGrp="1"/>
          </p:cNvSpPr>
          <p:nvPr>
            <p:ph type="pic" sz="quarter" idx="29"/>
          </p:nvPr>
        </p:nvSpPr>
        <p:spPr>
          <a:xfrm>
            <a:off x="10102609" y="1203492"/>
            <a:ext cx="1560512" cy="1628109"/>
          </a:xfrm>
        </p:spPr>
        <p:txBody>
          <a:bodyPr/>
          <a:lstStyle>
            <a:lvl1pPr rtl="0">
              <a:defRPr/>
            </a:lvl1pPr>
          </a:lstStyle>
          <a:p>
            <a:r>
              <a:rPr lang="fr-FR"/>
              <a:t>Cliquez sur l'icône pour ajouter une image</a:t>
            </a:r>
          </a:p>
        </p:txBody>
      </p:sp>
      <p:sp>
        <p:nvSpPr>
          <p:cNvPr id="51" name="Espace réservé du pied de page 50">
            <a:extLst>
              <a:ext uri="{FF2B5EF4-FFF2-40B4-BE49-F238E27FC236}">
                <a16:creationId xmlns:a16="http://schemas.microsoft.com/office/drawing/2014/main" id="{2BB51DBB-F4DD-F2BF-774A-D3D25DA76D52}"/>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E6A8C689-FE8E-03D2-D8C2-6C480215F59A}"/>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Text Placeholder 16">
            <a:extLst>
              <a:ext uri="{FF2B5EF4-FFF2-40B4-BE49-F238E27FC236}">
                <a16:creationId xmlns:a16="http://schemas.microsoft.com/office/drawing/2014/main" id="{725D12BC-F052-8411-1AF2-EA3837DBFB46}"/>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5" name="Text Placeholder 16">
            <a:extLst>
              <a:ext uri="{FF2B5EF4-FFF2-40B4-BE49-F238E27FC236}">
                <a16:creationId xmlns:a16="http://schemas.microsoft.com/office/drawing/2014/main" id="{2291CCAE-FFC5-414F-E449-E46E9E9C6E50}"/>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e la date 10">
            <a:extLst>
              <a:ext uri="{FF2B5EF4-FFF2-40B4-BE49-F238E27FC236}">
                <a16:creationId xmlns:a16="http://schemas.microsoft.com/office/drawing/2014/main" id="{C7F826E3-2192-51E8-5AB6-6F6EC9785ACB}"/>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0AF42E2-021C-4F41-8104-619F63EC6722}" type="datetime1">
              <a:rPr lang="fr-FR" smtClean="0"/>
              <a:t>03/04/2025</a:t>
            </a:fld>
            <a:endParaRPr lang="fr-FR"/>
          </a:p>
        </p:txBody>
      </p:sp>
    </p:spTree>
    <p:extLst>
      <p:ext uri="{BB962C8B-B14F-4D97-AF65-F5344CB8AC3E}">
        <p14:creationId xmlns:p14="http://schemas.microsoft.com/office/powerpoint/2010/main" val="172985967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Mot de la fin">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20068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8B4917B4-5954-0D76-BAA0-1A3698D526F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11" name="Graphique 10">
            <a:extLst>
              <a:ext uri="{FF2B5EF4-FFF2-40B4-BE49-F238E27FC236}">
                <a16:creationId xmlns:a16="http://schemas.microsoft.com/office/drawing/2014/main" id="{0DF46767-FF2E-A311-5FC8-FC3CCA8535E7}"/>
              </a:ext>
            </a:extLst>
          </p:cNvPr>
          <p:cNvPicPr>
            <a:picLocks noChangeAspect="1"/>
          </p:cNvPicPr>
          <p:nvPr/>
        </p:nvPicPr>
        <p:blipFill>
          <a:blip r:embed="rId5">
            <a:extLst>
              <a:ext uri="{96DAC541-7B7A-43D3-8B79-37D633B846F1}">
                <asvg:svgBlip xmlns:asvg="http://schemas.microsoft.com/office/drawing/2016/SVG/main" r:embed="rId6"/>
              </a:ext>
            </a:extLst>
          </a:blip>
          <a:srcRect r="3370"/>
          <a:stretch/>
        </p:blipFill>
        <p:spPr>
          <a:xfrm>
            <a:off x="0" y="846925"/>
            <a:ext cx="12192000" cy="5676112"/>
          </a:xfrm>
          <a:prstGeom prst="rect">
            <a:avLst/>
          </a:prstGeom>
        </p:spPr>
      </p:pic>
      <p:sp>
        <p:nvSpPr>
          <p:cNvPr id="3" name="Espace réservé du pied de page 2">
            <a:extLst>
              <a:ext uri="{FF2B5EF4-FFF2-40B4-BE49-F238E27FC236}">
                <a16:creationId xmlns:a16="http://schemas.microsoft.com/office/drawing/2014/main" id="{66D93F71-C400-BDD2-7DE6-C958FFFC38C7}"/>
              </a:ext>
            </a:extLst>
          </p:cNvPr>
          <p:cNvSpPr txBox="1">
            <a:spLocks/>
          </p:cNvSpPr>
          <p:nvPr/>
        </p:nvSpPr>
        <p:spPr>
          <a:xfrm>
            <a:off x="986193" y="525338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4" name="Titre 2">
            <a:extLst>
              <a:ext uri="{FF2B5EF4-FFF2-40B4-BE49-F238E27FC236}">
                <a16:creationId xmlns:a16="http://schemas.microsoft.com/office/drawing/2014/main" id="{1DFA8C9F-5730-AE6C-7035-33A8BDB2571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5" name="Text Placeholder 16">
            <a:extLst>
              <a:ext uri="{FF2B5EF4-FFF2-40B4-BE49-F238E27FC236}">
                <a16:creationId xmlns:a16="http://schemas.microsoft.com/office/drawing/2014/main" id="{296D9A24-28BA-F170-CE5D-7A98005351F0}"/>
              </a:ext>
            </a:extLst>
          </p:cNvPr>
          <p:cNvSpPr txBox="1">
            <a:spLocks/>
          </p:cNvSpPr>
          <p:nvPr/>
        </p:nvSpPr>
        <p:spPr>
          <a:xfrm>
            <a:off x="1844086" y="5754279"/>
            <a:ext cx="1847062"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8" name="Titre 7">
            <a:extLst>
              <a:ext uri="{FF2B5EF4-FFF2-40B4-BE49-F238E27FC236}">
                <a16:creationId xmlns:a16="http://schemas.microsoft.com/office/drawing/2014/main" id="{4F19F6FB-6C20-D474-9918-2BEDD82DC9C2}"/>
              </a:ext>
            </a:extLst>
          </p:cNvPr>
          <p:cNvSpPr>
            <a:spLocks noGrp="1"/>
          </p:cNvSpPr>
          <p:nvPr>
            <p:ph type="title"/>
          </p:nvPr>
        </p:nvSpPr>
        <p:spPr>
          <a:xfrm>
            <a:off x="380998" y="2473965"/>
            <a:ext cx="11430002" cy="694800"/>
          </a:xfrm>
        </p:spPr>
        <p:txBody>
          <a:bodyPr vert="horz"/>
          <a:lstStyle>
            <a:lvl1pPr marL="0" algn="ctr" defTabSz="914400" rtl="0" eaLnBrk="1" latinLnBrk="0" hangingPunct="1">
              <a:defRPr lang="fr-FR" sz="2000" b="1" kern="1200" dirty="0">
                <a:solidFill>
                  <a:schemeClr val="tx1"/>
                </a:solidFill>
                <a:latin typeface="+mn-lt"/>
                <a:ea typeface="+mn-ea"/>
                <a:cs typeface="+mn-cs"/>
              </a:defRPr>
            </a:lvl1pPr>
          </a:lstStyle>
          <a:p>
            <a:r>
              <a:rPr lang="fr-FR"/>
              <a:t>Modifiez le style du titre</a:t>
            </a:r>
          </a:p>
        </p:txBody>
      </p:sp>
      <p:sp>
        <p:nvSpPr>
          <p:cNvPr id="9" name="Espace réservé du pied de page 50">
            <a:extLst>
              <a:ext uri="{FF2B5EF4-FFF2-40B4-BE49-F238E27FC236}">
                <a16:creationId xmlns:a16="http://schemas.microsoft.com/office/drawing/2014/main" id="{733E0ACB-D5D5-59BF-42BE-573460770651}"/>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14" name="Text Placeholder 16">
            <a:extLst>
              <a:ext uri="{FF2B5EF4-FFF2-40B4-BE49-F238E27FC236}">
                <a16:creationId xmlns:a16="http://schemas.microsoft.com/office/drawing/2014/main" id="{4015D164-67AF-110B-1EB8-478D066B7517}"/>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sp>
        <p:nvSpPr>
          <p:cNvPr id="15" name="Text Placeholder 16">
            <a:extLst>
              <a:ext uri="{FF2B5EF4-FFF2-40B4-BE49-F238E27FC236}">
                <a16:creationId xmlns:a16="http://schemas.microsoft.com/office/drawing/2014/main" id="{B8ADC259-7B80-9FBE-FD57-958EB94EE659}"/>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6" name="Text Placeholder 16">
            <a:extLst>
              <a:ext uri="{FF2B5EF4-FFF2-40B4-BE49-F238E27FC236}">
                <a16:creationId xmlns:a16="http://schemas.microsoft.com/office/drawing/2014/main" id="{E0C088F5-249F-102E-09F8-5FB90B2D71BA}"/>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u numéro de diapositive 3">
            <a:extLst>
              <a:ext uri="{FF2B5EF4-FFF2-40B4-BE49-F238E27FC236}">
                <a16:creationId xmlns:a16="http://schemas.microsoft.com/office/drawing/2014/main" id="{9E4CC770-9A02-5703-AA66-43EAB8B3510C}"/>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19" name="Espace réservé de la date 10">
            <a:extLst>
              <a:ext uri="{FF2B5EF4-FFF2-40B4-BE49-F238E27FC236}">
                <a16:creationId xmlns:a16="http://schemas.microsoft.com/office/drawing/2014/main" id="{1F098B08-9DB9-0E9F-0651-539F4FE4C7E0}"/>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3A00B2B-991D-40B7-9911-432FF4699D27}" type="datetime1">
              <a:rPr lang="fr-FR" smtClean="0"/>
              <a:t>03/04/2025</a:t>
            </a:fld>
            <a:endParaRPr lang="fr-FR"/>
          </a:p>
        </p:txBody>
      </p:sp>
    </p:spTree>
    <p:extLst>
      <p:ext uri="{BB962C8B-B14F-4D97-AF65-F5344CB8AC3E}">
        <p14:creationId xmlns:p14="http://schemas.microsoft.com/office/powerpoint/2010/main" val="40289274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20"/>
            </p:custDataLst>
            <p:extLst>
              <p:ext uri="{D42A27DB-BD31-4B8C-83A1-F6EECF244321}">
                <p14:modId xmlns:p14="http://schemas.microsoft.com/office/powerpoint/2010/main" val="349921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1" imgW="359" imgH="360" progId="TCLayout.ActiveDocument.1">
                  <p:embed/>
                </p:oleObj>
              </mc:Choice>
              <mc:Fallback>
                <p:oleObj name="Diapositive think-cell" r:id="rId21"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8" y="485693"/>
            <a:ext cx="11430002" cy="694800"/>
          </a:xfrm>
          <a:prstGeom prst="rect">
            <a:avLst/>
          </a:prstGeom>
        </p:spPr>
        <p:txBody>
          <a:bodyPr vert="horz" lIns="91440" tIns="45720" rIns="91440" bIns="45720" rtlCol="0" anchor="ctr">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983600"/>
            <a:ext cx="11430003" cy="4194000"/>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5"/>
            <a:r>
              <a:rPr lang="fr-FR"/>
              <a:t>Sixième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1570426" y="6340475"/>
            <a:ext cx="7669039" cy="365125"/>
          </a:xfrm>
          <a:prstGeom prst="rect">
            <a:avLst/>
          </a:prstGeom>
        </p:spPr>
        <p:txBody>
          <a:bodyPr vert="horz" lIns="91440" tIns="45720" rIns="91440" bIns="45720" rtlCol="0" anchor="ctr"/>
          <a:lstStyle>
            <a:lvl1pPr marL="0" algn="l" defTabSz="914400" rtl="0" eaLnBrk="1" latinLnBrk="0" hangingPunct="1">
              <a:defRPr lang="fr-FR" sz="700" kern="1200" cap="all" baseline="0">
                <a:solidFill>
                  <a:schemeClr val="bg1">
                    <a:lumMod val="50000"/>
                  </a:schemeClr>
                </a:solidFill>
                <a:latin typeface="+mn-lt"/>
                <a:ea typeface="+mn-ea"/>
                <a:cs typeface="+mn-cs"/>
              </a:defRPr>
            </a:lvl1pPr>
          </a:lstStyle>
          <a:p>
            <a:r>
              <a:rPr lang="fr-FR"/>
              <a:t>AMITA CONSEIL</a:t>
            </a: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380997" y="6340475"/>
            <a:ext cx="362084" cy="365125"/>
          </a:xfrm>
          <a:prstGeom prst="rect">
            <a:avLst/>
          </a:prstGeom>
        </p:spPr>
        <p:txBody>
          <a:bodyPr vert="horz" lIns="91440" tIns="45720" rIns="91440" bIns="45720" rtlCol="0" anchor="ctr"/>
          <a:lstStyle>
            <a:lvl1pPr marL="0" algn="r" defTabSz="914400" rtl="0" eaLnBrk="1" latinLnBrk="0" hangingPunct="1">
              <a:defRPr kumimoji="0" lang="fr-FR" sz="700" b="0" i="0" u="none" strike="noStrike" kern="1200" cap="none" spc="0" normalizeH="0" baseline="0" smtClean="0">
                <a:ln>
                  <a:noFill/>
                </a:ln>
                <a:solidFill>
                  <a:schemeClr val="bg1">
                    <a:lumMod val="50000"/>
                  </a:schemeClr>
                </a:solidFill>
                <a:effectLst/>
                <a:uLnTx/>
                <a:uFillTx/>
                <a:latin typeface="+mn-lt"/>
                <a:ea typeface="+mn-ea"/>
                <a:cs typeface="+mn-cs"/>
              </a:defRPr>
            </a:lvl1pPr>
          </a:lstStyle>
          <a:p>
            <a:fld id="{BD9892E7-E91F-405F-A6AB-FE5AB3285265}" type="slidenum">
              <a:rPr lang="fr-FR" smtClean="0"/>
              <a:pPr/>
              <a:t>‹N°›</a:t>
            </a:fld>
            <a:endParaRPr lang="fr-FR"/>
          </a:p>
        </p:txBody>
      </p:sp>
      <p:sp>
        <p:nvSpPr>
          <p:cNvPr id="8" name="ZoneTexte 7">
            <a:extLst>
              <a:ext uri="{FF2B5EF4-FFF2-40B4-BE49-F238E27FC236}">
                <a16:creationId xmlns:a16="http://schemas.microsoft.com/office/drawing/2014/main" id="{61775F55-D649-105E-BB88-44CDE1F10776}"/>
              </a:ext>
            </a:extLst>
          </p:cNvPr>
          <p:cNvSpPr txBox="1"/>
          <p:nvPr/>
        </p:nvSpPr>
        <p:spPr>
          <a:xfrm>
            <a:off x="9239464" y="6340476"/>
            <a:ext cx="1382110" cy="365124"/>
          </a:xfrm>
          <a:prstGeom prst="rect">
            <a:avLst/>
          </a:prstGeom>
          <a:noFill/>
        </p:spPr>
        <p:txBody>
          <a:bodyPr wrap="none" rtlCol="0" anchor="ctr">
            <a:noAutofit/>
          </a:bodyPr>
          <a:lstStyle/>
          <a:p>
            <a:pPr algn="ctr" rtl="0"/>
            <a:r>
              <a:rPr lang="fr-FR" sz="700">
                <a:solidFill>
                  <a:schemeClr val="bg1">
                    <a:lumMod val="50000"/>
                  </a:schemeClr>
                </a:solidFill>
                <a:latin typeface="+mn-lt"/>
              </a:rPr>
              <a:t>DOCUMENT CONFIDENTIEL</a:t>
            </a:r>
          </a:p>
        </p:txBody>
      </p:sp>
      <p:pic>
        <p:nvPicPr>
          <p:cNvPr id="10" name="Espace réservé du contenu 19">
            <a:extLst>
              <a:ext uri="{FF2B5EF4-FFF2-40B4-BE49-F238E27FC236}">
                <a16:creationId xmlns:a16="http://schemas.microsoft.com/office/drawing/2014/main" id="{21E15E84-437F-13B1-07E8-D06B251E45C1}"/>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10570881" y="6251120"/>
            <a:ext cx="1346895" cy="605929"/>
          </a:xfrm>
          <a:prstGeom prst="rect">
            <a:avLst/>
          </a:prstGeom>
        </p:spPr>
      </p:pic>
      <p:sp>
        <p:nvSpPr>
          <p:cNvPr id="7" name="Triangle isocèle 6">
            <a:extLst>
              <a:ext uri="{FF2B5EF4-FFF2-40B4-BE49-F238E27FC236}">
                <a16:creationId xmlns:a16="http://schemas.microsoft.com/office/drawing/2014/main" id="{89A10469-81FC-EB5E-ED6E-7AE4FBED36E8}"/>
              </a:ext>
            </a:extLst>
          </p:cNvPr>
          <p:cNvSpPr/>
          <p:nvPr/>
        </p:nvSpPr>
        <p:spPr>
          <a:xfrm rot="15131171">
            <a:off x="75423" y="142623"/>
            <a:ext cx="378055" cy="325910"/>
          </a:xfrm>
          <a:prstGeom prst="triangle">
            <a:avLst/>
          </a:prstGeom>
          <a:solidFill>
            <a:srgbClr val="1AC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11" name="Espace réservé de la date 10">
            <a:extLst>
              <a:ext uri="{FF2B5EF4-FFF2-40B4-BE49-F238E27FC236}">
                <a16:creationId xmlns:a16="http://schemas.microsoft.com/office/drawing/2014/main" id="{0C7D9D68-6C57-3DD6-C000-3F9EEBEA0355}"/>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9CA19EF-D4BE-4F92-9509-E047DF919FAE}" type="datetime1">
              <a:rPr lang="fr-FR" smtClean="0"/>
              <a:t>03/04/2025</a:t>
            </a:fld>
            <a:endParaRPr lang="fr-FR"/>
          </a:p>
        </p:txBody>
      </p:sp>
    </p:spTree>
    <p:extLst>
      <p:ext uri="{BB962C8B-B14F-4D97-AF65-F5344CB8AC3E}">
        <p14:creationId xmlns:p14="http://schemas.microsoft.com/office/powerpoint/2010/main" val="270079707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Lst>
  <p:hf hdr="0"/>
  <p:txStyles>
    <p:titleStyle>
      <a:lvl1pPr algn="l" defTabSz="914400" rtl="0" eaLnBrk="1" latinLnBrk="0" hangingPunct="1">
        <a:lnSpc>
          <a:spcPct val="100000"/>
        </a:lnSpc>
        <a:spcBef>
          <a:spcPct val="0"/>
        </a:spcBef>
        <a:buNone/>
        <a:defRPr lang="fr-FR" sz="2400" kern="1200" cap="all" baseline="0" dirty="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200" kern="1200">
          <a:solidFill>
            <a:schemeClr val="tx1"/>
          </a:solidFill>
          <a:latin typeface="+mn-lt"/>
          <a:ea typeface="+mn-ea"/>
          <a:cs typeface="+mn-cs"/>
        </a:defRPr>
      </a:lvl1pPr>
      <a:lvl2pPr marL="541338" indent="-228600" algn="l" defTabSz="914400" rtl="0" eaLnBrk="1" latinLnBrk="0" hangingPunct="1">
        <a:lnSpc>
          <a:spcPct val="100000"/>
        </a:lnSpc>
        <a:spcBef>
          <a:spcPts val="600"/>
        </a:spcBef>
        <a:spcAft>
          <a:spcPts val="400"/>
        </a:spcAft>
        <a:buClr>
          <a:schemeClr val="tx2"/>
        </a:buClr>
        <a:buSzPct val="110000"/>
        <a:buFont typeface="Arial" panose="020B0604020202020204" pitchFamily="34" charset="0"/>
        <a:buChar char="•"/>
        <a:defRPr lang="fr-FR" sz="1100" b="0" kern="1200" dirty="0">
          <a:solidFill>
            <a:schemeClr val="tx1"/>
          </a:solidFill>
          <a:latin typeface="+mn-lt"/>
          <a:ea typeface="+mn-ea"/>
          <a:cs typeface="+mn-cs"/>
        </a:defRPr>
      </a:lvl2pPr>
      <a:lvl3pPr marL="8969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50" kern="1200">
          <a:solidFill>
            <a:schemeClr val="tx1"/>
          </a:solidFill>
          <a:latin typeface="+mn-lt"/>
          <a:ea typeface="+mn-ea"/>
          <a:cs typeface="+mn-cs"/>
        </a:defRPr>
      </a:lvl3pPr>
      <a:lvl4pPr marL="1162050"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00" kern="1200">
          <a:solidFill>
            <a:schemeClr val="tx1"/>
          </a:solidFill>
          <a:latin typeface="+mn-lt"/>
          <a:ea typeface="+mn-ea"/>
          <a:cs typeface="+mn-cs"/>
        </a:defRPr>
      </a:lvl4pPr>
      <a:lvl5pPr marL="1616075"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5pPr>
      <a:lvl6pPr marL="20653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guide id="7" orient="horz" pos="1253">
          <p15:clr>
            <a:srgbClr val="F26B43"/>
          </p15:clr>
        </p15:guide>
        <p15:guide id="8" orient="horz" pos="754">
          <p15:clr>
            <a:srgbClr val="F26B43"/>
          </p15:clr>
        </p15:guide>
        <p15:guide id="9" orient="horz" pos="38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1.xml"/><Relationship Id="rId5" Type="http://schemas.openxmlformats.org/officeDocument/2006/relationships/image" Target="../media/image17.emf"/><Relationship Id="rId4" Type="http://schemas.openxmlformats.org/officeDocument/2006/relationships/oleObject" Target="../embeddings/oleObject21.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0.xml"/><Relationship Id="rId1" Type="http://schemas.openxmlformats.org/officeDocument/2006/relationships/tags" Target="../tags/tag22.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23.xml"/><Relationship Id="rId5" Type="http://schemas.openxmlformats.org/officeDocument/2006/relationships/image" Target="../media/image17.emf"/><Relationship Id="rId4" Type="http://schemas.openxmlformats.org/officeDocument/2006/relationships/oleObject" Target="../embeddings/oleObject23.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24.xml"/><Relationship Id="rId5" Type="http://schemas.openxmlformats.org/officeDocument/2006/relationships/image" Target="../media/image17.emf"/><Relationship Id="rId4" Type="http://schemas.openxmlformats.org/officeDocument/2006/relationships/oleObject" Target="../embeddings/oleObject2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25.xml"/><Relationship Id="rId5" Type="http://schemas.openxmlformats.org/officeDocument/2006/relationships/image" Target="../media/image17.emf"/><Relationship Id="rId4" Type="http://schemas.openxmlformats.org/officeDocument/2006/relationships/oleObject" Target="../embeddings/oleObject25.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26.xml"/><Relationship Id="rId5" Type="http://schemas.openxmlformats.org/officeDocument/2006/relationships/image" Target="../media/image17.emf"/><Relationship Id="rId4" Type="http://schemas.openxmlformats.org/officeDocument/2006/relationships/oleObject" Target="../embeddings/oleObject26.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27.xml"/><Relationship Id="rId5" Type="http://schemas.openxmlformats.org/officeDocument/2006/relationships/image" Target="../media/image17.emf"/><Relationship Id="rId4" Type="http://schemas.openxmlformats.org/officeDocument/2006/relationships/oleObject" Target="../embeddings/oleObject27.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28.xml"/><Relationship Id="rId5" Type="http://schemas.openxmlformats.org/officeDocument/2006/relationships/image" Target="../media/image17.emf"/><Relationship Id="rId4" Type="http://schemas.openxmlformats.org/officeDocument/2006/relationships/oleObject" Target="../embeddings/oleObject2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30.xml"/><Relationship Id="rId5" Type="http://schemas.openxmlformats.org/officeDocument/2006/relationships/image" Target="../media/image17.emf"/><Relationship Id="rId4"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E516-6B7A-5752-0AEC-0378A617E9B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401277-41B0-E171-2C86-3D0217B774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FCB08978-F8BB-5DFA-35F2-E62FA5CE133B}"/>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420076D4-B819-417A-BFE5-4D16BA421578}"/>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Adrien pina</a:t>
            </a:r>
          </a:p>
          <a:p>
            <a:r>
              <a:rPr lang="fr-FR" sz="1600" b="1" dirty="0">
                <a:solidFill>
                  <a:schemeClr val="tx2"/>
                </a:solidFill>
                <a:latin typeface="+mj-lt"/>
              </a:rPr>
              <a:t>MANAGER</a:t>
            </a:r>
            <a:endParaRPr lang="fr-FR" sz="900" b="1" dirty="0">
              <a:solidFill>
                <a:schemeClr val="tx2"/>
              </a:solidFill>
              <a:latin typeface="+mj-lt"/>
            </a:endParaRPr>
          </a:p>
          <a:p>
            <a:r>
              <a:rPr lang="fr-FR" sz="900" b="1">
                <a:solidFill>
                  <a:schemeClr val="tx2"/>
                </a:solidFill>
                <a:latin typeface="+mj-lt"/>
              </a:rPr>
              <a:t>10 </a:t>
            </a:r>
            <a:r>
              <a:rPr lang="fr-FR" sz="900" b="1" dirty="0">
                <a:solidFill>
                  <a:schemeClr val="tx2"/>
                </a:solidFill>
                <a:latin typeface="+mj-lt"/>
              </a:rPr>
              <a:t>ANS D’EXPÉRIENCE</a:t>
            </a:r>
          </a:p>
        </p:txBody>
      </p:sp>
      <p:sp>
        <p:nvSpPr>
          <p:cNvPr id="17" name="ZoneTexte 16">
            <a:extLst>
              <a:ext uri="{FF2B5EF4-FFF2-40B4-BE49-F238E27FC236}">
                <a16:creationId xmlns:a16="http://schemas.microsoft.com/office/drawing/2014/main" id="{4C348E1F-4DDB-78C8-F542-3EB2401B4404}"/>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Disposant de 10 années d'expérience dans le conseil, Adrien dispose de solides compétences en formalisation de processus, état des lieux de l’existant et co-construction de cibles organisationnelles.</a:t>
            </a:r>
            <a:b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b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Il intervient en assistance au diagnostic et au cadrage de projets dans des contextes de transformation et d’innovation client ainsi qu’en études et schémas directeurs SI et organisationnels pour réaliser les études amont et le dimensionnement cible des activités.</a:t>
            </a:r>
          </a:p>
        </p:txBody>
      </p:sp>
      <p:sp>
        <p:nvSpPr>
          <p:cNvPr id="19" name="Rectangle 18">
            <a:extLst>
              <a:ext uri="{FF2B5EF4-FFF2-40B4-BE49-F238E27FC236}">
                <a16:creationId xmlns:a16="http://schemas.microsoft.com/office/drawing/2014/main" id="{106FA32E-C5A3-B19F-C571-95B23C95E72A}"/>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47DF1DD-5EA8-9D5D-5FF5-BF836C5928B4}"/>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8A19E5D6-F0C9-EC32-8538-B362197DD5BE}"/>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CD85422A-72EF-8255-566D-9A13957F2B94}"/>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761FC5B-F15E-D548-7B04-4D512A40AAF3}"/>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Ingénieur des Mines de Nantes (IMT Atlantique) : Organisation et Management des Technologies de l’Information</a:t>
            </a:r>
          </a:p>
          <a:p>
            <a:pPr marL="171450" indent="-171450">
              <a:buClr>
                <a:schemeClr val="tx2"/>
              </a:buClr>
              <a:buFont typeface="Arial" panose="020B0604020202020204" pitchFamily="34" charset="0"/>
              <a:buChar char="•"/>
            </a:pPr>
            <a:endParaRPr lang="fr-FR" sz="1000" dirty="0">
              <a:solidFill>
                <a:schemeClr val="bg1"/>
              </a:solidFill>
            </a:endParaRP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41" name="Forme libre : forme 40">
            <a:extLst>
              <a:ext uri="{FF2B5EF4-FFF2-40B4-BE49-F238E27FC236}">
                <a16:creationId xmlns:a16="http://schemas.microsoft.com/office/drawing/2014/main" id="{5968A43C-85F7-8947-A6AC-F0FB7939257E}"/>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9374B764-4A1F-3B82-6EFD-6F08A0BA92C7}"/>
              </a:ext>
            </a:extLst>
          </p:cNvPr>
          <p:cNvSpPr txBox="1"/>
          <p:nvPr/>
        </p:nvSpPr>
        <p:spPr>
          <a:xfrm>
            <a:off x="4862670" y="2414547"/>
            <a:ext cx="6957855" cy="3110788"/>
          </a:xfrm>
          <a:prstGeom prst="rect">
            <a:avLst/>
          </a:prstGeom>
          <a:noFill/>
        </p:spPr>
        <p:txBody>
          <a:bodyPr wrap="square" rtlCol="0">
            <a:spAutoFit/>
          </a:bodyPr>
          <a:lstStyle/>
          <a:p>
            <a:r>
              <a:rPr lang="en-GB" sz="1000" b="1" dirty="0">
                <a:solidFill>
                  <a:schemeClr val="tx2"/>
                </a:solidFill>
              </a:rPr>
              <a:t>CLIENT – </a:t>
            </a:r>
            <a:r>
              <a:rPr lang="fr-FR" sz="1000" b="1" dirty="0">
                <a:solidFill>
                  <a:schemeClr val="tx2"/>
                </a:solidFill>
              </a:rPr>
              <a:t>PMO BUSINESS EXPERT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Banques / Assurances / Gestion d’actifs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Modernisation des outils de gestion des financements structurés : Programme </a:t>
            </a:r>
            <a:r>
              <a:rPr lang="fr-FR" sz="1000" dirty="0" err="1">
                <a:solidFill>
                  <a:schemeClr val="dk1"/>
                </a:solidFill>
                <a:cs typeface="Arial"/>
              </a:rPr>
              <a:t>Loanscape</a:t>
            </a:r>
            <a:endParaRPr lang="fr-FR" sz="1000" dirty="0">
              <a:solidFill>
                <a:schemeClr val="dk1"/>
              </a:solidFill>
              <a:cs typeface="Arial"/>
            </a:endParaRP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Accompagnement à la rédaction des besoins métiers lors du développement d’une nouvelle offre produit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Assistance au pilotage du projet de refonte de l’offre d’assurance Auto</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Diagnostic de la gouvernance et des enjeux du Programme de Stratégie Digitale</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Assistance au pilotage du Programme de Stratégie Digitale</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Diagnostic de maturité et préparation à l’automatisation / industrialisation des processus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Benchmark sur la productivité et l’efficacité des services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Assistance au pilotage du programme d’organisation de la gestion des sinistres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endParaRPr kumimoji="0" lang="fr-FR" sz="1000" b="1" i="0" u="none" strike="noStrike" kern="1200" cap="none" spc="0" normalizeH="0" baseline="0" noProof="0" dirty="0">
              <a:ln>
                <a:noFill/>
              </a:ln>
              <a:solidFill>
                <a:schemeClr val="dk1"/>
              </a:solidFill>
              <a:effectLst/>
              <a:uLnTx/>
              <a:uFillTx/>
              <a:latin typeface="Arial" panose="020B0604020202020204"/>
              <a:ea typeface="+mn-ea"/>
              <a:cs typeface="Arial"/>
              <a:sym typeface="Arial"/>
            </a:endParaRPr>
          </a:p>
          <a:p>
            <a:pPr marR="0" lvl="0" fontAlgn="base">
              <a:lnSpc>
                <a:spcPct val="110000"/>
              </a:lnSpc>
              <a:spcBef>
                <a:spcPct val="0"/>
              </a:spcBef>
              <a:spcAft>
                <a:spcPct val="0"/>
              </a:spcAft>
              <a:buClr>
                <a:schemeClr val="accent1"/>
              </a:buClr>
              <a:buSzPts val="1000"/>
              <a:tabLst/>
              <a:defRPr/>
            </a:pPr>
            <a:r>
              <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rPr>
              <a:t>CLIENT – PMO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Industrie</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Diagnostic des processus de la chaine logistique</a:t>
            </a:r>
          </a:p>
          <a:p>
            <a:pPr marR="0" lvl="0" fontAlgn="base">
              <a:lnSpc>
                <a:spcPct val="110000"/>
              </a:lnSpc>
              <a:spcBef>
                <a:spcPct val="0"/>
              </a:spcBef>
              <a:spcAft>
                <a:spcPct val="0"/>
              </a:spcAft>
              <a:buClr>
                <a:schemeClr val="accent1"/>
              </a:buClr>
              <a:buSzPts val="1000"/>
              <a:tabLst/>
              <a:defRPr/>
            </a:pPr>
            <a:endPar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endParaRPr>
          </a:p>
          <a:p>
            <a:pPr fontAlgn="base">
              <a:lnSpc>
                <a:spcPct val="110000"/>
              </a:lnSpc>
              <a:spcBef>
                <a:spcPct val="0"/>
              </a:spcBef>
              <a:spcAft>
                <a:spcPct val="0"/>
              </a:spcAft>
              <a:buClr>
                <a:schemeClr val="accent1"/>
              </a:buClr>
              <a:buSzPts val="1000"/>
              <a:defRPr/>
            </a:pPr>
            <a:r>
              <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rPr>
              <a:t>CLIENT – MOA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Secteur public</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r>
              <a:rPr lang="fr-FR" sz="1000" dirty="0">
                <a:solidFill>
                  <a:schemeClr val="dk1"/>
                </a:solidFill>
                <a:cs typeface="Arial"/>
              </a:rPr>
              <a:t>Étude sur la création d'une structure de financement dédiée aux projets de Transition Énergétique</a:t>
            </a:r>
          </a:p>
        </p:txBody>
      </p:sp>
      <p:sp>
        <p:nvSpPr>
          <p:cNvPr id="2" name="Espace réservé de la date 1">
            <a:extLst>
              <a:ext uri="{FF2B5EF4-FFF2-40B4-BE49-F238E27FC236}">
                <a16:creationId xmlns:a16="http://schemas.microsoft.com/office/drawing/2014/main" id="{263BFF34-2FDE-0F16-0FA0-99D7DCAAD6B3}"/>
              </a:ext>
            </a:extLst>
          </p:cNvPr>
          <p:cNvSpPr>
            <a:spLocks noGrp="1"/>
          </p:cNvSpPr>
          <p:nvPr>
            <p:ph type="dt" sz="half" idx="2"/>
          </p:nvPr>
        </p:nvSpPr>
        <p:spPr/>
        <p:txBody>
          <a:bodyPr/>
          <a:lstStyle/>
          <a:p>
            <a:fld id="{A234AAA3-D3BD-4DCA-8674-DDCEC63B7531}" type="datetime1">
              <a:rPr lang="fr-FR" smtClean="0"/>
              <a:t>03/04/2025</a:t>
            </a:fld>
            <a:endParaRPr lang="fr-FR"/>
          </a:p>
        </p:txBody>
      </p:sp>
      <p:sp>
        <p:nvSpPr>
          <p:cNvPr id="4" name="Espace réservé du pied de page 3">
            <a:extLst>
              <a:ext uri="{FF2B5EF4-FFF2-40B4-BE49-F238E27FC236}">
                <a16:creationId xmlns:a16="http://schemas.microsoft.com/office/drawing/2014/main" id="{F18E6C44-B8B2-DFBE-F6FF-27BC0098D528}"/>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A6EC5BE4-9D85-8589-7F81-D639F76A05CF}"/>
              </a:ext>
            </a:extLst>
          </p:cNvPr>
          <p:cNvSpPr>
            <a:spLocks noGrp="1"/>
          </p:cNvSpPr>
          <p:nvPr>
            <p:ph type="sldNum" sz="quarter" idx="11"/>
          </p:nvPr>
        </p:nvSpPr>
        <p:spPr/>
        <p:txBody>
          <a:bodyPr/>
          <a:lstStyle/>
          <a:p>
            <a:fld id="{BD9892E7-E91F-405F-A6AB-FE5AB3285265}" type="slidenum">
              <a:rPr lang="fr-FR" smtClean="0"/>
              <a:pPr/>
              <a:t>1</a:t>
            </a:fld>
            <a:endParaRPr lang="fr-FR"/>
          </a:p>
        </p:txBody>
      </p:sp>
      <p:sp>
        <p:nvSpPr>
          <p:cNvPr id="18" name="Rectangle 17">
            <a:extLst>
              <a:ext uri="{FF2B5EF4-FFF2-40B4-BE49-F238E27FC236}">
                <a16:creationId xmlns:a16="http://schemas.microsoft.com/office/drawing/2014/main" id="{E10ED7D2-0817-34E4-AA65-28CAB2ADE35A}"/>
              </a:ext>
            </a:extLst>
          </p:cNvPr>
          <p:cNvSpPr/>
          <p:nvPr/>
        </p:nvSpPr>
        <p:spPr>
          <a:xfrm>
            <a:off x="380995" y="3760698"/>
            <a:ext cx="3579429"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Schéma directeur</a:t>
            </a:r>
          </a:p>
          <a:p>
            <a:pPr marL="171450" indent="-171450">
              <a:buClr>
                <a:schemeClr val="tx2"/>
              </a:buClr>
              <a:buFont typeface="Arial" panose="020B0604020202020204" pitchFamily="34" charset="0"/>
              <a:buChar char="•"/>
            </a:pPr>
            <a:r>
              <a:rPr lang="fr-FR" sz="1000" dirty="0">
                <a:solidFill>
                  <a:schemeClr val="bg1"/>
                </a:solidFill>
              </a:rPr>
              <a:t>Description des activités actuelles et cible, répartition des rôles</a:t>
            </a:r>
          </a:p>
          <a:p>
            <a:pPr marL="171450" indent="-171450">
              <a:buClr>
                <a:schemeClr val="tx2"/>
              </a:buClr>
              <a:buFont typeface="Arial" panose="020B0604020202020204" pitchFamily="34" charset="0"/>
              <a:buChar char="•"/>
            </a:pPr>
            <a:r>
              <a:rPr lang="fr-FR" sz="1000" dirty="0">
                <a:solidFill>
                  <a:schemeClr val="bg1"/>
                </a:solidFill>
              </a:rPr>
              <a:t>Proposition et arbitrage de feuille de route opérationnelle</a:t>
            </a:r>
          </a:p>
          <a:p>
            <a:pPr marL="171450" indent="-171450">
              <a:buClr>
                <a:schemeClr val="tx2"/>
              </a:buClr>
              <a:buFont typeface="Arial" panose="020B0604020202020204" pitchFamily="34" charset="0"/>
              <a:buChar char="•"/>
            </a:pPr>
            <a:r>
              <a:rPr lang="fr-FR" sz="1000" dirty="0">
                <a:solidFill>
                  <a:schemeClr val="bg1"/>
                </a:solidFill>
              </a:rPr>
              <a:t>Accompagnement du changement</a:t>
            </a:r>
          </a:p>
          <a:p>
            <a:pPr marL="171450" indent="-171450">
              <a:buClr>
                <a:schemeClr val="tx2"/>
              </a:buClr>
              <a:buFont typeface="Arial" panose="020B0604020202020204" pitchFamily="34" charset="0"/>
              <a:buChar char="•"/>
            </a:pPr>
            <a:r>
              <a:rPr lang="fr-FR" sz="1000" dirty="0">
                <a:solidFill>
                  <a:schemeClr val="bg1"/>
                </a:solidFill>
              </a:rPr>
              <a:t>Diagnostic des impacts projets</a:t>
            </a:r>
          </a:p>
          <a:p>
            <a:pPr marL="171450" indent="-171450">
              <a:buClr>
                <a:schemeClr val="tx2"/>
              </a:buClr>
              <a:buFont typeface="Arial" panose="020B0604020202020204" pitchFamily="34" charset="0"/>
              <a:buChar char="•"/>
            </a:pPr>
            <a:r>
              <a:rPr lang="fr-FR" sz="1000" dirty="0">
                <a:solidFill>
                  <a:schemeClr val="bg1"/>
                </a:solidFill>
              </a:rPr>
              <a:t>Écoute terrain et plan de communication</a:t>
            </a:r>
          </a:p>
          <a:p>
            <a:pPr marL="171450" indent="-171450">
              <a:buClr>
                <a:schemeClr val="tx2"/>
              </a:buClr>
              <a:buFont typeface="Arial" panose="020B0604020202020204" pitchFamily="34" charset="0"/>
              <a:buChar char="•"/>
            </a:pPr>
            <a:r>
              <a:rPr lang="fr-FR" sz="1000" dirty="0">
                <a:solidFill>
                  <a:schemeClr val="bg1"/>
                </a:solidFill>
              </a:rPr>
              <a:t>Construction du plan d’accompagnement du changement</a:t>
            </a:r>
          </a:p>
          <a:p>
            <a:pPr marL="171450" indent="-171450">
              <a:buClr>
                <a:schemeClr val="tx2"/>
              </a:buClr>
              <a:buFont typeface="Arial" panose="020B0604020202020204" pitchFamily="34" charset="0"/>
              <a:buChar char="•"/>
            </a:pPr>
            <a:r>
              <a:rPr lang="fr-FR" sz="1000" dirty="0">
                <a:solidFill>
                  <a:schemeClr val="bg1"/>
                </a:solidFill>
              </a:rPr>
              <a:t>Diagnostic et dimensionnement d’activité</a:t>
            </a:r>
          </a:p>
          <a:p>
            <a:pPr marL="171450" indent="-171450">
              <a:buClr>
                <a:schemeClr val="tx2"/>
              </a:buClr>
              <a:buFont typeface="Arial" panose="020B0604020202020204" pitchFamily="34" charset="0"/>
              <a:buChar char="•"/>
            </a:pPr>
            <a:r>
              <a:rPr lang="fr-FR" sz="1000" dirty="0">
                <a:solidFill>
                  <a:schemeClr val="bg1"/>
                </a:solidFill>
              </a:rPr>
              <a:t>Modélisation de processus</a:t>
            </a:r>
          </a:p>
          <a:p>
            <a:pPr marL="171450" indent="-171450">
              <a:buClr>
                <a:schemeClr val="tx2"/>
              </a:buClr>
              <a:buFont typeface="Arial" panose="020B0604020202020204" pitchFamily="34" charset="0"/>
              <a:buChar char="•"/>
            </a:pPr>
            <a:r>
              <a:rPr lang="fr-FR" sz="1000" dirty="0">
                <a:solidFill>
                  <a:schemeClr val="bg1"/>
                </a:solidFill>
              </a:rPr>
              <a:t>Évaluation financière et valorisation de projets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3C016A55-C40C-4303-7391-582EC3D279B8}"/>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0DA58CDB-0089-2305-03DB-BCBFAB23D67A}"/>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Animation d’ateliers collaboratifs, conduite d’entretiens de recueil des besoins</a:t>
            </a:r>
          </a:p>
          <a:p>
            <a:pPr marL="171450" indent="-171450">
              <a:buClr>
                <a:schemeClr val="tx2"/>
              </a:buClr>
              <a:buFont typeface="Arial" panose="020B0604020202020204" pitchFamily="34" charset="0"/>
              <a:buChar char="•"/>
            </a:pPr>
            <a:r>
              <a:rPr lang="fr-FR" sz="1000" dirty="0">
                <a:solidFill>
                  <a:schemeClr val="bg1"/>
                </a:solidFill>
              </a:rPr>
              <a:t>Analyse et modélisation de données / de processus : Excel, Visio, </a:t>
            </a: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Préparation et animation de réunions de restitution et d’arbitrage </a:t>
            </a:r>
          </a:p>
        </p:txBody>
      </p:sp>
      <p:pic>
        <p:nvPicPr>
          <p:cNvPr id="45" name="Picture 2" descr="upload.wikimedia.org/wikipedia/commons/thumb/6/...">
            <a:extLst>
              <a:ext uri="{FF2B5EF4-FFF2-40B4-BE49-F238E27FC236}">
                <a16:creationId xmlns:a16="http://schemas.microsoft.com/office/drawing/2014/main" id="{CDE5EC60-6416-B2C6-CE0C-C103855E6B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pic>
        <p:nvPicPr>
          <p:cNvPr id="47" name="Image 46" descr="Une image contenant personne, homme, mur, complet&#10;&#10;Description générée automatiquement">
            <a:extLst>
              <a:ext uri="{FF2B5EF4-FFF2-40B4-BE49-F238E27FC236}">
                <a16:creationId xmlns:a16="http://schemas.microsoft.com/office/drawing/2014/main" id="{7433AFBA-B87F-F7DE-43A6-400831E09E1D}"/>
              </a:ext>
            </a:extLst>
          </p:cNvPr>
          <p:cNvPicPr>
            <a:picLocks noChangeAspect="1"/>
          </p:cNvPicPr>
          <p:nvPr/>
        </p:nvPicPr>
        <p:blipFill rotWithShape="1">
          <a:blip r:embed="rId6"/>
          <a:srcRect l="10090" r="11331"/>
          <a:stretch/>
        </p:blipFill>
        <p:spPr>
          <a:xfrm>
            <a:off x="368572" y="557385"/>
            <a:ext cx="1069054" cy="1360476"/>
          </a:xfrm>
          <a:prstGeom prst="rect">
            <a:avLst/>
          </a:prstGeom>
        </p:spPr>
      </p:pic>
      <p:sp>
        <p:nvSpPr>
          <p:cNvPr id="48" name="ZoneTexte 47">
            <a:extLst>
              <a:ext uri="{FF2B5EF4-FFF2-40B4-BE49-F238E27FC236}">
                <a16:creationId xmlns:a16="http://schemas.microsoft.com/office/drawing/2014/main" id="{83D17651-3B3A-A8A5-DD90-007B18392C69}"/>
              </a:ext>
            </a:extLst>
          </p:cNvPr>
          <p:cNvSpPr txBox="1"/>
          <p:nvPr/>
        </p:nvSpPr>
        <p:spPr>
          <a:xfrm rot="840714">
            <a:off x="7753656" y="-76512"/>
            <a:ext cx="5314275" cy="923330"/>
          </a:xfrm>
          <a:prstGeom prst="rect">
            <a:avLst/>
          </a:prstGeom>
          <a:solidFill>
            <a:srgbClr val="C00000"/>
          </a:solidFill>
        </p:spPr>
        <p:txBody>
          <a:bodyPr wrap="none" rtlCol="0">
            <a:spAutoFit/>
          </a:bodyPr>
          <a:lstStyle/>
          <a:p>
            <a:r>
              <a:rPr lang="fr-FR" dirty="0">
                <a:solidFill>
                  <a:schemeClr val="bg1"/>
                </a:solidFill>
              </a:rPr>
              <a:t>Photo</a:t>
            </a:r>
          </a:p>
          <a:p>
            <a:r>
              <a:rPr lang="fr-FR" dirty="0">
                <a:solidFill>
                  <a:schemeClr val="bg1"/>
                </a:solidFill>
              </a:rPr>
              <a:t>Nom clients + INTITULE POSTE +</a:t>
            </a:r>
            <a:r>
              <a:rPr lang="fr-FR" dirty="0" err="1">
                <a:solidFill>
                  <a:schemeClr val="bg1"/>
                </a:solidFill>
              </a:rPr>
              <a:t>Duree</a:t>
            </a:r>
            <a:r>
              <a:rPr lang="fr-FR" dirty="0">
                <a:solidFill>
                  <a:schemeClr val="bg1"/>
                </a:solidFill>
              </a:rPr>
              <a:t> missions</a:t>
            </a:r>
          </a:p>
          <a:p>
            <a:r>
              <a:rPr lang="fr-FR" dirty="0">
                <a:solidFill>
                  <a:schemeClr val="bg1"/>
                </a:solidFill>
              </a:rPr>
              <a:t>Logo clients</a:t>
            </a:r>
          </a:p>
        </p:txBody>
      </p:sp>
    </p:spTree>
    <p:extLst>
      <p:ext uri="{BB962C8B-B14F-4D97-AF65-F5344CB8AC3E}">
        <p14:creationId xmlns:p14="http://schemas.microsoft.com/office/powerpoint/2010/main" val="402188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56EC-8377-DD3B-7366-E6774F80548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466083A-4698-69D3-71D1-586ACEB72BB1}"/>
              </a:ext>
            </a:extLst>
          </p:cNvPr>
          <p:cNvGraphicFramePr>
            <a:graphicFrameLocks noChangeAspect="1"/>
          </p:cNvGraphicFramePr>
          <p:nvPr>
            <p:custDataLst>
              <p:tags r:id="rId1"/>
            </p:custDataLst>
            <p:extLst>
              <p:ext uri="{D42A27DB-BD31-4B8C-83A1-F6EECF244321}">
                <p14:modId xmlns:p14="http://schemas.microsoft.com/office/powerpoint/2010/main" val="931494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A3A19647-FD7D-E123-3162-76D42B52E86D}"/>
              </a:ext>
            </a:extLst>
          </p:cNvPr>
          <p:cNvGraphicFramePr>
            <a:graphicFrameLocks/>
          </p:cNvGraphicFramePr>
          <p:nvPr>
            <p:extLst>
              <p:ext uri="{D42A27DB-BD31-4B8C-83A1-F6EECF244321}">
                <p14:modId xmlns:p14="http://schemas.microsoft.com/office/powerpoint/2010/main" val="2268010354"/>
              </p:ext>
            </p:extLst>
          </p:nvPr>
        </p:nvGraphicFramePr>
        <p:xfrm>
          <a:off x="370870" y="1984675"/>
          <a:ext cx="11430002" cy="209014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CLIENT</a:t>
                      </a:r>
                    </a:p>
                    <a:p>
                      <a:pPr marL="0" algn="l" defTabSz="557240" rtl="0" eaLnBrk="1" latinLnBrk="0" hangingPunct="1"/>
                      <a:r>
                        <a:rPr lang="fr-FR" sz="1000" b="0" i="1" kern="1200" noProof="0" dirty="0">
                          <a:solidFill>
                            <a:schemeClr val="tx1"/>
                          </a:solidFill>
                          <a:latin typeface="+mn-lt"/>
                          <a:ea typeface="+mn-ea"/>
                          <a:cs typeface="+mn-cs"/>
                        </a:rPr>
                        <a:t>Programme XX</a:t>
                      </a:r>
                    </a:p>
                    <a:p>
                      <a:pPr marL="0" algn="l" defTabSz="557240" rtl="0" eaLnBrk="1" latinLnBrk="0" hangingPunct="1"/>
                      <a:endParaRPr lang="fr-FR" sz="1000" b="0" i="1" kern="1200" noProof="0" dirty="0">
                        <a:solidFill>
                          <a:schemeClr val="tx1"/>
                        </a:solidFill>
                        <a:latin typeface="+mn-lt"/>
                        <a:ea typeface="+mn-ea"/>
                        <a:cs typeface="+mn-cs"/>
                      </a:endParaRPr>
                    </a:p>
                    <a:p>
                      <a:pPr marL="0" marR="0" lvl="0" indent="0" algn="l" defTabSz="557240" rtl="0" eaLnBrk="1" fontAlgn="auto" latinLnBrk="0" hangingPunct="1">
                        <a:lnSpc>
                          <a:spcPct val="100000"/>
                        </a:lnSpc>
                        <a:spcBef>
                          <a:spcPts val="0"/>
                        </a:spcBef>
                        <a:spcAft>
                          <a:spcPts val="0"/>
                        </a:spcAft>
                        <a:buClrTx/>
                        <a:buSzTx/>
                        <a:buFontTx/>
                        <a:buNone/>
                        <a:tabLst/>
                        <a:defRPr/>
                      </a:pPr>
                      <a:endParaRPr lang="fr-FR" sz="1000" b="1" i="1" kern="1200" noProof="0" dirty="0">
                        <a:solidFill>
                          <a:schemeClr val="accent3"/>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solidFill>
                            <a:schemeClr val="tx1"/>
                          </a:solidFill>
                          <a:uFill>
                            <a:solidFill>
                              <a:srgbClr val="FFFFFF"/>
                            </a:solidFill>
                          </a:uFill>
                        </a:rPr>
                        <a:t>XX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1"/>
                          </a:solidFill>
                          <a:latin typeface="Arial" panose="020B0604020202020204" pitchFamily="34" charset="0"/>
                          <a:ea typeface="+mn-ea"/>
                          <a:cs typeface="Arial" panose="020B0604020202020204" pitchFamily="34" charset="0"/>
                        </a:rPr>
                        <a:t>INTITULE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XX</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endParaRPr lang="fr-FR" sz="1000" b="1" i="1" kern="1200" noProof="0" dirty="0">
                        <a:solidFill>
                          <a:schemeClr val="accent3"/>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100"/>
                        </a:spcAft>
                        <a:buClrTx/>
                        <a:buSzPct val="100000"/>
                        <a:buFontTx/>
                        <a:buNone/>
                        <a:tabLst/>
                        <a:defRPr/>
                      </a:pPr>
                      <a:endParaRPr lang="fr-FR" sz="1000" kern="1200" noProof="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3511582527"/>
                  </a:ext>
                </a:extLst>
              </a:tr>
              <a:tr h="369054">
                <a:tc>
                  <a:txBody>
                    <a:bodyPr/>
                    <a:lstStyle/>
                    <a:p>
                      <a:pPr marL="0" algn="l" defTabSz="557240" rtl="0" eaLnBrk="1" latinLnBrk="0" hangingPunct="1"/>
                      <a:endParaRPr lang="fr-FR" sz="1000" b="0" i="1"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1"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2815008799"/>
                  </a:ext>
                </a:extLst>
              </a:tr>
              <a:tr h="369054">
                <a:tc>
                  <a:txBody>
                    <a:bodyPr/>
                    <a:lstStyle/>
                    <a:p>
                      <a:pPr marL="0" algn="l" defTabSz="557240" rtl="0" eaLnBrk="1" latinLnBrk="0" hangingPunct="1"/>
                      <a:endParaRPr lang="fr-FR" sz="850" b="1" i="1" kern="1200" noProof="0" dirty="0">
                        <a:solidFill>
                          <a:schemeClr val="accent3"/>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55724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endParaRPr lang="fr-FR" sz="1000" kern="1200" spc="-1" noProof="0" dirty="0">
                        <a:solidFill>
                          <a:schemeClr val="tx1"/>
                        </a:solidFill>
                        <a:uFill>
                          <a:solidFill>
                            <a:srgbClr val="FFFFFF"/>
                          </a:solidFill>
                        </a:u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74134674"/>
                  </a:ext>
                </a:extLst>
              </a:tr>
            </a:tbl>
          </a:graphicData>
        </a:graphic>
      </p:graphicFrame>
      <p:sp>
        <p:nvSpPr>
          <p:cNvPr id="2" name="Titre 1">
            <a:extLst>
              <a:ext uri="{FF2B5EF4-FFF2-40B4-BE49-F238E27FC236}">
                <a16:creationId xmlns:a16="http://schemas.microsoft.com/office/drawing/2014/main" id="{B6399308-A61A-08DD-CE08-E7F6C1E3ABF5}"/>
              </a:ext>
            </a:extLst>
          </p:cNvPr>
          <p:cNvSpPr>
            <a:spLocks noGrp="1"/>
          </p:cNvSpPr>
          <p:nvPr>
            <p:ph type="title"/>
          </p:nvPr>
        </p:nvSpPr>
        <p:spPr/>
        <p:txBody>
          <a:bodyPr vert="horz"/>
          <a:lstStyle/>
          <a:p>
            <a:r>
              <a:rPr lang="fr-FR" noProof="0" dirty="0"/>
              <a:t>Adrien pina</a:t>
            </a:r>
          </a:p>
        </p:txBody>
      </p:sp>
      <p:sp>
        <p:nvSpPr>
          <p:cNvPr id="3" name="Espace réservé du numéro de diapositive 2">
            <a:extLst>
              <a:ext uri="{FF2B5EF4-FFF2-40B4-BE49-F238E27FC236}">
                <a16:creationId xmlns:a16="http://schemas.microsoft.com/office/drawing/2014/main" id="{0A296820-E9A1-5D9A-A12E-A64B0EF80F42}"/>
              </a:ext>
            </a:extLst>
          </p:cNvPr>
          <p:cNvSpPr>
            <a:spLocks noGrp="1"/>
          </p:cNvSpPr>
          <p:nvPr>
            <p:ph type="sldNum" sz="quarter" idx="11"/>
          </p:nvPr>
        </p:nvSpPr>
        <p:spPr/>
        <p:txBody>
          <a:bodyPr/>
          <a:lstStyle/>
          <a:p>
            <a:fld id="{BE9517EC-C298-4848-B090-11602D956FCE}" type="slidenum">
              <a:rPr lang="fr-FR" noProof="0" smtClean="0"/>
              <a:pPr/>
              <a:t>2</a:t>
            </a:fld>
            <a:endParaRPr lang="fr-FR" noProof="0"/>
          </a:p>
        </p:txBody>
      </p:sp>
      <p:sp>
        <p:nvSpPr>
          <p:cNvPr id="5" name="Espace réservé de la date 4">
            <a:extLst>
              <a:ext uri="{FF2B5EF4-FFF2-40B4-BE49-F238E27FC236}">
                <a16:creationId xmlns:a16="http://schemas.microsoft.com/office/drawing/2014/main" id="{F5384F8A-E0B2-68D9-E963-C05500981BDA}"/>
              </a:ext>
            </a:extLst>
          </p:cNvPr>
          <p:cNvSpPr>
            <a:spLocks noGrp="1"/>
          </p:cNvSpPr>
          <p:nvPr>
            <p:ph type="dt" sz="half" idx="2"/>
          </p:nvPr>
        </p:nvSpPr>
        <p:spPr/>
        <p:txBody>
          <a:bodyPr/>
          <a:lstStyle/>
          <a:p>
            <a:fld id="{05EECF77-BC25-41C0-A0EF-6A4B97F069C1}" type="datetime1">
              <a:rPr lang="fr-FR" noProof="0" smtClean="0"/>
              <a:t>03/04/2025</a:t>
            </a:fld>
            <a:endParaRPr lang="fr-FR" noProof="0"/>
          </a:p>
        </p:txBody>
      </p:sp>
      <p:sp>
        <p:nvSpPr>
          <p:cNvPr id="15" name="Forme libre : forme 14">
            <a:extLst>
              <a:ext uri="{FF2B5EF4-FFF2-40B4-BE49-F238E27FC236}">
                <a16:creationId xmlns:a16="http://schemas.microsoft.com/office/drawing/2014/main" id="{7011D353-CB76-5330-72E0-1640B4E140BF}"/>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7FAD709F-5F89-99E7-FF88-A8501EB5827E}"/>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C7C75D43-1D3B-B588-BA43-FE74C18EAF1C}"/>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A90C2F6B-CD06-D986-FF18-237658CD360A}"/>
              </a:ext>
            </a:extLst>
          </p:cNvPr>
          <p:cNvSpPr>
            <a:spLocks noGrp="1"/>
          </p:cNvSpPr>
          <p:nvPr>
            <p:ph type="ftr" sz="quarter" idx="10"/>
          </p:nvPr>
        </p:nvSpPr>
        <p:spPr/>
        <p:txBody>
          <a:bodyPr/>
          <a:lstStyle/>
          <a:p>
            <a:r>
              <a:rPr lang="fr-FR"/>
              <a:t>AMITA CONSEIL</a:t>
            </a:r>
          </a:p>
        </p:txBody>
      </p:sp>
      <p:sp>
        <p:nvSpPr>
          <p:cNvPr id="10" name="ZoneTexte 9">
            <a:extLst>
              <a:ext uri="{FF2B5EF4-FFF2-40B4-BE49-F238E27FC236}">
                <a16:creationId xmlns:a16="http://schemas.microsoft.com/office/drawing/2014/main" id="{E8A497CC-4601-2C72-8B74-4EB876E13D3E}"/>
              </a:ext>
            </a:extLst>
          </p:cNvPr>
          <p:cNvSpPr txBox="1"/>
          <p:nvPr/>
        </p:nvSpPr>
        <p:spPr>
          <a:xfrm rot="840714">
            <a:off x="8567952" y="61988"/>
            <a:ext cx="3685689" cy="646331"/>
          </a:xfrm>
          <a:prstGeom prst="rect">
            <a:avLst/>
          </a:prstGeom>
          <a:solidFill>
            <a:srgbClr val="C00000"/>
          </a:solidFill>
        </p:spPr>
        <p:txBody>
          <a:bodyPr wrap="none" rtlCol="0">
            <a:spAutoFit/>
          </a:bodyPr>
          <a:lstStyle/>
          <a:p>
            <a:r>
              <a:rPr lang="fr-FR" dirty="0">
                <a:solidFill>
                  <a:schemeClr val="bg1"/>
                </a:solidFill>
              </a:rPr>
              <a:t>A COMPLETER avec expériences</a:t>
            </a:r>
          </a:p>
          <a:p>
            <a:r>
              <a:rPr lang="fr-FR" dirty="0">
                <a:solidFill>
                  <a:schemeClr val="bg1"/>
                </a:solidFill>
              </a:rPr>
              <a:t>Slides suivants</a:t>
            </a:r>
          </a:p>
        </p:txBody>
      </p:sp>
    </p:spTree>
    <p:extLst>
      <p:ext uri="{BB962C8B-B14F-4D97-AF65-F5344CB8AC3E}">
        <p14:creationId xmlns:p14="http://schemas.microsoft.com/office/powerpoint/2010/main" val="287642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0817C8F-7BDE-5E79-6BAA-5E81F8B9B6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9" name="think-cell data - do not delete" hidden="1">
                        <a:extLst>
                          <a:ext uri="{FF2B5EF4-FFF2-40B4-BE49-F238E27FC236}">
                            <a16:creationId xmlns:a16="http://schemas.microsoft.com/office/drawing/2014/main" id="{40817C8F-7BDE-5E79-6BAA-5E81F8B9B6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754E520E-7D64-3FAF-1146-FC6B8AF9CE30}"/>
              </a:ext>
            </a:extLst>
          </p:cNvPr>
          <p:cNvSpPr>
            <a:spLocks noGrp="1"/>
          </p:cNvSpPr>
          <p:nvPr>
            <p:ph type="title"/>
          </p:nvPr>
        </p:nvSpPr>
        <p:spPr/>
        <p:txBody>
          <a:bodyPr vert="horz"/>
          <a:lstStyle/>
          <a:p>
            <a:r>
              <a:rPr lang="fr-FR"/>
              <a:t>Nous capitalisons sur diverses collaborations sur les enjeux de transformation réglementaire ESG</a:t>
            </a:r>
          </a:p>
        </p:txBody>
      </p:sp>
      <p:sp>
        <p:nvSpPr>
          <p:cNvPr id="3" name="Espace réservé du pied de page 2">
            <a:extLst>
              <a:ext uri="{FF2B5EF4-FFF2-40B4-BE49-F238E27FC236}">
                <a16:creationId xmlns:a16="http://schemas.microsoft.com/office/drawing/2014/main" id="{157CF85C-6FF3-A61A-F030-FCA814803BCA}"/>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016CB5AA-1802-8D91-C7E2-9C03E42E9CBA}"/>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6" name="Espace réservé du texte 5">
            <a:extLst>
              <a:ext uri="{FF2B5EF4-FFF2-40B4-BE49-F238E27FC236}">
                <a16:creationId xmlns:a16="http://schemas.microsoft.com/office/drawing/2014/main" id="{2265D6D6-4D09-09EE-751E-49BAFB19AC8F}"/>
              </a:ext>
            </a:extLst>
          </p:cNvPr>
          <p:cNvSpPr>
            <a:spLocks noGrp="1"/>
          </p:cNvSpPr>
          <p:nvPr>
            <p:ph type="body" sz="quarter" idx="13"/>
          </p:nvPr>
        </p:nvSpPr>
        <p:spPr/>
        <p:txBody>
          <a:bodyPr/>
          <a:lstStyle/>
          <a:p>
            <a:r>
              <a:rPr lang="fr-FR"/>
              <a:t>Exemples de missions réalisées ou en cours par nos consultants</a:t>
            </a:r>
          </a:p>
        </p:txBody>
      </p:sp>
      <p:graphicFrame>
        <p:nvGraphicFramePr>
          <p:cNvPr id="7" name="Tableau 8">
            <a:extLst>
              <a:ext uri="{FF2B5EF4-FFF2-40B4-BE49-F238E27FC236}">
                <a16:creationId xmlns:a16="http://schemas.microsoft.com/office/drawing/2014/main" id="{315A96EC-96DC-8489-D94C-C2DE535B6804}"/>
              </a:ext>
            </a:extLst>
          </p:cNvPr>
          <p:cNvGraphicFramePr>
            <a:graphicFrameLocks/>
          </p:cNvGraphicFramePr>
          <p:nvPr/>
        </p:nvGraphicFramePr>
        <p:xfrm>
          <a:off x="361541" y="1808163"/>
          <a:ext cx="11430002" cy="44539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Mission</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1100" b="1" kern="1200">
                          <a:solidFill>
                            <a:schemeClr val="tx1"/>
                          </a:solidFill>
                          <a:latin typeface="Arial" panose="020B0604020202020204" pitchFamily="34" charset="0"/>
                          <a:ea typeface="+mn-ea"/>
                          <a:cs typeface="Arial" panose="020B0604020202020204" pitchFamily="34" charset="0"/>
                        </a:rPr>
                        <a:t>Accompagnement au déploiement Bâle IV (Paquet bancaire CRR3 / CRD6)</a:t>
                      </a:r>
                    </a:p>
                  </a:txBody>
                  <a:tcPr anchor="ct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a:solidFill>
                            <a:schemeClr val="tx1"/>
                          </a:solidFill>
                        </a:rPr>
                        <a:t>La publication de la proposition législative dite « CRR3 / CRD6 » en octobre 2021 a marqué le démarrage d’un processus législatif qui aboutira au 1er janvier 2025. La Direction des Risques Groupe a ainsi engagé un programme de cadrage et de fabrication des solutions « Bâle IV » pour répondre aux nouveaux besoins de reporting.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Analyse de la documentation réglementaire et du périmètre d’application des nouvelles données</a:t>
                      </a:r>
                    </a:p>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Analyse des flux de données actuels et des impacts des nouveaux contrôles sur la qualité des </a:t>
                      </a:r>
                      <a:r>
                        <a:rPr lang="fr-FR" sz="1100" kern="1200" err="1">
                          <a:solidFill>
                            <a:schemeClr val="dk1"/>
                          </a:solidFill>
                          <a:latin typeface="+mn-lt"/>
                          <a:ea typeface="+mn-ea"/>
                          <a:cs typeface="Arial"/>
                        </a:rPr>
                        <a:t>reportings</a:t>
                      </a:r>
                      <a:r>
                        <a:rPr lang="fr-FR" sz="1100" kern="1200">
                          <a:solidFill>
                            <a:schemeClr val="dk1"/>
                          </a:solidFill>
                          <a:latin typeface="+mn-lt"/>
                          <a:ea typeface="+mn-ea"/>
                          <a:cs typeface="Arial"/>
                        </a:rPr>
                        <a:t> déjà en production</a:t>
                      </a:r>
                    </a:p>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Ateliers avec les référents métiers pour confirmer les impacts et cadrer les travaux de mise en qualité des données</a:t>
                      </a:r>
                    </a:p>
                    <a:p>
                      <a:pPr marL="176213" indent="-176213" algn="l" defTabSz="914400" rtl="0" eaLnBrk="1" latinLnBrk="0" hangingPunct="1">
                        <a:spcAft>
                          <a:spcPts val="100"/>
                        </a:spcAft>
                        <a:buClr>
                          <a:schemeClr val="accent1"/>
                        </a:buClr>
                        <a:buSzPct val="100000"/>
                        <a:buFont typeface="Arial"/>
                        <a:buChar char="•"/>
                      </a:pPr>
                      <a:r>
                        <a:rPr lang="fr-FR" sz="1100" kern="1200">
                          <a:solidFill>
                            <a:schemeClr val="dk1"/>
                          </a:solidFill>
                          <a:latin typeface="+mn-lt"/>
                          <a:ea typeface="+mn-ea"/>
                          <a:cs typeface="Arial"/>
                        </a:rPr>
                        <a:t>Suivi d’avancement avec la Direction des Risques Groupe : participation aux groupes de travail transverses, alimentation des </a:t>
                      </a:r>
                      <a:r>
                        <a:rPr lang="fr-FR" sz="1100" kern="1200" err="1">
                          <a:solidFill>
                            <a:schemeClr val="dk1"/>
                          </a:solidFill>
                          <a:latin typeface="+mn-lt"/>
                          <a:ea typeface="+mn-ea"/>
                          <a:cs typeface="Arial"/>
                        </a:rPr>
                        <a:t>reportings</a:t>
                      </a:r>
                      <a:r>
                        <a:rPr lang="fr-FR" sz="1100" kern="1200">
                          <a:solidFill>
                            <a:schemeClr val="dk1"/>
                          </a:solidFill>
                          <a:latin typeface="+mn-lt"/>
                          <a:ea typeface="+mn-ea"/>
                          <a:cs typeface="Arial"/>
                        </a:rPr>
                        <a:t>, participation à la Comitologie Groupe</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1100" b="1" kern="1200">
                          <a:solidFill>
                            <a:schemeClr val="tx1"/>
                          </a:solidFill>
                          <a:latin typeface="Arial" panose="020B0604020202020204" pitchFamily="34" charset="0"/>
                          <a:ea typeface="+mn-ea"/>
                          <a:cs typeface="Arial" panose="020B0604020202020204" pitchFamily="34" charset="0"/>
                        </a:rPr>
                        <a:t>Mise en œuvre de la collecte des données extra-financières (GAR / BTAR)</a:t>
                      </a: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solidFill>
                            <a:schemeClr val="tx1"/>
                          </a:solidFill>
                        </a:rPr>
                        <a:t>Les exigences réglementaires Taxonomie et Pilier 3 ESG entrant en vigueur de manière progressive, l’entité remettante de ce groupe bancaire se doit de déterminer sa contribution au Reporting Groupe et </a:t>
                      </a:r>
                      <a:r>
                        <a:rPr lang="fr-FR" sz="1100"/>
                        <a:t>de déterminer les données à collecter parmi les exigences Groupe, d’identifier les sources desdites données, de s’intégrer dans les plannings prévisionnels.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a:solidFill>
                            <a:schemeClr val="dk1"/>
                          </a:solidFill>
                          <a:latin typeface="+mn-lt"/>
                          <a:ea typeface="+mn-ea"/>
                          <a:cs typeface="Arial"/>
                        </a:rPr>
                        <a:t>Présentation des exigences règlementaires, des choix structurants du Groupe et des attentes au niveau des remettants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a:solidFill>
                            <a:schemeClr val="dk1"/>
                          </a:solidFill>
                          <a:latin typeface="+mn-lt"/>
                          <a:ea typeface="+mn-ea"/>
                          <a:cs typeface="Arial"/>
                        </a:rPr>
                        <a:t>Échanges avec les interlocuteurs métier et SI pour remonter les données relatives aux financements dédiés (exemption sur les financements généraux) via le flux de données extra-financières, définition des plannings de collecte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a:solidFill>
                            <a:schemeClr val="dk1"/>
                          </a:solidFill>
                          <a:latin typeface="+mn-lt"/>
                          <a:ea typeface="+mn-ea"/>
                          <a:cs typeface="Arial"/>
                        </a:rPr>
                        <a:t>Reporting auprès des instances Groupe sur l’avancement du chantier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1100" b="1" i="0" kern="1200" noProof="0">
                          <a:solidFill>
                            <a:schemeClr val="tx1"/>
                          </a:solidFill>
                          <a:latin typeface="+mn-lt"/>
                          <a:ea typeface="+mn-ea"/>
                          <a:cs typeface="+mn-cs"/>
                        </a:rPr>
                        <a:t>Accompagnement au déploiement du dispositif Valuation Data Set</a:t>
                      </a: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557240" rtl="0" eaLnBrk="1" latinLnBrk="0" hangingPunct="1">
                        <a:lnSpc>
                          <a:spcPct val="90000"/>
                        </a:lnSpc>
                        <a:spcBef>
                          <a:spcPts val="610"/>
                        </a:spcBef>
                        <a:buClr>
                          <a:schemeClr val="accent1"/>
                        </a:buClr>
                        <a:buFont typeface="Arial" panose="020B0604020202020204" pitchFamily="34" charset="0"/>
                        <a:buNone/>
                      </a:pPr>
                      <a:r>
                        <a:rPr lang="fr-FR" sz="1100" kern="1200" noProof="0">
                          <a:solidFill>
                            <a:schemeClr val="tx1"/>
                          </a:solidFill>
                          <a:latin typeface="+mn-lt"/>
                          <a:ea typeface="+mn-ea"/>
                          <a:cs typeface="+mn-cs"/>
                        </a:rPr>
                        <a:t>Organisation des processus de reporting et mise en place du Valuation Data Set (VDS), reporting réglementaire demandé par le SRB (Single </a:t>
                      </a:r>
                      <a:r>
                        <a:rPr lang="fr-FR" sz="1100" kern="1200" noProof="0" err="1">
                          <a:solidFill>
                            <a:schemeClr val="tx1"/>
                          </a:solidFill>
                          <a:latin typeface="+mn-lt"/>
                          <a:ea typeface="+mn-ea"/>
                          <a:cs typeface="+mn-cs"/>
                        </a:rPr>
                        <a:t>Resolution</a:t>
                      </a:r>
                      <a:r>
                        <a:rPr lang="fr-FR" sz="1100" kern="1200" noProof="0">
                          <a:solidFill>
                            <a:schemeClr val="tx1"/>
                          </a:solidFill>
                          <a:latin typeface="+mn-lt"/>
                          <a:ea typeface="+mn-ea"/>
                          <a:cs typeface="+mn-cs"/>
                        </a:rPr>
                        <a:t> </a:t>
                      </a:r>
                      <a:r>
                        <a:rPr lang="fr-FR" sz="1100" kern="1200" noProof="0" err="1">
                          <a:solidFill>
                            <a:schemeClr val="tx1"/>
                          </a:solidFill>
                          <a:latin typeface="+mn-lt"/>
                          <a:ea typeface="+mn-ea"/>
                          <a:cs typeface="+mn-cs"/>
                        </a:rPr>
                        <a:t>Board</a:t>
                      </a:r>
                      <a:r>
                        <a:rPr lang="fr-FR" sz="1100" kern="1200" noProof="0">
                          <a:solidFill>
                            <a:schemeClr val="tx1"/>
                          </a:solidFill>
                          <a:latin typeface="+mn-lt"/>
                          <a:ea typeface="+mn-ea"/>
                          <a:cs typeface="+mn-cs"/>
                        </a:rPr>
                        <a:t>), visant à produire sous 24h la vision de la résolution de la quasi-totalité des actifs à la maille granulaire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Conduite des Self </a:t>
                      </a:r>
                      <a:r>
                        <a:rPr lang="fr-FR" sz="1100" kern="1200" noProof="0" err="1">
                          <a:solidFill>
                            <a:schemeClr val="dk1"/>
                          </a:solidFill>
                          <a:latin typeface="+mn-lt"/>
                          <a:ea typeface="+mn-ea"/>
                          <a:cs typeface="Arial"/>
                        </a:rPr>
                        <a:t>Assessment</a:t>
                      </a:r>
                      <a:r>
                        <a:rPr lang="fr-FR" sz="1100" kern="1200" noProof="0">
                          <a:solidFill>
                            <a:schemeClr val="dk1"/>
                          </a:solidFill>
                          <a:latin typeface="+mn-lt"/>
                          <a:ea typeface="+mn-ea"/>
                          <a:cs typeface="Arial"/>
                        </a:rPr>
                        <a:t> (SA) sur la disponibilité des données requises par le SRB</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Sur la base des SA, identifications des différents </a:t>
                      </a:r>
                      <a:r>
                        <a:rPr lang="fr-FR" sz="1100" kern="1200" noProof="0" err="1">
                          <a:solidFill>
                            <a:schemeClr val="dk1"/>
                          </a:solidFill>
                          <a:latin typeface="+mn-lt"/>
                          <a:ea typeface="+mn-ea"/>
                          <a:cs typeface="Arial"/>
                        </a:rPr>
                        <a:t>sourcing</a:t>
                      </a:r>
                      <a:r>
                        <a:rPr lang="fr-FR" sz="1100" kern="1200" noProof="0">
                          <a:solidFill>
                            <a:schemeClr val="dk1"/>
                          </a:solidFill>
                          <a:latin typeface="+mn-lt"/>
                          <a:ea typeface="+mn-ea"/>
                          <a:cs typeface="Arial"/>
                        </a:rPr>
                        <a:t> de données parmi les outils internes de gestion, de comptabilités et de risques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Conception de l'architecture ambitionnée de la remontée des données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Rédactions des spécifications fonctionnelles et techniques du moteur VDS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Suivi et mise en qualité de la collecte des données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a:solidFill>
                            <a:schemeClr val="dk1"/>
                          </a:solidFill>
                          <a:latin typeface="+mn-lt"/>
                          <a:ea typeface="+mn-ea"/>
                          <a:cs typeface="Arial"/>
                        </a:rPr>
                        <a:t>Mise en place du premier Dry Run VDS </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sp>
        <p:nvSpPr>
          <p:cNvPr id="5" name="ZoneTexte 4">
            <a:extLst>
              <a:ext uri="{FF2B5EF4-FFF2-40B4-BE49-F238E27FC236}">
                <a16:creationId xmlns:a16="http://schemas.microsoft.com/office/drawing/2014/main" id="{809A8A5B-6CAF-A1E1-A81A-F2AED904FCA7}"/>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3320148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Déploiement du processus </a:t>
            </a:r>
            <a:br>
              <a:rPr lang="fr-FR" sz="1200" b="1">
                <a:solidFill>
                  <a:schemeClr val="tx1"/>
                </a:solidFill>
                <a:latin typeface="+mn-lt"/>
              </a:rPr>
            </a:br>
            <a:r>
              <a:rPr lang="fr-FR" sz="1200" b="1">
                <a:solidFill>
                  <a:schemeClr val="tx1"/>
                </a:solidFill>
                <a:latin typeface="+mn-lt"/>
              </a:rPr>
              <a:t>et des outils de Surveillance du portefeuille</a:t>
            </a:r>
          </a:p>
          <a:p>
            <a:endParaRPr lang="fr-F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Confidentiel</a:t>
            </a:r>
            <a:endParaRPr kumimoji="0" lang="fr-FR" sz="1050"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projet + Product </a:t>
            </a:r>
            <a:r>
              <a:rPr kumimoji="0" lang="fr-FR" sz="1050" i="0" u="none" strike="noStrike" kern="1200" cap="none" spc="0" normalizeH="0" baseline="0" noProof="0" err="1">
                <a:ln>
                  <a:noFill/>
                </a:ln>
                <a:solidFill>
                  <a:srgbClr val="313F4F"/>
                </a:solidFill>
                <a:effectLst/>
                <a:uLnTx/>
                <a:uFillTx/>
                <a:latin typeface="Arial" panose="020B0604020202020204"/>
                <a:ea typeface="+mn-ea"/>
                <a:cs typeface="+mn-cs"/>
              </a:rPr>
              <a:t>Owner</a:t>
            </a:r>
            <a:endParaRPr lang="fr-FR" sz="1050" b="1">
              <a:solidFill>
                <a:srgbClr val="313F4F"/>
              </a:solidFill>
              <a:latin typeface="Arial" panose="020B0604020202020204"/>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cs typeface="Arial"/>
              </a:rPr>
              <a:t>Résultat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Fabrication, validation et déploiement du nouvel outil en soutien du processus de Surveillance</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Analyse des besoins et instruction des fonctionnalités prioritaires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Préparation et animation d’une réunion de débriefing, bilan de l’existant et partage des orientations </a:t>
            </a:r>
            <a:b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b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cibles ; Animation d’entretiens métiers pour le recueil des fonctionnalités ; Élaboration de la cartographie fonctionnelle de l’outil ; Suivi de la priorisation et des arbitrages sur les fonctionnalités « MVP »; Instruction des User Stories.</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Pilotage de la phase de Fabrication et de la Recette des User Stories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Suivi journalier (</a:t>
            </a:r>
            <a:r>
              <a:rPr kumimoji="0" lang="fr-FR" sz="1000" b="0" i="1" u="none" strike="noStrike" kern="1200" cap="none" spc="0" normalizeH="0" baseline="0" noProof="0" err="1">
                <a:ln>
                  <a:noFill/>
                </a:ln>
                <a:solidFill>
                  <a:srgbClr val="000000"/>
                </a:solidFill>
                <a:effectLst/>
                <a:uLnTx/>
                <a:uFillTx/>
                <a:latin typeface="Arial" panose="020B0604020202020204"/>
                <a:ea typeface="+mn-ea"/>
                <a:cs typeface="Arial"/>
              </a:rPr>
              <a:t>daily</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 meetings) de la Fabrication des US ; Organisation des ateliers de recette et consolidation des retours métiers ; Validation de la couverture fonctionnelle et de l’adéquation avec les besoins exprimés.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Modernisation des outils de gestion des financements structurés : Programme </a:t>
            </a:r>
            <a:r>
              <a:rPr lang="fr-FR" sz="1200" b="1" err="1">
                <a:solidFill>
                  <a:schemeClr val="tx1"/>
                </a:solidFill>
                <a:latin typeface="+mn-lt"/>
              </a:rPr>
              <a:t>Loanscape</a:t>
            </a:r>
            <a:r>
              <a:rPr lang="fr-FR" sz="1200" b="1">
                <a:solidFill>
                  <a:schemeClr val="tx1"/>
                </a:solidFill>
                <a:latin typeface="+mn-lt"/>
              </a:rPr>
              <a:t>, Projet Covenant</a:t>
            </a:r>
          </a:p>
          <a:p>
            <a:endParaRPr lang="fr-F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lang="fr-FR" sz="1050">
                <a:solidFill>
                  <a:srgbClr val="313F4F"/>
                </a:solidFill>
                <a:latin typeface="Arial" panose="020B0604020202020204"/>
              </a:rPr>
              <a:t>Crédit Agricole CIB</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Business </a:t>
            </a:r>
            <a:r>
              <a:rPr kumimoji="0" lang="fr-FR" sz="1050" b="0" i="0" u="none" strike="noStrike" kern="1200" cap="none" spc="0" normalizeH="0" baseline="0" noProof="0" err="1">
                <a:ln>
                  <a:noFill/>
                </a:ln>
                <a:solidFill>
                  <a:srgbClr val="313F4F"/>
                </a:solidFill>
                <a:effectLst/>
                <a:uLnTx/>
                <a:uFillTx/>
                <a:latin typeface="Arial" panose="020B0604020202020204"/>
                <a:ea typeface="+mn-ea"/>
                <a:cs typeface="+mn-cs"/>
              </a:rPr>
              <a:t>Analyst</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18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indent="0">
              <a:lnSpc>
                <a:spcPct val="100000"/>
              </a:lnSpc>
              <a:spcBef>
                <a:spcPts val="0"/>
              </a:spcBef>
              <a:spcAft>
                <a:spcPts val="100"/>
              </a:spcAft>
              <a:buClrTx/>
              <a:buSzPct val="100000"/>
              <a:buNone/>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Résultat : </a:t>
            </a:r>
            <a:r>
              <a:rPr lang="fr-FR" sz="1000">
                <a:solidFill>
                  <a:schemeClr val="accent1"/>
                </a:solidFill>
              </a:rPr>
              <a:t>Conception, fabrication et déploiement du nouvel outil de gestion des convenants bancaires</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b="1"/>
              <a:t>Diagnostic et analyse d’écarts :</a:t>
            </a:r>
            <a:r>
              <a:rPr lang="fr-FR" altLang="de-DE" sz="900" b="1" i="1"/>
              <a:t> </a:t>
            </a:r>
            <a:r>
              <a:rPr lang="fr-FR" altLang="de-DE" sz="1000" i="1"/>
              <a:t>Diagnostic du fonctionnement des entités internationales, Analyse des écarts avec la cible (Target Operating Model), Validation de la solution technique</a:t>
            </a:r>
          </a:p>
          <a:p>
            <a:pPr marL="176213" indent="-176213">
              <a:lnSpc>
                <a:spcPct val="110000"/>
              </a:lnSpc>
              <a:spcBef>
                <a:spcPts val="300"/>
              </a:spcBef>
              <a:buClr>
                <a:schemeClr val="accent1"/>
              </a:buClr>
              <a:buSzPts val="1000"/>
              <a:buFont typeface="Arial"/>
              <a:buChar char="•"/>
            </a:pPr>
            <a:r>
              <a:rPr lang="fr-FR" altLang="de-DE" sz="1000" b="1"/>
              <a:t>Etude détaillée : </a:t>
            </a:r>
            <a:r>
              <a:rPr lang="fr-FR" altLang="de-DE" sz="1000" i="1"/>
              <a:t>Conception des processus cibles et validation avec les métiers, Conception du modèle de données, Identification des principales fonctionnalités et adhérences, Lotissement de la Fabrication (Story </a:t>
            </a:r>
            <a:r>
              <a:rPr lang="fr-FR" altLang="de-DE" sz="1000" i="1" err="1"/>
              <a:t>Map</a:t>
            </a:r>
            <a:r>
              <a:rPr lang="fr-FR" altLang="de-DE" sz="1000" i="1"/>
              <a:t>)</a:t>
            </a:r>
          </a:p>
          <a:p>
            <a:pPr marL="176213" indent="-176213">
              <a:lnSpc>
                <a:spcPct val="110000"/>
              </a:lnSpc>
              <a:spcBef>
                <a:spcPts val="300"/>
              </a:spcBef>
              <a:buClr>
                <a:schemeClr val="accent1"/>
              </a:buClr>
              <a:buSzPts val="1000"/>
              <a:buFont typeface="Arial"/>
              <a:buChar char="•"/>
            </a:pPr>
            <a:r>
              <a:rPr lang="fr-FR" sz="1000" b="1"/>
              <a:t>Conception Générale : </a:t>
            </a:r>
            <a:r>
              <a:rPr lang="fr-FR" sz="1000" i="1"/>
              <a:t>Définition des parcours utilisateurs (UX), Co-construction et validation des écrans et règles de gestion avec les Référents Métiers (BCM), Validation du périmètre et planning de développements du Lot 1</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Analyse </a:t>
            </a:r>
            <a:r>
              <a:rPr lang="fr-FR" sz="1200" b="1" i="1">
                <a:solidFill>
                  <a:schemeClr val="tx1"/>
                </a:solidFill>
                <a:latin typeface="+mn-lt"/>
              </a:rPr>
              <a:t>Big Data </a:t>
            </a:r>
            <a:r>
              <a:rPr lang="fr-FR" sz="1200" b="1">
                <a:solidFill>
                  <a:schemeClr val="tx1"/>
                </a:solidFill>
                <a:latin typeface="+mn-lt"/>
              </a:rPr>
              <a:t>des parcours clients </a:t>
            </a:r>
            <a:br>
              <a:rPr lang="fr-FR" sz="1200" b="1">
                <a:solidFill>
                  <a:schemeClr val="tx1"/>
                </a:solidFill>
                <a:latin typeface="+mn-lt"/>
              </a:rPr>
            </a:br>
            <a:r>
              <a:rPr lang="fr-FR" sz="1200" b="1">
                <a:solidFill>
                  <a:schemeClr val="tx1"/>
                </a:solidFill>
                <a:latin typeface="+mn-lt"/>
              </a:rPr>
              <a:t>et cadrage de POC visant à l’amélioration des délais de traitement et de la satisfaction</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00" b="0" i="0" u="none" strike="noStrike" kern="1200" cap="none" spc="0" normalizeH="0" baseline="0" noProof="0">
                <a:ln>
                  <a:noFill/>
                </a:ln>
                <a:solidFill>
                  <a:srgbClr val="313F4F"/>
                </a:solidFill>
                <a:effectLst/>
                <a:uLnTx/>
                <a:uFillTx/>
                <a:latin typeface="Arial" panose="020B0604020202020204"/>
                <a:ea typeface="+mn-ea"/>
                <a:cs typeface="+mn-cs"/>
              </a:rPr>
              <a:t>Confidentiel</a:t>
            </a:r>
            <a:endParaRPr kumimoji="0" lang="fr-FR" sz="1050" b="0"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lang="fr-FR" sz="1050">
                <a:solidFill>
                  <a:schemeClr val="accent1"/>
                </a:solidFill>
              </a:rPr>
              <a:t>Consultant systèmes d’information</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lang="fr-FR" sz="1050">
                <a:solidFill>
                  <a:srgbClr val="313F4F"/>
                </a:solidFill>
                <a:latin typeface="Arial" panose="020B0604020202020204"/>
              </a:rPr>
              <a:t>3</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indent="0">
              <a:lnSpc>
                <a:spcPct val="100000"/>
              </a:lnSpc>
              <a:spcBef>
                <a:spcPts val="0"/>
              </a:spcBef>
              <a:spcAft>
                <a:spcPts val="100"/>
              </a:spcAft>
              <a:buClrTx/>
              <a:buSzPct val="100000"/>
              <a:buNone/>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Résultat : </a:t>
            </a:r>
            <a:r>
              <a:rPr lang="fr-FR" sz="1000">
                <a:solidFill>
                  <a:schemeClr val="accent1"/>
                </a:solidFill>
              </a:rPr>
              <a:t>Restitution du Schéma Directeur SI, comprenant la trajectoire SI et la feuille de route des travaux 2019 - 2020</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b="1">
                <a:solidFill>
                  <a:schemeClr val="dk1"/>
                </a:solidFill>
                <a:cs typeface="Arial"/>
              </a:rPr>
              <a:t>Analyse de l’existant : </a:t>
            </a:r>
            <a:r>
              <a:rPr lang="fr-FR" sz="1000" i="1">
                <a:solidFill>
                  <a:schemeClr val="dk1"/>
                </a:solidFill>
                <a:cs typeface="Arial"/>
              </a:rPr>
              <a:t>Plan informatique 2019 ; Documentation applicative ; Éléments d’infrastructure (obsolescence, contraintes techniques, adhérences).</a:t>
            </a:r>
          </a:p>
          <a:p>
            <a:pPr marL="176213" indent="-176213">
              <a:lnSpc>
                <a:spcPct val="110000"/>
              </a:lnSpc>
              <a:spcBef>
                <a:spcPts val="300"/>
              </a:spcBef>
              <a:buClr>
                <a:schemeClr val="accent1"/>
              </a:buClr>
              <a:buSzPts val="1000"/>
              <a:buFont typeface="Arial"/>
              <a:buChar char="•"/>
            </a:pPr>
            <a:r>
              <a:rPr lang="fr-FR" sz="1000" b="1">
                <a:solidFill>
                  <a:schemeClr val="dk1"/>
                </a:solidFill>
                <a:cs typeface="Arial"/>
              </a:rPr>
              <a:t>Entretiens avec les métiers : </a:t>
            </a:r>
            <a:r>
              <a:rPr lang="fr-FR" sz="1000" i="1">
                <a:solidFill>
                  <a:schemeClr val="dk1"/>
                </a:solidFill>
                <a:cs typeface="Arial"/>
              </a:rPr>
              <a:t>Recueil des attentes opérationnelles et de la perception sur les applicatifs SI ; Remise à jour des cartographies fonctionnelles par outil.</a:t>
            </a:r>
          </a:p>
          <a:p>
            <a:pPr marL="176213" indent="-176213">
              <a:lnSpc>
                <a:spcPct val="110000"/>
              </a:lnSpc>
              <a:spcBef>
                <a:spcPts val="300"/>
              </a:spcBef>
              <a:buClr>
                <a:schemeClr val="accent1"/>
              </a:buClr>
              <a:buSzPts val="1000"/>
              <a:buFont typeface="Arial"/>
              <a:buChar char="•"/>
            </a:pPr>
            <a:r>
              <a:rPr lang="fr-FR" sz="1000" b="1">
                <a:solidFill>
                  <a:schemeClr val="dk1"/>
                </a:solidFill>
                <a:cs typeface="Arial"/>
              </a:rPr>
              <a:t>Rencontre avec les éditeurs de logiciels : </a:t>
            </a:r>
            <a:r>
              <a:rPr lang="fr-FR" sz="1000" i="1">
                <a:solidFill>
                  <a:schemeClr val="dk1"/>
                </a:solidFill>
                <a:cs typeface="Arial"/>
              </a:rPr>
              <a:t>Recueil d’information sur l’existant et identification des scénarios d’évolution des applicatifs ; Prise en compte des contraintes d’obsolescence et des recommandations de migration ou de montée de version.</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9CF87CAC-9C92-2FC5-6B8C-703ABC493E7E}"/>
              </a:ext>
            </a:extLst>
          </p:cNvPr>
          <p:cNvSpPr/>
          <p:nvPr/>
        </p:nvSpPr>
        <p:spPr>
          <a:xfrm>
            <a:off x="8391092" y="3714228"/>
            <a:ext cx="3378937" cy="875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Expérience Malakoff Humanis à rédiger</a:t>
            </a:r>
          </a:p>
        </p:txBody>
      </p:sp>
      <p:sp>
        <p:nvSpPr>
          <p:cNvPr id="5" name="ZoneTexte 4">
            <a:extLst>
              <a:ext uri="{FF2B5EF4-FFF2-40B4-BE49-F238E27FC236}">
                <a16:creationId xmlns:a16="http://schemas.microsoft.com/office/drawing/2014/main" id="{CC386B3C-B74D-7877-2C1D-35945C60A9F7}"/>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3370223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Déploiement du processus </a:t>
            </a:r>
            <a:br>
              <a:rPr lang="fr-FR" sz="1200" b="1">
                <a:solidFill>
                  <a:schemeClr val="tx1"/>
                </a:solidFill>
                <a:latin typeface="+mn-lt"/>
              </a:rPr>
            </a:br>
            <a:r>
              <a:rPr lang="fr-FR" sz="1200" b="1">
                <a:solidFill>
                  <a:schemeClr val="tx1"/>
                </a:solidFill>
                <a:latin typeface="+mn-lt"/>
              </a:rPr>
              <a:t>et des outils de Surveillance du portefeuille</a:t>
            </a:r>
          </a:p>
          <a:p>
            <a:endParaRPr lang="fr-F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Confidentiel</a:t>
            </a:r>
            <a:endParaRPr kumimoji="0" lang="fr-FR" sz="1050"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projet + Product </a:t>
            </a:r>
            <a:r>
              <a:rPr kumimoji="0" lang="fr-FR" sz="1050" i="0" u="none" strike="noStrike" kern="1200" cap="none" spc="0" normalizeH="0" baseline="0" noProof="0" err="1">
                <a:ln>
                  <a:noFill/>
                </a:ln>
                <a:solidFill>
                  <a:srgbClr val="313F4F"/>
                </a:solidFill>
                <a:effectLst/>
                <a:uLnTx/>
                <a:uFillTx/>
                <a:latin typeface="Arial" panose="020B0604020202020204"/>
                <a:ea typeface="+mn-ea"/>
                <a:cs typeface="+mn-cs"/>
              </a:rPr>
              <a:t>Owner</a:t>
            </a:r>
            <a:endParaRPr lang="fr-FR" sz="1050" b="1">
              <a:solidFill>
                <a:srgbClr val="313F4F"/>
              </a:solidFill>
              <a:latin typeface="Arial" panose="020B0604020202020204"/>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lang="fr-FR" sz="1050" b="1">
                <a:solidFill>
                  <a:srgbClr val="313F4F"/>
                </a:solidFill>
                <a:latin typeface="Arial" panose="020B0604020202020204"/>
                <a:cs typeface="Arial"/>
              </a:rPr>
              <a:t>Résultat : </a:t>
            </a:r>
            <a:r>
              <a:rPr kumimoji="0" lang="fr-FR" sz="1000" i="0" u="none" strike="noStrike" kern="1200" cap="none" spc="0" normalizeH="0" baseline="0" noProof="0">
                <a:ln>
                  <a:noFill/>
                </a:ln>
                <a:solidFill>
                  <a:srgbClr val="313F4F"/>
                </a:solidFill>
                <a:effectLst/>
                <a:uLnTx/>
                <a:uFillTx/>
                <a:latin typeface="Arial" panose="020B0604020202020204"/>
                <a:ea typeface="+mn-ea"/>
                <a:cs typeface="+mn-cs"/>
              </a:rPr>
              <a:t>Fabrication, validation et déploiement du nouvel outil en soutien du processus de Surveillance</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Analyse des besoins et instruction des fonctionnalités prioritaires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Préparation et animation d’une réunion de débriefing, bilan de l’existant et partage des orientations </a:t>
            </a:r>
            <a:b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b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cibles ; Animation d’entretiens métiers pour le recueil des fonctionnalités ; Élaboration de la cartographie fonctionnelle de l’outil ; Suivi de la priorisation et des arbitrages sur les fonctionnalités « MVP »; Instruction des User Stories.</a:t>
            </a:r>
          </a:p>
          <a:p>
            <a:pPr marL="176213" marR="0" lvl="0" indent="-176213" algn="l" defTabSz="914400" rtl="0" eaLnBrk="1" fontAlgn="auto" latinLnBrk="0" hangingPunct="1">
              <a:lnSpc>
                <a:spcPct val="100000"/>
              </a:lnSpc>
              <a:spcBef>
                <a:spcPts val="0"/>
              </a:spcBef>
              <a:spcAft>
                <a:spcPts val="100"/>
              </a:spcAft>
              <a:buClr>
                <a:srgbClr val="2E88A3"/>
              </a:buClr>
              <a:buSzPct val="100000"/>
              <a:buFont typeface="Arial"/>
              <a:buChar char="•"/>
              <a:tabLst/>
              <a:defRPr/>
            </a:pPr>
            <a:r>
              <a:rPr kumimoji="0" lang="fr-FR" sz="1000" b="1" i="0" u="none" strike="noStrike" kern="1200" cap="none" spc="0" normalizeH="0" baseline="0" noProof="0">
                <a:ln>
                  <a:noFill/>
                </a:ln>
                <a:solidFill>
                  <a:srgbClr val="000000"/>
                </a:solidFill>
                <a:effectLst/>
                <a:uLnTx/>
                <a:uFillTx/>
                <a:latin typeface="Arial" panose="020B0604020202020204"/>
                <a:ea typeface="+mn-ea"/>
                <a:cs typeface="Arial"/>
              </a:rPr>
              <a:t>Pilotage de la phase de Fabrication et de la Recette des User Stories</a:t>
            </a:r>
            <a:r>
              <a:rPr kumimoji="0" lang="fr-FR" sz="1000" b="0" i="0" u="none" strike="noStrike" kern="1200" cap="none" spc="0" normalizeH="0" baseline="0" noProof="0">
                <a:ln>
                  <a:noFill/>
                </a:ln>
                <a:solidFill>
                  <a:srgbClr val="000000"/>
                </a:solidFill>
                <a:effectLst/>
                <a:uLnTx/>
                <a:uFillTx/>
                <a:latin typeface="Arial" panose="020B0604020202020204"/>
                <a:ea typeface="+mn-ea"/>
                <a:cs typeface="Arial"/>
              </a:rPr>
              <a:t> : </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Suivi journalier (</a:t>
            </a:r>
            <a:r>
              <a:rPr kumimoji="0" lang="fr-FR" sz="1000" b="0" i="1" u="none" strike="noStrike" kern="1200" cap="none" spc="0" normalizeH="0" baseline="0" noProof="0" err="1">
                <a:ln>
                  <a:noFill/>
                </a:ln>
                <a:solidFill>
                  <a:srgbClr val="000000"/>
                </a:solidFill>
                <a:effectLst/>
                <a:uLnTx/>
                <a:uFillTx/>
                <a:latin typeface="Arial" panose="020B0604020202020204"/>
                <a:ea typeface="+mn-ea"/>
                <a:cs typeface="Arial"/>
              </a:rPr>
              <a:t>daily</a:t>
            </a:r>
            <a:r>
              <a:rPr kumimoji="0" lang="fr-FR" sz="1000" b="0" i="1" u="none" strike="noStrike" kern="1200" cap="none" spc="0" normalizeH="0" baseline="0" noProof="0">
                <a:ln>
                  <a:noFill/>
                </a:ln>
                <a:solidFill>
                  <a:srgbClr val="000000"/>
                </a:solidFill>
                <a:effectLst/>
                <a:uLnTx/>
                <a:uFillTx/>
                <a:latin typeface="Arial" panose="020B0604020202020204"/>
                <a:ea typeface="+mn-ea"/>
                <a:cs typeface="Arial"/>
              </a:rPr>
              <a:t> meetings) de la Fabrication des US ; Organisation des ateliers de recette et consolidation des retours métiers ; Validation de la couverture fonctionnelle et de l’adéquation avec les besoins exprimés.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Modernisation des outils de gestion des financements structurés : Programme </a:t>
            </a:r>
            <a:r>
              <a:rPr lang="fr-FR" sz="1200" b="1" err="1">
                <a:solidFill>
                  <a:schemeClr val="tx1"/>
                </a:solidFill>
                <a:latin typeface="+mn-lt"/>
              </a:rPr>
              <a:t>Loanscape</a:t>
            </a:r>
            <a:r>
              <a:rPr lang="fr-FR" sz="1200" b="1">
                <a:solidFill>
                  <a:schemeClr val="tx1"/>
                </a:solidFill>
                <a:latin typeface="+mn-lt"/>
              </a:rPr>
              <a:t>, Projet Covenant</a:t>
            </a:r>
          </a:p>
          <a:p>
            <a:endParaRPr lang="fr-F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lang="fr-FR" sz="1050">
                <a:solidFill>
                  <a:srgbClr val="313F4F"/>
                </a:solidFill>
                <a:latin typeface="Arial" panose="020B0604020202020204"/>
              </a:rPr>
              <a:t>Crédit Agricole CIB</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Business </a:t>
            </a:r>
            <a:r>
              <a:rPr kumimoji="0" lang="fr-FR" sz="1050" b="0" i="0" u="none" strike="noStrike" kern="1200" cap="none" spc="0" normalizeH="0" baseline="0" noProof="0" err="1">
                <a:ln>
                  <a:noFill/>
                </a:ln>
                <a:solidFill>
                  <a:srgbClr val="313F4F"/>
                </a:solidFill>
                <a:effectLst/>
                <a:uLnTx/>
                <a:uFillTx/>
                <a:latin typeface="Arial" panose="020B0604020202020204"/>
                <a:ea typeface="+mn-ea"/>
                <a:cs typeface="+mn-cs"/>
              </a:rPr>
              <a:t>Analyst</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Durée : </a:t>
            </a:r>
            <a:r>
              <a:rPr kumimoji="0" lang="fr-FR" sz="1050" b="0" i="0" u="none" strike="noStrike" kern="1200" cap="none" spc="0" normalizeH="0" baseline="0" noProof="0">
                <a:ln>
                  <a:noFill/>
                </a:ln>
                <a:solidFill>
                  <a:srgbClr val="313F4F"/>
                </a:solidFill>
                <a:effectLst/>
                <a:uLnTx/>
                <a:uFillTx/>
                <a:latin typeface="Arial" panose="020B0604020202020204"/>
                <a:ea typeface="+mn-ea"/>
                <a:cs typeface="+mn-cs"/>
              </a:rPr>
              <a:t>18 mois</a:t>
            </a: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Arial"/>
            </a:endParaRPr>
          </a:p>
          <a:p>
            <a:pPr marL="0" indent="0">
              <a:lnSpc>
                <a:spcPct val="100000"/>
              </a:lnSpc>
              <a:spcBef>
                <a:spcPts val="0"/>
              </a:spcBef>
              <a:spcAft>
                <a:spcPts val="100"/>
              </a:spcAft>
              <a:buClrTx/>
              <a:buSzPct val="100000"/>
              <a:buNone/>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Arial"/>
              </a:rPr>
              <a:t>Résultat : </a:t>
            </a:r>
            <a:r>
              <a:rPr lang="fr-FR" sz="1000">
                <a:solidFill>
                  <a:schemeClr val="accent1"/>
                </a:solidFill>
              </a:rPr>
              <a:t>Conception, fabrication et déploiement du nouvel outil de gestion des convenants bancaires</a:t>
            </a:r>
            <a:endParaRPr kumimoji="0" lang="fr-FR" sz="1000" b="0" i="0" u="none" strike="noStrike" kern="1200" cap="none" spc="0" normalizeH="0" baseline="0" noProof="0">
              <a:ln>
                <a:noFill/>
              </a:ln>
              <a:solidFill>
                <a:srgbClr val="000000"/>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b="1"/>
              <a:t>Diagnostic et analyse d’écarts :</a:t>
            </a:r>
            <a:r>
              <a:rPr lang="fr-FR" altLang="de-DE" sz="900" b="1" i="1"/>
              <a:t> </a:t>
            </a:r>
            <a:r>
              <a:rPr lang="fr-FR" altLang="de-DE" sz="1000" i="1"/>
              <a:t>Diagnostic du fonctionnement des entités internationales, Analyse des écarts avec la cible (Target Operating Model), Validation de la solution technique</a:t>
            </a:r>
          </a:p>
          <a:p>
            <a:pPr marL="176213" indent="-176213">
              <a:lnSpc>
                <a:spcPct val="110000"/>
              </a:lnSpc>
              <a:spcBef>
                <a:spcPts val="300"/>
              </a:spcBef>
              <a:buClr>
                <a:schemeClr val="accent1"/>
              </a:buClr>
              <a:buSzPts val="1000"/>
              <a:buFont typeface="Arial"/>
              <a:buChar char="•"/>
            </a:pPr>
            <a:r>
              <a:rPr lang="fr-FR" altLang="de-DE" sz="1000" b="1"/>
              <a:t>Etude détaillée : </a:t>
            </a:r>
            <a:r>
              <a:rPr lang="fr-FR" altLang="de-DE" sz="1000" i="1"/>
              <a:t>Conception des processus cibles et validation avec les métiers, Conception du modèle de données, Identification des principales fonctionnalités et adhérences, Lotissement de la Fabrication (Story </a:t>
            </a:r>
            <a:r>
              <a:rPr lang="fr-FR" altLang="de-DE" sz="1000" i="1" err="1"/>
              <a:t>Map</a:t>
            </a:r>
            <a:r>
              <a:rPr lang="fr-FR" altLang="de-DE" sz="1000" i="1"/>
              <a:t>)</a:t>
            </a:r>
          </a:p>
          <a:p>
            <a:pPr marL="176213" indent="-176213">
              <a:lnSpc>
                <a:spcPct val="110000"/>
              </a:lnSpc>
              <a:spcBef>
                <a:spcPts val="300"/>
              </a:spcBef>
              <a:buClr>
                <a:schemeClr val="accent1"/>
              </a:buClr>
              <a:buSzPts val="1000"/>
              <a:buFont typeface="Arial"/>
              <a:buChar char="•"/>
            </a:pPr>
            <a:r>
              <a:rPr lang="fr-FR" sz="1000" b="1"/>
              <a:t>Conception Générale : </a:t>
            </a:r>
            <a:r>
              <a:rPr lang="fr-FR" sz="1000" i="1"/>
              <a:t>Définition des parcours utilisateurs (UX), Co-construction et validation des écrans et règles de gestion avec les Référents Métiers (BCM), Validation du périmètre et planning de développements du Lot 1</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Support à l’optimisation et à l’automatisation du service Support aux Investissements</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CNP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processus métiers et analyste fonctionnel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3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Étude et cadrage de 3 chantiers au service de l’industrialisation des processus de support des investissements et de gestion des risques</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900" b="1">
                <a:solidFill>
                  <a:schemeClr val="dk1"/>
                </a:solidFill>
                <a:cs typeface="Arial"/>
              </a:rPr>
              <a:t>Etude d’opportunité sur l’automatisation du process de délégation des investissements : </a:t>
            </a:r>
            <a:r>
              <a:rPr lang="fr-FR" sz="900">
                <a:solidFill>
                  <a:schemeClr val="dk1"/>
                </a:solidFill>
                <a:cs typeface="Arial"/>
              </a:rPr>
              <a:t>diagnostic du processus et des outils existants ; étude de la qualité des données et qualification du ROI potentiel ; arbitrage du chantier en présence des métiers et des référents SI</a:t>
            </a:r>
          </a:p>
          <a:p>
            <a:pPr marL="176213" indent="-176213">
              <a:lnSpc>
                <a:spcPct val="110000"/>
              </a:lnSpc>
              <a:spcBef>
                <a:spcPts val="300"/>
              </a:spcBef>
              <a:buClr>
                <a:schemeClr val="accent1"/>
              </a:buClr>
              <a:buSzPts val="1000"/>
              <a:buFont typeface="Arial"/>
              <a:buChar char="•"/>
            </a:pPr>
            <a:r>
              <a:rPr lang="fr-FR" sz="900" b="1">
                <a:solidFill>
                  <a:schemeClr val="dk1"/>
                </a:solidFill>
                <a:cs typeface="Arial"/>
              </a:rPr>
              <a:t>Diagnostic du processus de suivi des risques opérationnels (ROCI) : </a:t>
            </a:r>
            <a:r>
              <a:rPr lang="fr-FR" sz="900">
                <a:solidFill>
                  <a:schemeClr val="dk1"/>
                </a:solidFill>
                <a:cs typeface="Arial"/>
              </a:rPr>
              <a:t>analyse du processus et des outils existants ; identification de pistes d’améliorations pour un suivi unifié des risques, des contrôles et des incidents avec le département de Contrôle Interne ; industrialisation de la préparation des campagnes semestrielles d’auto-évaluation.</a:t>
            </a:r>
          </a:p>
          <a:p>
            <a:pPr marL="176213" indent="-176213">
              <a:lnSpc>
                <a:spcPct val="110000"/>
              </a:lnSpc>
              <a:spcBef>
                <a:spcPts val="300"/>
              </a:spcBef>
              <a:buClr>
                <a:schemeClr val="accent1"/>
              </a:buClr>
              <a:buSzPts val="1000"/>
              <a:buFont typeface="Arial"/>
              <a:buChar char="•"/>
            </a:pPr>
            <a:r>
              <a:rPr lang="fr-FR" sz="900" b="1">
                <a:solidFill>
                  <a:schemeClr val="dk1"/>
                </a:solidFill>
                <a:cs typeface="Arial"/>
              </a:rPr>
              <a:t>Refonte de la « </a:t>
            </a:r>
            <a:r>
              <a:rPr lang="fr-FR" sz="900" b="1" err="1">
                <a:solidFill>
                  <a:schemeClr val="dk1"/>
                </a:solidFill>
                <a:cs typeface="Arial"/>
              </a:rPr>
              <a:t>contrathèque</a:t>
            </a:r>
            <a:r>
              <a:rPr lang="fr-FR" sz="900" b="1">
                <a:solidFill>
                  <a:schemeClr val="dk1"/>
                </a:solidFill>
                <a:cs typeface="Arial"/>
              </a:rPr>
              <a:t> » : </a:t>
            </a:r>
            <a:r>
              <a:rPr lang="fr-FR" sz="900">
                <a:solidFill>
                  <a:schemeClr val="dk1"/>
                </a:solidFill>
                <a:cs typeface="Arial"/>
              </a:rPr>
              <a:t>étude des besoins et rédaction du cahier des charges ; maquettage des nouveaux espaces de stockage des contrats ; planification et lancement du chantier de refonte.</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31E0F27-0BE3-3158-3E79-3EF6634E9143}"/>
              </a:ext>
            </a:extLst>
          </p:cNvPr>
          <p:cNvSpPr/>
          <p:nvPr/>
        </p:nvSpPr>
        <p:spPr>
          <a:xfrm>
            <a:off x="1294213" y="3051434"/>
            <a:ext cx="4801784" cy="875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Expériences Covéa DAV à réintégrer (LCB-FT + RGPD)</a:t>
            </a:r>
          </a:p>
        </p:txBody>
      </p:sp>
      <p:sp>
        <p:nvSpPr>
          <p:cNvPr id="2" name="ZoneTexte 1">
            <a:extLst>
              <a:ext uri="{FF2B5EF4-FFF2-40B4-BE49-F238E27FC236}">
                <a16:creationId xmlns:a16="http://schemas.microsoft.com/office/drawing/2014/main" id="{6A118943-13A1-855C-17EA-357AEF350505}"/>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2651000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Étude du schéma directeur SI métier</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systèmes d’information</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3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Restitution du Schéma Directeur SI, comprenant la trajectoire SI et la feuille de route des travaux 2019 - 2020</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Analyse de l’existant : </a:t>
            </a:r>
            <a:r>
              <a:rPr lang="fr-FR" sz="900" i="1"/>
              <a:t>Plan informatique 2019 ; Documentation applicative ; Éléments d’infrastructure (obsolescence, contraintes techniques, adhérences)</a:t>
            </a:r>
            <a:r>
              <a:rPr lang="fr-FR" sz="900"/>
              <a:t>.</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Entretiens avec les métiers : </a:t>
            </a:r>
            <a:r>
              <a:rPr lang="fr-FR" sz="900" i="1"/>
              <a:t>Recueil des attentes opérationnelles et de la perception sur les applicatifs SI ; Remise à jour des cartographies fonctionnelles par outil.</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Rencontre avec les éditeurs de logiciels : </a:t>
            </a:r>
            <a:r>
              <a:rPr lang="fr-FR" sz="900" i="1"/>
              <a:t>Recueil d’information sur l’existant et identification des scénarios d’évolution des applicatifs ; Prise en compte des contraintes d’obsolescence et des recommandations de migration ou de montée de version.</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900" b="1"/>
              <a:t>Co-construction de la trajectoire SI : </a:t>
            </a:r>
            <a:r>
              <a:rPr lang="fr-FR" sz="900" i="1"/>
              <a:t>Construction d’arbres de décision sur les travaux à mener par application ; Priorisation, arbitrage et validation de la feuille de route avec le pôle SI.</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Accompagnement au déploiement </a:t>
            </a:r>
            <a:br>
              <a:rPr lang="fr-FR" sz="1200" b="1">
                <a:solidFill>
                  <a:schemeClr val="tx1"/>
                </a:solidFill>
                <a:latin typeface="+mn-lt"/>
              </a:rPr>
            </a:br>
            <a:r>
              <a:rPr lang="fr-FR" sz="1200" b="1">
                <a:solidFill>
                  <a:schemeClr val="tx1"/>
                </a:solidFill>
                <a:latin typeface="+mn-lt"/>
              </a:rPr>
              <a:t>du schéma directeur du SI métier</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chantier SDSI</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5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Lancement et mise en œuvre des chantiers prioritaires du SDSI, permettant d’engager une dynamique de transformation du SI</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900" b="1"/>
              <a:t>Cadrage des chantiers SDSI : </a:t>
            </a:r>
            <a:r>
              <a:rPr lang="fr-FR" altLang="de-DE" sz="900" i="1"/>
              <a:t>Étude et cadrage du périmètre, des aspects techniques / fonctionnels et des impacts budgétaires ; Planification des chantiers.</a:t>
            </a:r>
          </a:p>
          <a:p>
            <a:pPr marL="176213" indent="-176213">
              <a:lnSpc>
                <a:spcPct val="110000"/>
              </a:lnSpc>
              <a:spcBef>
                <a:spcPts val="300"/>
              </a:spcBef>
              <a:buClr>
                <a:schemeClr val="accent1"/>
              </a:buClr>
              <a:buSzPts val="1000"/>
              <a:buFont typeface="Arial"/>
              <a:buChar char="•"/>
            </a:pPr>
            <a:r>
              <a:rPr lang="fr-FR" altLang="de-DE" sz="900" b="1"/>
              <a:t>Coordination avec les parties prenantes hors SI : </a:t>
            </a:r>
            <a:r>
              <a:rPr lang="fr-FR" altLang="de-DE" sz="900" i="1"/>
              <a:t>Identification des ressources clés (métiers, juridique, infogérant, éditeurs de logiciels) ; Suivi de l’avancement des travaux confiés aux éditeurs et à l’infogérant</a:t>
            </a:r>
          </a:p>
          <a:p>
            <a:pPr marL="176213" indent="-176213">
              <a:lnSpc>
                <a:spcPct val="110000"/>
              </a:lnSpc>
              <a:spcBef>
                <a:spcPts val="300"/>
              </a:spcBef>
              <a:buClr>
                <a:schemeClr val="accent1"/>
              </a:buClr>
              <a:buSzPts val="1000"/>
              <a:buFont typeface="Arial"/>
              <a:buChar char="•"/>
            </a:pPr>
            <a:r>
              <a:rPr lang="fr-FR" altLang="de-DE" sz="900" b="1"/>
              <a:t>Pilotage de la mise en œuvre des chantiers : </a:t>
            </a:r>
            <a:r>
              <a:rPr lang="fr-FR" altLang="de-DE" sz="900" i="1"/>
              <a:t>Suivi de l’avancement et du respect des jalons ; Gestion des adhérences avec le Plan Informatique et le Plan Projets Transverses</a:t>
            </a:r>
          </a:p>
          <a:p>
            <a:pPr marL="176213" indent="-176213">
              <a:lnSpc>
                <a:spcPct val="110000"/>
              </a:lnSpc>
              <a:spcBef>
                <a:spcPts val="300"/>
              </a:spcBef>
              <a:buClr>
                <a:schemeClr val="accent1"/>
              </a:buClr>
              <a:buSzPts val="1000"/>
              <a:buFont typeface="Arial"/>
              <a:buChar char="•"/>
            </a:pPr>
            <a:r>
              <a:rPr lang="fr-FR" altLang="de-DE" sz="900" b="1"/>
              <a:t>Lancement de la dynamique de transformation du SI : </a:t>
            </a:r>
            <a:r>
              <a:rPr lang="fr-FR" altLang="de-DE" sz="900" i="1"/>
              <a:t>Formalisation de plans d’actions pour améliorer les modes de fonctionnement et les processus; Communication auprès des métiers et du CODIR sur les évolutions du SI à venir</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Benchmark sur la productivité et l’efficacité des services des établissements </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Chef de chantier et analyste de données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8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Analyse &amp; benchmark interne des activités des établissements bancaires &amp; proposition de pistes d’amélioration de la productivité</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a:t>Préparation de la campagne de référencement des activités</a:t>
            </a:r>
          </a:p>
          <a:p>
            <a:pPr marL="176213" indent="-176213">
              <a:lnSpc>
                <a:spcPct val="110000"/>
              </a:lnSpc>
              <a:spcBef>
                <a:spcPts val="300"/>
              </a:spcBef>
              <a:buClr>
                <a:schemeClr val="accent1"/>
              </a:buClr>
              <a:buSzPts val="1000"/>
              <a:buFont typeface="Arial"/>
              <a:buChar char="•"/>
            </a:pPr>
            <a:r>
              <a:rPr lang="fr-FR" sz="1000"/>
              <a:t>Collecte des données (ETP, indicateurs d’activité)</a:t>
            </a:r>
          </a:p>
          <a:p>
            <a:pPr marL="176213" indent="-176213">
              <a:lnSpc>
                <a:spcPct val="110000"/>
              </a:lnSpc>
              <a:spcBef>
                <a:spcPts val="300"/>
              </a:spcBef>
              <a:buClr>
                <a:schemeClr val="accent1"/>
              </a:buClr>
              <a:buSzPts val="1000"/>
              <a:buFont typeface="Arial"/>
              <a:buChar char="•"/>
            </a:pPr>
            <a:r>
              <a:rPr lang="fr-FR" sz="1000"/>
              <a:t>Analyse qualitative des écarts entre établissements</a:t>
            </a:r>
          </a:p>
          <a:p>
            <a:pPr marL="176213" indent="-176213">
              <a:lnSpc>
                <a:spcPct val="110000"/>
              </a:lnSpc>
              <a:spcBef>
                <a:spcPts val="300"/>
              </a:spcBef>
              <a:buClr>
                <a:schemeClr val="accent1"/>
              </a:buClr>
              <a:buSzPts val="1000"/>
              <a:buFont typeface="Arial"/>
              <a:buChar char="•"/>
            </a:pPr>
            <a:r>
              <a:rPr lang="fr-FR" sz="1000"/>
              <a:t>Fiabilisation des données inter-établissements et traitement des incohérences</a:t>
            </a:r>
          </a:p>
          <a:p>
            <a:pPr marL="176213" indent="-176213">
              <a:lnSpc>
                <a:spcPct val="110000"/>
              </a:lnSpc>
              <a:spcBef>
                <a:spcPts val="300"/>
              </a:spcBef>
              <a:buClr>
                <a:schemeClr val="accent1"/>
              </a:buClr>
              <a:buSzPts val="1000"/>
              <a:buFont typeface="Arial"/>
              <a:buChar char="•"/>
            </a:pPr>
            <a:r>
              <a:rPr lang="fr-FR" sz="1000"/>
              <a:t>Consolidation des résultats fiabilisés par établissement et identification des tendances sur la productivité</a:t>
            </a:r>
          </a:p>
          <a:p>
            <a:pPr marL="176213" indent="-176213">
              <a:lnSpc>
                <a:spcPct val="110000"/>
              </a:lnSpc>
              <a:spcBef>
                <a:spcPts val="300"/>
              </a:spcBef>
              <a:buClr>
                <a:schemeClr val="accent1"/>
              </a:buClr>
              <a:buSzPts val="1000"/>
              <a:buFont typeface="Arial"/>
              <a:buChar char="•"/>
            </a:pPr>
            <a:r>
              <a:rPr lang="fr-FR" sz="1000"/>
              <a:t>Validation des analyses avec les référents métiers par établissement</a:t>
            </a:r>
          </a:p>
          <a:p>
            <a:pPr marL="176213" indent="-176213">
              <a:lnSpc>
                <a:spcPct val="110000"/>
              </a:lnSpc>
              <a:spcBef>
                <a:spcPts val="300"/>
              </a:spcBef>
              <a:buClr>
                <a:schemeClr val="accent1"/>
              </a:buClr>
              <a:buSzPts val="1000"/>
              <a:buFont typeface="Arial"/>
              <a:buChar char="•"/>
            </a:pPr>
            <a:r>
              <a:rPr lang="fr-FR" sz="1000"/>
              <a:t>Restitution des états de synthèse</a:t>
            </a:r>
          </a:p>
          <a:p>
            <a:pPr marL="176213" indent="-176213">
              <a:lnSpc>
                <a:spcPct val="110000"/>
              </a:lnSpc>
              <a:spcBef>
                <a:spcPts val="300"/>
              </a:spcBef>
              <a:buClr>
                <a:schemeClr val="accent1"/>
              </a:buClr>
              <a:buSzPts val="1000"/>
              <a:buFont typeface="Arial"/>
              <a:buChar char="•"/>
            </a:pPr>
            <a:r>
              <a:rPr lang="fr-FR" sz="1000"/>
              <a:t>Retour d’expérience sur les meilleures pratiques d’amélioration de la productivité</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A4576A31-F389-2497-D19B-AB2581E8AC7C}"/>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1122727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Assistance à Maîtrise d’Ouvrage </a:t>
            </a:r>
            <a:br>
              <a:rPr lang="fr-FR" sz="1200" b="1">
                <a:solidFill>
                  <a:schemeClr val="tx1"/>
                </a:solidFill>
                <a:latin typeface="+mn-lt"/>
              </a:rPr>
            </a:br>
            <a:r>
              <a:rPr lang="fr-FR" sz="1200" b="1">
                <a:solidFill>
                  <a:schemeClr val="tx1"/>
                </a:solidFill>
                <a:latin typeface="+mn-lt"/>
              </a:rPr>
              <a:t>sur le lancement d’une nouvelle offre digitale</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Coordinateur du chantier maîtrise d’ouvrage</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3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Rédaction des besoins utilisateurs et accompagnement des métiers dans l’arbitrage et la mise en place des choix UX / UI</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Animation d’ateliers de définition et de challenge des besoins (en présence des experts métiers et fonctionnels ainsi que des référents réseaux de distribution, internet, conformité,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Déclinaison des besoins métiers en évolutions fonctionnelles et arbitrage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Encadrement de la rédaction des spécifications fonctionnelles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Animation d'ateliers de relecture et validation des spécifications avec les experts métiers et fonctionnels auto</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Préparation des stratégies de recette, encadrement de la recette métier</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Refonte de l'offre d’Assurance Auto </a:t>
            </a:r>
            <a:br>
              <a:rPr lang="fr-FR" sz="1200" b="1">
                <a:solidFill>
                  <a:schemeClr val="tx1"/>
                </a:solidFill>
                <a:latin typeface="+mn-lt"/>
              </a:rPr>
            </a:br>
            <a:r>
              <a:rPr lang="fr-FR" sz="1200" b="1">
                <a:solidFill>
                  <a:schemeClr val="tx1"/>
                </a:solidFill>
                <a:latin typeface="+mn-lt"/>
              </a:rPr>
              <a:t>&amp; internalisation des activités</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Natixis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Assistant chef de projet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Production du Livrable Unique de conception de la nouvelle offre Auto</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a:t>Pilotage des actions, synchronisation des décisions et apport de visibilité sur l’avancement du livrable unique (lotissement des travaux par thème)</a:t>
            </a:r>
          </a:p>
          <a:p>
            <a:pPr marL="176213" indent="-176213">
              <a:lnSpc>
                <a:spcPct val="110000"/>
              </a:lnSpc>
              <a:spcBef>
                <a:spcPts val="300"/>
              </a:spcBef>
              <a:buClr>
                <a:schemeClr val="accent1"/>
              </a:buClr>
              <a:buSzPts val="1000"/>
              <a:buFont typeface="Arial"/>
              <a:buChar char="•"/>
            </a:pPr>
            <a:r>
              <a:rPr lang="fr-FR" altLang="de-DE" sz="1000"/>
              <a:t>Animation de la gouvernance et des instances projet (ateliers, COPROJ, COCOORD, COPIL et communication avec les directeurs)</a:t>
            </a:r>
          </a:p>
          <a:p>
            <a:pPr marL="176213" indent="-176213">
              <a:lnSpc>
                <a:spcPct val="110000"/>
              </a:lnSpc>
              <a:spcBef>
                <a:spcPts val="300"/>
              </a:spcBef>
              <a:buClr>
                <a:schemeClr val="accent1"/>
              </a:buClr>
              <a:buSzPts val="1000"/>
              <a:buFont typeface="Arial"/>
              <a:buChar char="•"/>
            </a:pPr>
            <a:r>
              <a:rPr lang="fr-FR" altLang="de-DE" sz="1000"/>
              <a:t>Amélioration de l’efficacité du projet grâce au management visuel</a:t>
            </a:r>
          </a:p>
          <a:p>
            <a:pPr marL="176213" indent="-176213">
              <a:lnSpc>
                <a:spcPct val="110000"/>
              </a:lnSpc>
              <a:spcBef>
                <a:spcPts val="300"/>
              </a:spcBef>
              <a:buClr>
                <a:schemeClr val="accent1"/>
              </a:buClr>
              <a:buSzPts val="1000"/>
              <a:buFont typeface="Arial"/>
              <a:buChar char="•"/>
            </a:pPr>
            <a:r>
              <a:rPr lang="fr-FR" altLang="de-DE" sz="1000"/>
              <a:t>Planification des ateliers et cadencement en fonction des livrables attendus</a:t>
            </a:r>
          </a:p>
          <a:p>
            <a:pPr marL="176213" indent="-176213">
              <a:lnSpc>
                <a:spcPct val="110000"/>
              </a:lnSpc>
              <a:spcBef>
                <a:spcPts val="300"/>
              </a:spcBef>
              <a:buClr>
                <a:schemeClr val="accent1"/>
              </a:buClr>
              <a:buSzPts val="1000"/>
              <a:buFont typeface="Arial"/>
              <a:buChar char="•"/>
            </a:pPr>
            <a:r>
              <a:rPr lang="fr-FR" altLang="de-DE" sz="1000"/>
              <a:t>Sécurisation des jalons importants pour la livraison du livrable unique (contributions des acteurs via les ateliers)</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Appui au cadrage du projet d'accompagnement au changement</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Natixis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accompagnement du changement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6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Cadrage et définition des plans d’actions du projet de conduite du changement (au sein d’un programme de transformation des activités)</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Identification des populations impactées et des principaux faits de changement</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Qualification des impacts et définition des leviers d'accompagnement des populations</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Définition des indicateurs de mesure de l'appropriation au changement (communication, formation, ...)</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Préparation des dispositifs d'accompagnement et de suivi du déploiement </a:t>
            </a:r>
          </a:p>
          <a:p>
            <a:pPr marL="176213" indent="-176213">
              <a:lnSpc>
                <a:spcPct val="110000"/>
              </a:lnSpc>
              <a:spcBef>
                <a:spcPts val="300"/>
              </a:spcBef>
              <a:buClr>
                <a:schemeClr val="accent1"/>
              </a:buClr>
              <a:buSzPts val="1000"/>
              <a:buFont typeface="Arial"/>
              <a:buChar char="•"/>
            </a:pPr>
            <a:r>
              <a:rPr lang="fr-FR" sz="1000">
                <a:solidFill>
                  <a:schemeClr val="dk1"/>
                </a:solidFill>
                <a:cs typeface="Arial"/>
              </a:rPr>
              <a:t>Dimensionnement des actions d'accompagnement et budgets prévisionnels 2018-2020</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9C3B76AC-82E9-52F9-3132-E72DD645444F}"/>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775326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Étude de financement des initiatives </a:t>
            </a:r>
            <a:br>
              <a:rPr lang="fr-FR" sz="1200" b="1">
                <a:solidFill>
                  <a:schemeClr val="tx1"/>
                </a:solidFill>
                <a:latin typeface="+mn-lt"/>
              </a:rPr>
            </a:br>
            <a:r>
              <a:rPr lang="fr-FR" sz="1200" b="1">
                <a:solidFill>
                  <a:schemeClr val="tx1"/>
                </a:solidFill>
                <a:latin typeface="+mn-lt"/>
              </a:rPr>
              <a:t>en faveur de la Transition Énergétique</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Agence Régionale des Pays de la Loire</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Analyste technologique et financier</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5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Dossier de création et de financement d’une structure régionale de financement et de soutien aux projets en faveur de la Transition Énergétique</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Recensement et analyse des initiatives en cours sur le territoire des Pays de la Loire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Identification et évaluation des nouvelles pistes (moyens de production et d’économie d’énergie)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Élaboration de scénarios de soutien à la Transition Énergétique (évaluation financière et technologique des projets) et présentation d’un dossier de choix pour arbitrage de la Région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Proposition d’un business modèle et de leviers de financement pour le financement des projets en faveur de la TEE (outil régional d’investissement en partenariat avec les entreprises et acteurs institutionnels).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Diagnostic des processus de la chaîne logistique (achats, stocks, expéditions)</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Confidentiel</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processus métiers et analyste de données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2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Valorisation des enjeux et des axes de travail pour améliorer l’efficacité de la chaîne logistique</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900"/>
              <a:t>Interviews des acteurs de la chaîne logistique</a:t>
            </a:r>
          </a:p>
          <a:p>
            <a:pPr marL="176213" indent="-176213">
              <a:lnSpc>
                <a:spcPct val="110000"/>
              </a:lnSpc>
              <a:spcBef>
                <a:spcPts val="300"/>
              </a:spcBef>
              <a:buClr>
                <a:schemeClr val="accent1"/>
              </a:buClr>
              <a:buSzPts val="1000"/>
              <a:buFont typeface="Arial"/>
              <a:buChar char="•"/>
            </a:pPr>
            <a:r>
              <a:rPr lang="fr-FR" altLang="de-DE" sz="900"/>
              <a:t>Diagnostic des processus et des flux d’information de la chaîne logistique (achats de matières premières, gestion des approvisionnements, expéditions produits finis)</a:t>
            </a:r>
          </a:p>
          <a:p>
            <a:pPr marL="176213" indent="-176213">
              <a:lnSpc>
                <a:spcPct val="110000"/>
              </a:lnSpc>
              <a:spcBef>
                <a:spcPts val="300"/>
              </a:spcBef>
              <a:buClr>
                <a:schemeClr val="accent1"/>
              </a:buClr>
              <a:buSzPts val="1000"/>
              <a:buFont typeface="Arial"/>
              <a:buChar char="•"/>
            </a:pPr>
            <a:r>
              <a:rPr lang="fr-FR" altLang="de-DE" sz="900"/>
              <a:t>Recueil et analyse des données de fonctionnement usine et de la performance des services (analyse des KPI logistique)</a:t>
            </a:r>
          </a:p>
          <a:p>
            <a:pPr marL="176213" indent="-176213">
              <a:lnSpc>
                <a:spcPct val="110000"/>
              </a:lnSpc>
              <a:spcBef>
                <a:spcPts val="300"/>
              </a:spcBef>
              <a:buClr>
                <a:schemeClr val="accent1"/>
              </a:buClr>
              <a:buSzPts val="1000"/>
              <a:buFont typeface="Arial"/>
              <a:buChar char="•"/>
            </a:pPr>
            <a:r>
              <a:rPr lang="fr-FR" altLang="de-DE" sz="900"/>
              <a:t>Benchmark des modes de fonctionnement et identification des principaux axes d’optimisation de la chaîne logistique</a:t>
            </a:r>
          </a:p>
          <a:p>
            <a:pPr marL="176213" indent="-176213">
              <a:lnSpc>
                <a:spcPct val="110000"/>
              </a:lnSpc>
              <a:spcBef>
                <a:spcPts val="300"/>
              </a:spcBef>
              <a:buClr>
                <a:schemeClr val="accent1"/>
              </a:buClr>
              <a:buSzPts val="1000"/>
              <a:buFont typeface="Arial"/>
              <a:buChar char="•"/>
            </a:pPr>
            <a:r>
              <a:rPr lang="fr-FR" altLang="de-DE" sz="900"/>
              <a:t>Mise en perspective des recommandations avec les orientations stratégiques de l’entreprise</a:t>
            </a:r>
          </a:p>
          <a:p>
            <a:pPr marL="176213" indent="-176213">
              <a:lnSpc>
                <a:spcPct val="110000"/>
              </a:lnSpc>
              <a:spcBef>
                <a:spcPts val="300"/>
              </a:spcBef>
              <a:buClr>
                <a:schemeClr val="accent1"/>
              </a:buClr>
              <a:buSzPts val="1000"/>
              <a:buFont typeface="Arial"/>
              <a:buChar char="•"/>
            </a:pPr>
            <a:r>
              <a:rPr lang="fr-FR" altLang="de-DE" sz="900"/>
              <a:t>Identification des enjeux et des axes d’optimisation de la chaîne logistique (valorisation des enjeux en k€)</a:t>
            </a:r>
          </a:p>
          <a:p>
            <a:pPr marL="176213" indent="-176213">
              <a:lnSpc>
                <a:spcPct val="110000"/>
              </a:lnSpc>
              <a:spcBef>
                <a:spcPts val="300"/>
              </a:spcBef>
              <a:buClr>
                <a:schemeClr val="accent1"/>
              </a:buClr>
              <a:buSzPts val="1000"/>
              <a:buFont typeface="Arial"/>
              <a:buChar char="•"/>
            </a:pPr>
            <a:r>
              <a:rPr lang="fr-FR" altLang="de-DE" sz="900"/>
              <a:t>Construction d’une démarche d’optimisation de la chaîne logistique et déclinaison des axes en plans d’action</a:t>
            </a:r>
            <a:endParaRPr lang="fr-FR" altLang="de-DE" sz="1000"/>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64F96A02-A41B-70A9-9BF3-FE009E6D8E64}"/>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2727255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t 12" hidden="1">
            <a:extLst>
              <a:ext uri="{FF2B5EF4-FFF2-40B4-BE49-F238E27FC236}">
                <a16:creationId xmlns:a16="http://schemas.microsoft.com/office/drawing/2014/main" id="{154FE5E3-2E06-798A-7E24-9DD39D861E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06" imgH="306" progId="TCLayout.ActiveDocument.1">
                  <p:embed/>
                </p:oleObj>
              </mc:Choice>
              <mc:Fallback>
                <p:oleObj name="Diapositive think-cell" r:id="rId4" imgW="306" imgH="306" progId="TCLayout.ActiveDocument.1">
                  <p:embed/>
                  <p:pic>
                    <p:nvPicPr>
                      <p:cNvPr id="13" name="Objet 12" hidden="1">
                        <a:extLst>
                          <a:ext uri="{FF2B5EF4-FFF2-40B4-BE49-F238E27FC236}">
                            <a16:creationId xmlns:a16="http://schemas.microsoft.com/office/drawing/2014/main" id="{154FE5E3-2E06-798A-7E24-9DD39D861E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4AF03BFF-719B-4AA4-6B5E-1D57D1C53E7F}"/>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D1EF97A6-CCB8-50A9-97A5-0972965908F5}"/>
              </a:ext>
            </a:extLst>
          </p:cNvPr>
          <p:cNvSpPr>
            <a:spLocks noGrp="1"/>
          </p:cNvSpPr>
          <p:nvPr>
            <p:ph type="sldNum" sz="quarter" idx="11"/>
          </p:nvPr>
        </p:nvSpPr>
        <p:spPr/>
        <p:txBody>
          <a:bodyPr/>
          <a:lstStyle/>
          <a:p>
            <a:fld id="{BE9517EC-C298-4848-B090-11602D956FCE}" type="slidenum">
              <a:rPr lang="fr-FR" smtClean="0"/>
              <a:pPr/>
              <a:t>9</a:t>
            </a:fld>
            <a:endParaRPr lang="fr-FR"/>
          </a:p>
        </p:txBody>
      </p:sp>
      <p:sp>
        <p:nvSpPr>
          <p:cNvPr id="8" name="Espace réservé du texte 7">
            <a:extLst>
              <a:ext uri="{FF2B5EF4-FFF2-40B4-BE49-F238E27FC236}">
                <a16:creationId xmlns:a16="http://schemas.microsoft.com/office/drawing/2014/main" id="{B3273448-E439-142A-FAF9-BB4942031CFF}"/>
              </a:ext>
            </a:extLst>
          </p:cNvPr>
          <p:cNvSpPr>
            <a:spLocks noGrp="1"/>
          </p:cNvSpPr>
          <p:nvPr>
            <p:ph type="body" sz="quarter" idx="14"/>
          </p:nvPr>
        </p:nvSpPr>
        <p:spPr>
          <a:xfrm>
            <a:off x="380997" y="1542295"/>
            <a:ext cx="3660061" cy="594937"/>
          </a:xfrm>
        </p:spPr>
        <p:txBody>
          <a:bodyPr/>
          <a:lstStyle/>
          <a:p>
            <a:r>
              <a:rPr lang="fr-FR" sz="1200" b="1">
                <a:solidFill>
                  <a:schemeClr val="tx1"/>
                </a:solidFill>
                <a:latin typeface="+mn-lt"/>
              </a:rPr>
              <a:t>Accompagnement au Pilotage </a:t>
            </a:r>
            <a:br>
              <a:rPr lang="fr-FR" sz="1200" b="1">
                <a:solidFill>
                  <a:schemeClr val="tx1"/>
                </a:solidFill>
                <a:latin typeface="+mn-lt"/>
              </a:rPr>
            </a:br>
            <a:r>
              <a:rPr lang="fr-FR" sz="1200" b="1">
                <a:solidFill>
                  <a:schemeClr val="tx1"/>
                </a:solidFill>
                <a:latin typeface="+mn-lt"/>
              </a:rPr>
              <a:t>du Programme @MAAF</a:t>
            </a:r>
          </a:p>
        </p:txBody>
      </p:sp>
      <p:sp>
        <p:nvSpPr>
          <p:cNvPr id="7" name="Espace réservé du contenu 6">
            <a:extLst>
              <a:ext uri="{FF2B5EF4-FFF2-40B4-BE49-F238E27FC236}">
                <a16:creationId xmlns:a16="http://schemas.microsoft.com/office/drawing/2014/main" id="{8A72A9CA-3BA6-CAB8-CFF5-DF0F1FD7BF1D}"/>
              </a:ext>
            </a:extLst>
          </p:cNvPr>
          <p:cNvSpPr>
            <a:spLocks noGrp="1"/>
          </p:cNvSpPr>
          <p:nvPr>
            <p:ph sz="quarter" idx="12"/>
          </p:nvPr>
        </p:nvSpPr>
        <p:spPr>
          <a:xfrm>
            <a:off x="380997" y="2300747"/>
            <a:ext cx="3660061" cy="3876213"/>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Assistant au pilotage du programme  (PMO)</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2 ans ½</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Accompagnement à la coordination et au pilotage des projets du programme @MAAF (transformation digitale)</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Mise en place et animation d'une salle de Management Visuel (</a:t>
            </a:r>
            <a:r>
              <a:rPr lang="fr-FR" sz="1000" err="1"/>
              <a:t>Obeya</a:t>
            </a:r>
            <a:r>
              <a:rPr lang="fr-FR" sz="1000"/>
              <a:t>)</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Suivi des budgets en euros et en </a:t>
            </a:r>
            <a:r>
              <a:rPr lang="fr-FR" sz="1000" err="1"/>
              <a:t>jours.hommes</a:t>
            </a:r>
            <a:r>
              <a:rPr lang="fr-FR" sz="1000"/>
              <a:t>, consolidation des </a:t>
            </a:r>
            <a:r>
              <a:rPr lang="fr-FR" sz="1000" err="1"/>
              <a:t>reportings</a:t>
            </a:r>
            <a:r>
              <a:rPr lang="fr-FR" sz="1000"/>
              <a:t> projets et préparation des instances </a:t>
            </a:r>
            <a:r>
              <a:rPr lang="fr-FR" sz="1000" err="1"/>
              <a:t>CoPil</a:t>
            </a:r>
            <a:r>
              <a:rPr lang="fr-FR" sz="1000"/>
              <a:t> et </a:t>
            </a:r>
            <a:r>
              <a:rPr lang="fr-FR" sz="1000" err="1"/>
              <a:t>CoCoord</a:t>
            </a:r>
            <a:r>
              <a:rPr lang="fr-FR" sz="1000"/>
              <a:t>.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Préparation et suivi de la feuille de route annuelle (recueil des sujets, arbitrages, définition des budgets projets, préparation des arbitrages...)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00"/>
              <a:t>Assistance aux porteurs de projets et aux managers d’équipe sur la gestion des plans de charge projets et collaborateurs</a:t>
            </a:r>
          </a:p>
        </p:txBody>
      </p:sp>
      <p:sp>
        <p:nvSpPr>
          <p:cNvPr id="9" name="Espace réservé du texte 8">
            <a:extLst>
              <a:ext uri="{FF2B5EF4-FFF2-40B4-BE49-F238E27FC236}">
                <a16:creationId xmlns:a16="http://schemas.microsoft.com/office/drawing/2014/main" id="{37408470-24AB-C55A-8083-DE43CFDB53D3}"/>
              </a:ext>
            </a:extLst>
          </p:cNvPr>
          <p:cNvSpPr>
            <a:spLocks noGrp="1"/>
          </p:cNvSpPr>
          <p:nvPr>
            <p:ph type="body" sz="quarter" idx="15"/>
          </p:nvPr>
        </p:nvSpPr>
        <p:spPr>
          <a:xfrm>
            <a:off x="4265967" y="1542296"/>
            <a:ext cx="3660061" cy="594936"/>
          </a:xfrm>
        </p:spPr>
        <p:txBody>
          <a:bodyPr/>
          <a:lstStyle/>
          <a:p>
            <a:r>
              <a:rPr lang="fr-FR" sz="1200" b="1">
                <a:solidFill>
                  <a:schemeClr val="tx1"/>
                </a:solidFill>
                <a:latin typeface="+mn-lt"/>
              </a:rPr>
              <a:t>Diagnostic de la gouvernance</a:t>
            </a:r>
            <a:br>
              <a:rPr lang="fr-FR" sz="1200" b="1">
                <a:solidFill>
                  <a:schemeClr val="tx1"/>
                </a:solidFill>
                <a:latin typeface="+mn-lt"/>
              </a:rPr>
            </a:br>
            <a:r>
              <a:rPr lang="fr-FR" sz="1200" b="1">
                <a:solidFill>
                  <a:schemeClr val="tx1"/>
                </a:solidFill>
                <a:latin typeface="+mn-lt"/>
              </a:rPr>
              <a:t>du Programme @MAAF</a:t>
            </a:r>
          </a:p>
        </p:txBody>
      </p:sp>
      <p:sp>
        <p:nvSpPr>
          <p:cNvPr id="10" name="Espace réservé du contenu 9">
            <a:extLst>
              <a:ext uri="{FF2B5EF4-FFF2-40B4-BE49-F238E27FC236}">
                <a16:creationId xmlns:a16="http://schemas.microsoft.com/office/drawing/2014/main" id="{DB58F878-5212-311A-41B2-22781D0C7988}"/>
              </a:ext>
            </a:extLst>
          </p:cNvPr>
          <p:cNvSpPr>
            <a:spLocks noGrp="1"/>
          </p:cNvSpPr>
          <p:nvPr>
            <p:ph sz="quarter" idx="16"/>
          </p:nvPr>
        </p:nvSpPr>
        <p:spPr>
          <a:xfrm>
            <a:off x="426596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Consultant organisation et management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4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Diagnostic de l’organisation et de la gouvernance du Programme au regard des orientations stratégiques et des enjeux</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altLang="de-DE" sz="1000"/>
              <a:t>Synthèse analytique du portefeuille projet et des indicateurs de pilotage sur les trois années précédentes</a:t>
            </a:r>
          </a:p>
          <a:p>
            <a:pPr marL="176213" indent="-176213">
              <a:lnSpc>
                <a:spcPct val="110000"/>
              </a:lnSpc>
              <a:spcBef>
                <a:spcPts val="300"/>
              </a:spcBef>
              <a:buClr>
                <a:schemeClr val="accent1"/>
              </a:buClr>
              <a:buSzPts val="1000"/>
              <a:buFont typeface="Arial"/>
              <a:buChar char="•"/>
            </a:pPr>
            <a:r>
              <a:rPr lang="fr-FR" altLang="de-DE" sz="1000"/>
              <a:t>Diagnostic de l'alignement des projets aux besoins métiers</a:t>
            </a:r>
          </a:p>
          <a:p>
            <a:pPr marL="176213" indent="-176213">
              <a:lnSpc>
                <a:spcPct val="110000"/>
              </a:lnSpc>
              <a:spcBef>
                <a:spcPts val="300"/>
              </a:spcBef>
              <a:buClr>
                <a:schemeClr val="accent1"/>
              </a:buClr>
              <a:buSzPts val="1000"/>
              <a:buFont typeface="Arial"/>
              <a:buChar char="•"/>
            </a:pPr>
            <a:r>
              <a:rPr lang="fr-FR" altLang="de-DE" sz="1000"/>
              <a:t>Présentation synthétique des recommandations (organisation, sponsoring des projets, méthodologies de gestion des projets)</a:t>
            </a:r>
          </a:p>
          <a:p>
            <a:pPr marL="176213" indent="-176213">
              <a:lnSpc>
                <a:spcPct val="110000"/>
              </a:lnSpc>
              <a:spcBef>
                <a:spcPts val="300"/>
              </a:spcBef>
              <a:buClr>
                <a:schemeClr val="accent1"/>
              </a:buClr>
              <a:buSzPts val="1000"/>
              <a:buFont typeface="Arial"/>
              <a:buChar char="•"/>
            </a:pPr>
            <a:r>
              <a:rPr lang="fr-FR" altLang="de-DE" sz="1000"/>
              <a:t>Atelier de définition des principes structurants et construction des nouveaux fonctionnements</a:t>
            </a:r>
          </a:p>
          <a:p>
            <a:pPr marL="176213" indent="-176213">
              <a:lnSpc>
                <a:spcPct val="110000"/>
              </a:lnSpc>
              <a:spcBef>
                <a:spcPts val="300"/>
              </a:spcBef>
              <a:buClr>
                <a:schemeClr val="accent1"/>
              </a:buClr>
              <a:buSzPts val="1000"/>
              <a:buFont typeface="Arial"/>
              <a:buChar char="•"/>
            </a:pPr>
            <a:r>
              <a:rPr lang="fr-FR" altLang="de-DE" sz="1000"/>
              <a:t>Définition d’un plan de mise en œuvre des nouveaux modes de fonctionnement</a:t>
            </a:r>
          </a:p>
        </p:txBody>
      </p:sp>
      <p:sp>
        <p:nvSpPr>
          <p:cNvPr id="11" name="Espace réservé du texte 10">
            <a:extLst>
              <a:ext uri="{FF2B5EF4-FFF2-40B4-BE49-F238E27FC236}">
                <a16:creationId xmlns:a16="http://schemas.microsoft.com/office/drawing/2014/main" id="{9484B24D-E75F-039A-AB56-331EB02FF9FE}"/>
              </a:ext>
            </a:extLst>
          </p:cNvPr>
          <p:cNvSpPr>
            <a:spLocks noGrp="1"/>
          </p:cNvSpPr>
          <p:nvPr>
            <p:ph type="body" sz="quarter" idx="17"/>
          </p:nvPr>
        </p:nvSpPr>
        <p:spPr>
          <a:xfrm>
            <a:off x="8150938" y="1542296"/>
            <a:ext cx="3660061" cy="594934"/>
          </a:xfrm>
        </p:spPr>
        <p:txBody>
          <a:bodyPr/>
          <a:lstStyle/>
          <a:p>
            <a:r>
              <a:rPr lang="fr-FR" sz="1200" b="1">
                <a:solidFill>
                  <a:schemeClr val="tx1"/>
                </a:solidFill>
                <a:latin typeface="+mn-lt"/>
              </a:rPr>
              <a:t>Appui à l’organisation des Back-Offices </a:t>
            </a:r>
            <a:br>
              <a:rPr lang="fr-FR" sz="1200" b="1">
                <a:solidFill>
                  <a:schemeClr val="tx1"/>
                </a:solidFill>
                <a:latin typeface="+mn-lt"/>
              </a:rPr>
            </a:br>
            <a:r>
              <a:rPr lang="fr-FR" sz="1200" b="1">
                <a:solidFill>
                  <a:schemeClr val="tx1"/>
                </a:solidFill>
                <a:latin typeface="+mn-lt"/>
              </a:rPr>
              <a:t>de gestion des sinistres Matériels Auto &amp; IRD</a:t>
            </a:r>
          </a:p>
        </p:txBody>
      </p:sp>
      <p:sp>
        <p:nvSpPr>
          <p:cNvPr id="12" name="Espace réservé du contenu 11">
            <a:extLst>
              <a:ext uri="{FF2B5EF4-FFF2-40B4-BE49-F238E27FC236}">
                <a16:creationId xmlns:a16="http://schemas.microsoft.com/office/drawing/2014/main" id="{26A07D54-0A84-A6FF-436F-FA2E50820FB3}"/>
              </a:ext>
            </a:extLst>
          </p:cNvPr>
          <p:cNvSpPr>
            <a:spLocks noGrp="1"/>
          </p:cNvSpPr>
          <p:nvPr>
            <p:ph sz="quarter" idx="18"/>
          </p:nvPr>
        </p:nvSpPr>
        <p:spPr>
          <a:xfrm>
            <a:off x="8150938" y="2300747"/>
            <a:ext cx="3660061" cy="3876214"/>
          </a:xfrm>
        </p:spPr>
        <p:txBody>
          <a:bodyPr/>
          <a:lstStyle/>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Client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MAAF Assurances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Rôle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Assistant au pilotage du projet</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Durée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2 mois</a:t>
            </a: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Résultat : </a:t>
            </a:r>
            <a:r>
              <a:rPr kumimoji="0" lang="fr-FR" sz="1050" i="0" u="none" strike="noStrike" kern="1200" cap="none" spc="0" normalizeH="0" baseline="0" noProof="0">
                <a:ln>
                  <a:noFill/>
                </a:ln>
                <a:solidFill>
                  <a:srgbClr val="313F4F"/>
                </a:solidFill>
                <a:effectLst/>
                <a:uLnTx/>
                <a:uFillTx/>
                <a:latin typeface="Arial" panose="020B0604020202020204"/>
                <a:ea typeface="+mn-ea"/>
                <a:cs typeface="+mn-cs"/>
              </a:rPr>
              <a:t>Mise en place de la nouvelle organisation des sinistres fréquences Matériels, Auto et IRD </a:t>
            </a:r>
          </a:p>
          <a:p>
            <a:pPr marL="0" marR="0" lvl="0" indent="0" algn="l" defTabSz="914400" rtl="0" eaLnBrk="1" fontAlgn="auto" latinLnBrk="0" hangingPunct="1">
              <a:lnSpc>
                <a:spcPct val="100000"/>
              </a:lnSpc>
              <a:spcBef>
                <a:spcPts val="0"/>
              </a:spcBef>
              <a:spcAft>
                <a:spcPts val="100"/>
              </a:spcAft>
              <a:buClrTx/>
              <a:buSzPct val="100000"/>
              <a:buFontTx/>
              <a:buNone/>
              <a:tabLst/>
              <a:defRPr/>
            </a:pPr>
            <a:endParaRPr kumimoji="0" lang="fr-FR" sz="1050" b="1" i="0" u="none" strike="noStrike" kern="1200" cap="none" spc="0" normalizeH="0" baseline="0" noProof="0">
              <a:ln>
                <a:noFill/>
              </a:ln>
              <a:solidFill>
                <a:srgbClr val="313F4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a:ln>
                  <a:noFill/>
                </a:ln>
                <a:solidFill>
                  <a:srgbClr val="313F4F"/>
                </a:solidFill>
                <a:effectLst/>
                <a:uLnTx/>
                <a:uFillTx/>
                <a:latin typeface="Arial" panose="020B0604020202020204"/>
                <a:ea typeface="+mn-ea"/>
                <a:cs typeface="+mn-cs"/>
              </a:rPr>
              <a:t>Synthèse</a:t>
            </a:r>
          </a:p>
          <a:p>
            <a:pPr marL="176213" indent="-176213">
              <a:lnSpc>
                <a:spcPct val="110000"/>
              </a:lnSpc>
              <a:spcBef>
                <a:spcPts val="300"/>
              </a:spcBef>
              <a:buClr>
                <a:schemeClr val="accent1"/>
              </a:buClr>
              <a:buSzPts val="1000"/>
              <a:buFont typeface="Arial"/>
              <a:buChar char="•"/>
            </a:pPr>
            <a:r>
              <a:rPr lang="fr-FR" sz="1000"/>
              <a:t>Préparation et animation des </a:t>
            </a:r>
            <a:r>
              <a:rPr lang="fr-FR" sz="1000" err="1"/>
              <a:t>reportings</a:t>
            </a:r>
            <a:r>
              <a:rPr lang="fr-FR" sz="1000"/>
              <a:t> chantiers, COPROJ, COPIL et séminaires de travail</a:t>
            </a:r>
          </a:p>
          <a:p>
            <a:pPr marL="176213" indent="-176213">
              <a:lnSpc>
                <a:spcPct val="110000"/>
              </a:lnSpc>
              <a:spcBef>
                <a:spcPts val="300"/>
              </a:spcBef>
              <a:buClr>
                <a:schemeClr val="accent1"/>
              </a:buClr>
              <a:buSzPts val="1000"/>
              <a:buFont typeface="Arial"/>
              <a:buChar char="•"/>
            </a:pPr>
            <a:r>
              <a:rPr lang="fr-FR" sz="1000"/>
              <a:t>Rédaction des comptes rendus des réunions</a:t>
            </a:r>
          </a:p>
          <a:p>
            <a:pPr marL="176213" indent="-176213">
              <a:lnSpc>
                <a:spcPct val="110000"/>
              </a:lnSpc>
              <a:spcBef>
                <a:spcPts val="300"/>
              </a:spcBef>
              <a:buClr>
                <a:schemeClr val="accent1"/>
              </a:buClr>
              <a:buSzPts val="1000"/>
              <a:buFont typeface="Arial"/>
              <a:buChar char="•"/>
            </a:pPr>
            <a:r>
              <a:rPr lang="fr-FR" sz="1000"/>
              <a:t>Suivi des budgets et des plannings par chantier</a:t>
            </a:r>
          </a:p>
          <a:p>
            <a:pPr marL="176213" indent="-176213">
              <a:lnSpc>
                <a:spcPct val="110000"/>
              </a:lnSpc>
              <a:spcBef>
                <a:spcPts val="300"/>
              </a:spcBef>
              <a:buClr>
                <a:schemeClr val="accent1"/>
              </a:buClr>
              <a:buSzPts val="1000"/>
              <a:buFont typeface="Arial"/>
              <a:buChar char="•"/>
            </a:pPr>
            <a:r>
              <a:rPr lang="fr-FR" sz="1000"/>
              <a:t>Réalisation d’études complémentaires et renfort apporté aux différents chantiers : formation, accompagnement au changement, organisation et déploiement...</a:t>
            </a:r>
          </a:p>
        </p:txBody>
      </p:sp>
      <p:sp>
        <p:nvSpPr>
          <p:cNvPr id="15" name="Titre 1">
            <a:extLst>
              <a:ext uri="{FF2B5EF4-FFF2-40B4-BE49-F238E27FC236}">
                <a16:creationId xmlns:a16="http://schemas.microsoft.com/office/drawing/2014/main" id="{B55C5B0A-0D37-63FA-5741-016D70E31AF9}"/>
              </a:ext>
            </a:extLst>
          </p:cNvPr>
          <p:cNvSpPr>
            <a:spLocks noGrp="1"/>
          </p:cNvSpPr>
          <p:nvPr>
            <p:ph type="title"/>
          </p:nvPr>
        </p:nvSpPr>
        <p:spPr>
          <a:xfrm>
            <a:off x="380997" y="485693"/>
            <a:ext cx="11430003" cy="360000"/>
          </a:xfrm>
        </p:spPr>
        <p:txBody>
          <a:bodyPr vert="horz"/>
          <a:lstStyle/>
          <a:p>
            <a:r>
              <a:rPr lang="fr-FR"/>
              <a:t>Prénom Nom - Grade</a:t>
            </a:r>
          </a:p>
        </p:txBody>
      </p:sp>
      <p:sp>
        <p:nvSpPr>
          <p:cNvPr id="18" name="Titre 1">
            <a:extLst>
              <a:ext uri="{FF2B5EF4-FFF2-40B4-BE49-F238E27FC236}">
                <a16:creationId xmlns:a16="http://schemas.microsoft.com/office/drawing/2014/main" id="{665FB7CF-9D7F-22DD-C6F1-03E604BCF6BA}"/>
              </a:ext>
            </a:extLst>
          </p:cNvPr>
          <p:cNvSpPr txBox="1">
            <a:spLocks/>
          </p:cNvSpPr>
          <p:nvPr/>
        </p:nvSpPr>
        <p:spPr>
          <a:xfrm>
            <a:off x="371475" y="1105200"/>
            <a:ext cx="11430003" cy="360000"/>
          </a:xfrm>
          <a:prstGeom prst="rect">
            <a:avLst/>
          </a:prstGeom>
          <a:solidFill>
            <a:schemeClr val="bg1">
              <a:lumMod val="95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a:lstStyle>
          <a:p>
            <a:r>
              <a:rPr lang="fr-FR" sz="1800"/>
              <a:t>Principales missions</a:t>
            </a:r>
          </a:p>
        </p:txBody>
      </p:sp>
      <p:cxnSp>
        <p:nvCxnSpPr>
          <p:cNvPr id="34" name="Connecteur droit 33">
            <a:extLst>
              <a:ext uri="{FF2B5EF4-FFF2-40B4-BE49-F238E27FC236}">
                <a16:creationId xmlns:a16="http://schemas.microsoft.com/office/drawing/2014/main" id="{A6BCF0E8-A361-6374-9A7A-785BC98161B0}"/>
              </a:ext>
            </a:extLst>
          </p:cNvPr>
          <p:cNvCxnSpPr>
            <a:cxnSpLocks/>
          </p:cNvCxnSpPr>
          <p:nvPr/>
        </p:nvCxnSpPr>
        <p:spPr>
          <a:xfrm>
            <a:off x="4265967" y="2215886"/>
            <a:ext cx="3660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27031694-538E-FC3F-BA0B-62E5E4825A16}"/>
              </a:ext>
            </a:extLst>
          </p:cNvPr>
          <p:cNvCxnSpPr>
            <a:cxnSpLocks/>
          </p:cNvCxnSpPr>
          <p:nvPr/>
        </p:nvCxnSpPr>
        <p:spPr>
          <a:xfrm>
            <a:off x="8143527" y="2215886"/>
            <a:ext cx="36769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7FC745A8-2C8B-4E6E-CD60-55EB34036378}"/>
              </a:ext>
            </a:extLst>
          </p:cNvPr>
          <p:cNvCxnSpPr>
            <a:cxnSpLocks/>
          </p:cNvCxnSpPr>
          <p:nvPr/>
        </p:nvCxnSpPr>
        <p:spPr>
          <a:xfrm>
            <a:off x="371475" y="2215886"/>
            <a:ext cx="36695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AE020EF4-38AA-B9B6-A711-4FD66F05D1DC}"/>
              </a:ext>
            </a:extLst>
          </p:cNvPr>
          <p:cNvCxnSpPr>
            <a:cxnSpLocks/>
          </p:cNvCxnSpPr>
          <p:nvPr/>
        </p:nvCxnSpPr>
        <p:spPr>
          <a:xfrm>
            <a:off x="415569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318F9A12-C096-F0A8-CA48-FBF50AFA36CB}"/>
              </a:ext>
            </a:extLst>
          </p:cNvPr>
          <p:cNvCxnSpPr>
            <a:cxnSpLocks/>
          </p:cNvCxnSpPr>
          <p:nvPr/>
        </p:nvCxnSpPr>
        <p:spPr>
          <a:xfrm>
            <a:off x="8029603" y="2127395"/>
            <a:ext cx="0" cy="4049565"/>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ZoneTexte 1">
            <a:extLst>
              <a:ext uri="{FF2B5EF4-FFF2-40B4-BE49-F238E27FC236}">
                <a16:creationId xmlns:a16="http://schemas.microsoft.com/office/drawing/2014/main" id="{6107DE07-69A8-E173-A25A-9C153B9147ED}"/>
              </a:ext>
            </a:extLst>
          </p:cNvPr>
          <p:cNvSpPr txBox="1"/>
          <p:nvPr/>
        </p:nvSpPr>
        <p:spPr>
          <a:xfrm rot="840714">
            <a:off x="9888858" y="200487"/>
            <a:ext cx="1043876" cy="369332"/>
          </a:xfrm>
          <a:prstGeom prst="rect">
            <a:avLst/>
          </a:prstGeom>
          <a:solidFill>
            <a:srgbClr val="C00000"/>
          </a:solidFill>
        </p:spPr>
        <p:txBody>
          <a:bodyPr wrap="none" rtlCol="0">
            <a:spAutoFit/>
          </a:bodyPr>
          <a:lstStyle/>
          <a:p>
            <a:r>
              <a:rPr lang="fr-FR" dirty="0">
                <a:solidFill>
                  <a:schemeClr val="bg1"/>
                </a:solidFill>
              </a:rPr>
              <a:t>OLD CV</a:t>
            </a:r>
          </a:p>
        </p:txBody>
      </p:sp>
    </p:spTree>
    <p:extLst>
      <p:ext uri="{BB962C8B-B14F-4D97-AF65-F5344CB8AC3E}">
        <p14:creationId xmlns:p14="http://schemas.microsoft.com/office/powerpoint/2010/main" val="2577042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E4E6-0FB2-A25B-B3EC-B23D8B666B8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813216-06A6-4E8A-62E2-8003094294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B6813216-06A6-4E8A-62E2-8003094294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24745F0F-6CC8-9EA2-44B3-613FFB4E16F4}"/>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B54734BF-408B-A5A6-8E53-D384E930AF6A}"/>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AN</a:t>
            </a:r>
          </a:p>
          <a:p>
            <a:r>
              <a:rPr lang="fr-FR" sz="1600" b="1" dirty="0">
                <a:solidFill>
                  <a:schemeClr val="tx2"/>
                </a:solidFill>
                <a:latin typeface="+mj-lt"/>
              </a:rPr>
              <a:t>CONSULTANT</a:t>
            </a:r>
            <a:endParaRPr lang="fr-FR" sz="900" b="1" dirty="0">
              <a:solidFill>
                <a:schemeClr val="tx2"/>
              </a:solidFill>
              <a:latin typeface="+mj-lt"/>
            </a:endParaRPr>
          </a:p>
          <a:p>
            <a:r>
              <a:rPr lang="fr-FR" sz="900" b="1" dirty="0">
                <a:solidFill>
                  <a:schemeClr val="tx2"/>
                </a:solidFill>
                <a:latin typeface="+mj-lt"/>
              </a:rPr>
              <a:t>2 ANS D’EXPÉRIENCE</a:t>
            </a:r>
          </a:p>
        </p:txBody>
      </p:sp>
      <p:sp>
        <p:nvSpPr>
          <p:cNvPr id="17" name="ZoneTexte 16">
            <a:extLst>
              <a:ext uri="{FF2B5EF4-FFF2-40B4-BE49-F238E27FC236}">
                <a16:creationId xmlns:a16="http://schemas.microsoft.com/office/drawing/2014/main" id="{2EF715D1-E2C0-623A-019B-795D0059A215}"/>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a:spcBef>
                <a:spcPts val="600"/>
              </a:spcBef>
              <a:spcAft>
                <a:spcPts val="400"/>
              </a:spcAft>
              <a:buClr>
                <a:schemeClr val="tx2"/>
              </a:buClr>
            </a:pPr>
            <a:r>
              <a:rPr lang="fr-FR" sz="1100" dirty="0"/>
              <a:t>AN est Data Consultant, avec 2 ans d’expérience dans le conseil. Rigoureux, il maîtrise l’analyse de données et la retranscription des besoins exprimés par les métiers en fonctionnalités adaptées, notamment en matière de data visualisation sous </a:t>
            </a:r>
            <a:r>
              <a:rPr lang="fr-FR" sz="1100" dirty="0" err="1"/>
              <a:t>PowerBI</a:t>
            </a:r>
            <a:r>
              <a:rPr lang="fr-FR" sz="1100" dirty="0"/>
              <a:t>. AN a pu participer sur un projet structurant de développement de modèles de données et de création  et déploiement de </a:t>
            </a:r>
            <a:r>
              <a:rPr lang="fr-FR" sz="1100" dirty="0" err="1"/>
              <a:t>dashboards</a:t>
            </a:r>
            <a:r>
              <a:rPr lang="fr-FR" sz="1100" dirty="0"/>
              <a:t> orientés vers différents besoins métiers de la </a:t>
            </a:r>
            <a:r>
              <a:rPr lang="fr-FR" sz="1100" dirty="0" err="1"/>
              <a:t>banque.Dynamique</a:t>
            </a:r>
            <a:r>
              <a:rPr lang="fr-FR" sz="1100" dirty="0"/>
              <a:t>, adaptable et professionnel, AN mènera à bien tous les projets qui lui seront confiés.</a:t>
            </a:r>
          </a:p>
        </p:txBody>
      </p:sp>
      <p:sp>
        <p:nvSpPr>
          <p:cNvPr id="19" name="Rectangle 18">
            <a:extLst>
              <a:ext uri="{FF2B5EF4-FFF2-40B4-BE49-F238E27FC236}">
                <a16:creationId xmlns:a16="http://schemas.microsoft.com/office/drawing/2014/main" id="{1D91A36C-F664-7314-031B-E426B422B119}"/>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39950EA-6B3B-EF94-950C-387E90D2E13F}"/>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2E3765A4-DBB1-ED99-E44D-40F01692E8A5}"/>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8A75365B-5E9A-F08F-0501-A1A11756CF58}"/>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FA893A51-A485-502E-6066-B03D682B0809}"/>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en-GB" sz="1000" dirty="0">
                <a:solidFill>
                  <a:schemeClr val="bg1"/>
                </a:solidFill>
              </a:rPr>
              <a:t>MSc – Data Science &amp; Digital Marketing - </a:t>
            </a:r>
            <a:r>
              <a:rPr lang="en-GB" sz="1000" dirty="0" err="1">
                <a:solidFill>
                  <a:schemeClr val="bg1"/>
                </a:solidFill>
              </a:rPr>
              <a:t>EmLyon</a:t>
            </a:r>
            <a:r>
              <a:rPr lang="en-GB" sz="1000" dirty="0">
                <a:solidFill>
                  <a:schemeClr val="bg1"/>
                </a:solidFill>
              </a:rPr>
              <a:t> – Paris</a:t>
            </a:r>
          </a:p>
          <a:p>
            <a:pPr marL="171450" indent="-171450">
              <a:buClr>
                <a:schemeClr val="tx2"/>
              </a:buClr>
              <a:buFont typeface="Arial" panose="020B0604020202020204" pitchFamily="34" charset="0"/>
              <a:buChar char="•"/>
            </a:pPr>
            <a:r>
              <a:rPr lang="en-GB" sz="1000" dirty="0">
                <a:solidFill>
                  <a:schemeClr val="bg1"/>
                </a:solidFill>
              </a:rPr>
              <a:t>Bachelor - International Trade and Economics - Nanjing - Chine</a:t>
            </a:r>
          </a:p>
        </p:txBody>
      </p:sp>
      <p:sp>
        <p:nvSpPr>
          <p:cNvPr id="41" name="Forme libre : forme 40">
            <a:extLst>
              <a:ext uri="{FF2B5EF4-FFF2-40B4-BE49-F238E27FC236}">
                <a16:creationId xmlns:a16="http://schemas.microsoft.com/office/drawing/2014/main" id="{62FE87AB-0295-E546-D82C-79A14BB2D3D2}"/>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CDD217B2-CFF5-0725-8BF6-9E6EBB7F97D7}"/>
              </a:ext>
            </a:extLst>
          </p:cNvPr>
          <p:cNvSpPr txBox="1"/>
          <p:nvPr/>
        </p:nvSpPr>
        <p:spPr>
          <a:xfrm>
            <a:off x="4862670" y="2414547"/>
            <a:ext cx="6957855" cy="2572179"/>
          </a:xfrm>
          <a:prstGeom prst="rect">
            <a:avLst/>
          </a:prstGeom>
          <a:noFill/>
        </p:spPr>
        <p:txBody>
          <a:bodyPr wrap="square" rtlCol="0">
            <a:spAutoFit/>
          </a:bodyPr>
          <a:lstStyle/>
          <a:p>
            <a:r>
              <a:rPr lang="fr-FR" sz="1000" b="1" dirty="0">
                <a:solidFill>
                  <a:schemeClr val="tx2"/>
                </a:solidFill>
              </a:rPr>
              <a:t>BPCE : Analyste </a:t>
            </a:r>
            <a:r>
              <a:rPr lang="fr-FR" sz="1000" b="1" dirty="0" err="1">
                <a:solidFill>
                  <a:schemeClr val="tx2"/>
                </a:solidFill>
              </a:rPr>
              <a:t>Alteryx</a:t>
            </a:r>
            <a:r>
              <a:rPr lang="fr-FR" sz="1000" b="1" dirty="0">
                <a:solidFill>
                  <a:schemeClr val="tx2"/>
                </a:solidFill>
              </a:rPr>
              <a:t> dans le cadre d’une intégration de l’outil (XX mois)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Intégration d’</a:t>
            </a:r>
            <a:r>
              <a:rPr lang="fr-FR" altLang="fr-FR" sz="1000" dirty="0" err="1">
                <a:solidFill>
                  <a:schemeClr val="dk1"/>
                </a:solidFill>
                <a:cs typeface="Arial"/>
              </a:rPr>
              <a:t>Alteryx</a:t>
            </a:r>
            <a:r>
              <a:rPr lang="fr-FR" altLang="fr-FR" sz="1000" dirty="0">
                <a:solidFill>
                  <a:schemeClr val="dk1"/>
                </a:solidFill>
                <a:cs typeface="Arial"/>
              </a:rPr>
              <a:t> comme ETL de référence pour alimenter les rapports de différentes équipes métier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Développement et déploiement d’une quinzaine de rapports et tableaux de bord automatisés pour les métiers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Formation des utilisateurs et futurs propriétaires de produits sur les aspects techniques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altLang="fr-FR" sz="1000" dirty="0">
              <a:solidFill>
                <a:schemeClr val="dk1"/>
              </a:solidFill>
              <a:cs typeface="Arial"/>
            </a:endParaRPr>
          </a:p>
          <a:p>
            <a:r>
              <a:rPr lang="fr-FR" sz="1000" b="1" dirty="0">
                <a:solidFill>
                  <a:schemeClr val="tx2"/>
                </a:solidFill>
              </a:rPr>
              <a:t>Pernod-Ricard : Analyste contrôle de gestion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Analyste en contrôle au sein du département IT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Gestion des scénarios dans le cadre de l’exercice budgétaires et production d’analyses et de rapports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Développement de nouveaux rapports dans Power BI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Automatisation de tâche lié à la manipulation de données pour le contrôle de gestion</a:t>
            </a:r>
          </a:p>
          <a:p>
            <a:endParaRPr lang="fr-FR" sz="1000" dirty="0"/>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sz="1000" dirty="0"/>
          </a:p>
        </p:txBody>
      </p:sp>
      <p:sp>
        <p:nvSpPr>
          <p:cNvPr id="2" name="Espace réservé de la date 1">
            <a:extLst>
              <a:ext uri="{FF2B5EF4-FFF2-40B4-BE49-F238E27FC236}">
                <a16:creationId xmlns:a16="http://schemas.microsoft.com/office/drawing/2014/main" id="{9D42D67A-EF25-6B3E-47BF-86B275CA964C}"/>
              </a:ext>
            </a:extLst>
          </p:cNvPr>
          <p:cNvSpPr>
            <a:spLocks noGrp="1"/>
          </p:cNvSpPr>
          <p:nvPr>
            <p:ph type="dt" sz="half" idx="2"/>
          </p:nvPr>
        </p:nvSpPr>
        <p:spPr/>
        <p:txBody>
          <a:bodyPr/>
          <a:lstStyle/>
          <a:p>
            <a:fld id="{A234AAA3-D3BD-4DCA-8674-DDCEC63B7531}" type="datetime1">
              <a:rPr lang="fr-FR" smtClean="0"/>
              <a:t>03/04/2025</a:t>
            </a:fld>
            <a:endParaRPr lang="fr-FR"/>
          </a:p>
        </p:txBody>
      </p:sp>
      <p:sp>
        <p:nvSpPr>
          <p:cNvPr id="4" name="Espace réservé du pied de page 3">
            <a:extLst>
              <a:ext uri="{FF2B5EF4-FFF2-40B4-BE49-F238E27FC236}">
                <a16:creationId xmlns:a16="http://schemas.microsoft.com/office/drawing/2014/main" id="{98D8F2F1-1E9A-7686-E86C-636938D6BB67}"/>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65816A9A-094B-B61E-2CA8-20F903273B11}"/>
              </a:ext>
            </a:extLst>
          </p:cNvPr>
          <p:cNvSpPr>
            <a:spLocks noGrp="1"/>
          </p:cNvSpPr>
          <p:nvPr>
            <p:ph type="sldNum" sz="quarter" idx="11"/>
          </p:nvPr>
        </p:nvSpPr>
        <p:spPr/>
        <p:txBody>
          <a:bodyPr/>
          <a:lstStyle/>
          <a:p>
            <a:fld id="{BD9892E7-E91F-405F-A6AB-FE5AB3285265}" type="slidenum">
              <a:rPr lang="fr-FR" smtClean="0"/>
              <a:pPr/>
              <a:t>10</a:t>
            </a:fld>
            <a:endParaRPr lang="fr-FR"/>
          </a:p>
        </p:txBody>
      </p:sp>
      <p:sp>
        <p:nvSpPr>
          <p:cNvPr id="18" name="Rectangle 17">
            <a:extLst>
              <a:ext uri="{FF2B5EF4-FFF2-40B4-BE49-F238E27FC236}">
                <a16:creationId xmlns:a16="http://schemas.microsoft.com/office/drawing/2014/main" id="{D051802A-5E9C-4914-902E-2690397A9806}"/>
              </a:ext>
            </a:extLst>
          </p:cNvPr>
          <p:cNvSpPr/>
          <p:nvPr/>
        </p:nvSpPr>
        <p:spPr>
          <a:xfrm>
            <a:off x="380995" y="3760698"/>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Gestion de projets; Animation des Comités Projet; Préparation des instances COPIL; Production notes/compte-rendu</a:t>
            </a:r>
          </a:p>
          <a:p>
            <a:pPr marL="171450" indent="-171450">
              <a:buClr>
                <a:schemeClr val="tx2"/>
              </a:buClr>
              <a:buFont typeface="Arial" panose="020B0604020202020204" pitchFamily="34" charset="0"/>
              <a:buChar char="•"/>
            </a:pPr>
            <a:r>
              <a:rPr lang="fr-FR" sz="1000" dirty="0">
                <a:solidFill>
                  <a:schemeClr val="bg1"/>
                </a:solidFill>
              </a:rPr>
              <a:t>Animation de formations; Data Science/BI; Conception et création de Dashboard; Automatisation de process</a:t>
            </a:r>
          </a:p>
          <a:p>
            <a:pPr marL="171450" indent="-171450">
              <a:buClr>
                <a:schemeClr val="tx2"/>
              </a:buClr>
              <a:buFont typeface="Arial" panose="020B0604020202020204" pitchFamily="34" charset="0"/>
              <a:buChar char="•"/>
            </a:pPr>
            <a:r>
              <a:rPr lang="fr-FR" sz="1000" dirty="0">
                <a:solidFill>
                  <a:schemeClr val="bg1"/>
                </a:solidFill>
              </a:rPr>
              <a:t>Conception et développement de solutions analytiques &amp; de modèles de données; Développement en Python et R pour l’analyse de données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D8AF452A-8677-DD91-548D-9B9D94BE65E2}"/>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7F6499D3-A4A4-BC89-9048-E665BCD8799B}"/>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Python: Pandas, </a:t>
            </a:r>
            <a:r>
              <a:rPr lang="fr-FR" sz="1000" dirty="0" err="1">
                <a:solidFill>
                  <a:schemeClr val="bg1"/>
                </a:solidFill>
              </a:rPr>
              <a:t>Matplotlib</a:t>
            </a:r>
            <a:r>
              <a:rPr lang="fr-FR" sz="1000" dirty="0">
                <a:solidFill>
                  <a:schemeClr val="bg1"/>
                </a:solidFill>
              </a:rPr>
              <a:t>, </a:t>
            </a:r>
            <a:r>
              <a:rPr lang="fr-FR" sz="1000" dirty="0" err="1">
                <a:solidFill>
                  <a:schemeClr val="bg1"/>
                </a:solidFill>
              </a:rPr>
              <a:t>Scikit-Learn</a:t>
            </a:r>
            <a:r>
              <a:rPr lang="fr-FR" sz="1000" dirty="0">
                <a:solidFill>
                  <a:schemeClr val="bg1"/>
                </a:solidFill>
              </a:rPr>
              <a:t>, </a:t>
            </a:r>
            <a:r>
              <a:rPr lang="fr-FR" sz="1000" dirty="0" err="1">
                <a:solidFill>
                  <a:schemeClr val="bg1"/>
                </a:solidFill>
              </a:rPr>
              <a:t>Numpy</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SQL</a:t>
            </a:r>
          </a:p>
          <a:p>
            <a:pPr marL="171450" indent="-171450">
              <a:buClr>
                <a:schemeClr val="tx2"/>
              </a:buClr>
              <a:buFont typeface="Arial" panose="020B0604020202020204" pitchFamily="34" charset="0"/>
              <a:buChar char="•"/>
            </a:pPr>
            <a:r>
              <a:rPr lang="fr-FR" sz="1000" dirty="0">
                <a:solidFill>
                  <a:schemeClr val="bg1"/>
                </a:solidFill>
              </a:rPr>
              <a:t>R </a:t>
            </a:r>
          </a:p>
          <a:p>
            <a:pPr marL="171450" indent="-171450">
              <a:buClr>
                <a:schemeClr val="tx2"/>
              </a:buClr>
              <a:buFont typeface="Arial" panose="020B0604020202020204" pitchFamily="34" charset="0"/>
              <a:buChar char="•"/>
            </a:pP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Azure</a:t>
            </a:r>
          </a:p>
          <a:p>
            <a:pPr marL="171450" indent="-171450">
              <a:buClr>
                <a:schemeClr val="tx2"/>
              </a:buClr>
              <a:buFont typeface="Arial" panose="020B0604020202020204" pitchFamily="34" charset="0"/>
              <a:buChar char="•"/>
            </a:pPr>
            <a:r>
              <a:rPr lang="fr-FR" sz="1000" dirty="0">
                <a:solidFill>
                  <a:schemeClr val="bg1"/>
                </a:solidFill>
              </a:rPr>
              <a:t>Tableau</a:t>
            </a:r>
          </a:p>
          <a:p>
            <a:pPr marL="171450" indent="-171450">
              <a:buClr>
                <a:schemeClr val="tx2"/>
              </a:buClr>
              <a:buFont typeface="Arial" panose="020B0604020202020204" pitchFamily="34" charset="0"/>
              <a:buChar char="•"/>
            </a:pPr>
            <a:r>
              <a:rPr lang="fr-FR" sz="1000" dirty="0" err="1">
                <a:solidFill>
                  <a:schemeClr val="bg1"/>
                </a:solidFill>
              </a:rPr>
              <a:t>Alteryx</a:t>
            </a:r>
            <a:endParaRPr lang="fr-FR" sz="1000" dirty="0">
              <a:solidFill>
                <a:schemeClr val="bg1"/>
              </a:solidFill>
            </a:endParaRPr>
          </a:p>
        </p:txBody>
      </p:sp>
      <p:pic>
        <p:nvPicPr>
          <p:cNvPr id="44" name="Image 43">
            <a:extLst>
              <a:ext uri="{FF2B5EF4-FFF2-40B4-BE49-F238E27FC236}">
                <a16:creationId xmlns:a16="http://schemas.microsoft.com/office/drawing/2014/main" id="{BFD1D391-5867-DFE5-4AE6-50129F94D478}"/>
              </a:ext>
            </a:extLst>
          </p:cNvPr>
          <p:cNvPicPr>
            <a:picLocks noChangeAspect="1"/>
          </p:cNvPicPr>
          <p:nvPr/>
        </p:nvPicPr>
        <p:blipFill>
          <a:blip r:embed="rId5"/>
          <a:stretch>
            <a:fillRect/>
          </a:stretch>
        </p:blipFill>
        <p:spPr>
          <a:xfrm>
            <a:off x="4340560" y="3925419"/>
            <a:ext cx="420647" cy="412935"/>
          </a:xfrm>
          <a:prstGeom prst="rect">
            <a:avLst/>
          </a:prstGeom>
        </p:spPr>
      </p:pic>
      <p:pic>
        <p:nvPicPr>
          <p:cNvPr id="45" name="Picture 2" descr="upload.wikimedia.org/wikipedia/commons/thumb/6/...">
            <a:extLst>
              <a:ext uri="{FF2B5EF4-FFF2-40B4-BE49-F238E27FC236}">
                <a16:creationId xmlns:a16="http://schemas.microsoft.com/office/drawing/2014/main" id="{60AFC099-E065-4638-9D55-8F894C5D4F4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B9906332-9154-60F0-6764-E216855963E7}"/>
              </a:ext>
            </a:extLst>
          </p:cNvPr>
          <p:cNvSpPr txBox="1"/>
          <p:nvPr/>
        </p:nvSpPr>
        <p:spPr>
          <a:xfrm rot="840714">
            <a:off x="8266481" y="-215012"/>
            <a:ext cx="4288610" cy="1200329"/>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1</a:t>
            </a:r>
          </a:p>
          <a:p>
            <a:r>
              <a:rPr lang="fr-FR" dirty="0">
                <a:solidFill>
                  <a:schemeClr val="bg1"/>
                </a:solidFill>
              </a:rPr>
              <a:t>INITIALES A LA PLACE DE L’IDENTITE</a:t>
            </a:r>
          </a:p>
          <a:p>
            <a:r>
              <a:rPr lang="fr-FR" dirty="0">
                <a:solidFill>
                  <a:schemeClr val="bg1"/>
                </a:solidFill>
              </a:rPr>
              <a:t>ENLEVER LA PHOTO</a:t>
            </a:r>
          </a:p>
        </p:txBody>
      </p:sp>
    </p:spTree>
    <p:extLst>
      <p:ext uri="{BB962C8B-B14F-4D97-AF65-F5344CB8AC3E}">
        <p14:creationId xmlns:p14="http://schemas.microsoft.com/office/powerpoint/2010/main" val="1404383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A3CA-4CF7-DD9C-6FAF-9688C63274E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0C14E42-F304-CABA-980A-2F041D6B7C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D0C14E42-F304-CABA-980A-2F041D6B7CB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78A35FA4-3707-532D-B454-B609EE7609B5}"/>
              </a:ext>
            </a:extLst>
          </p:cNvPr>
          <p:cNvGraphicFramePr>
            <a:graphicFrameLocks/>
          </p:cNvGraphicFramePr>
          <p:nvPr>
            <p:extLst>
              <p:ext uri="{D42A27DB-BD31-4B8C-83A1-F6EECF244321}">
                <p14:modId xmlns:p14="http://schemas.microsoft.com/office/powerpoint/2010/main" val="1106053257"/>
              </p:ext>
            </p:extLst>
          </p:nvPr>
        </p:nvGraphicFramePr>
        <p:xfrm>
          <a:off x="370870" y="1984675"/>
          <a:ext cx="11430002" cy="1954014"/>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lnSpc>
                          <a:spcPct val="100000"/>
                        </a:lnSpc>
                        <a:spcBef>
                          <a:spcPts val="0"/>
                        </a:spcBef>
                        <a:spcAft>
                          <a:spcPts val="0"/>
                        </a:spcAft>
                      </a:pPr>
                      <a:r>
                        <a:rPr lang="fr-FR" sz="1000" b="1" kern="1200" dirty="0">
                          <a:solidFill>
                            <a:schemeClr val="tx1"/>
                          </a:solidFill>
                          <a:latin typeface="+mn-lt"/>
                          <a:ea typeface="+mn-ea"/>
                          <a:cs typeface="+mn-cs"/>
                        </a:rPr>
                        <a:t>LA PORTE DU HAINAUT</a:t>
                      </a:r>
                    </a:p>
                    <a:p>
                      <a:pPr marL="0" algn="l" defTabSz="557240" rtl="0" eaLnBrk="1" latinLnBrk="0" hangingPunct="1">
                        <a:lnSpc>
                          <a:spcPct val="100000"/>
                        </a:lnSpc>
                        <a:spcBef>
                          <a:spcPts val="0"/>
                        </a:spcBef>
                        <a:spcAft>
                          <a:spcPts val="0"/>
                        </a:spcAft>
                      </a:pPr>
                      <a:r>
                        <a:rPr lang="fr-FR" sz="1000" b="0" i="1" u="none" kern="1200" noProof="0" dirty="0">
                          <a:solidFill>
                            <a:schemeClr val="tx1"/>
                          </a:solidFill>
                          <a:latin typeface="+mn-lt"/>
                          <a:ea typeface="+mn-ea"/>
                          <a:cs typeface="+mn-cs"/>
                        </a:rPr>
                        <a:t>Programme XX</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fr-FR" sz="1000" spc="-1" noProof="1">
                          <a:uFill>
                            <a:solidFill>
                              <a:srgbClr val="FFFFFF"/>
                            </a:solidFill>
                          </a:uFill>
                        </a:rPr>
                        <a:t>Mise en place de la cellule de pilotage du programme « habiter mieux » intégrant la mise en œuvre d’un outil de suivi des aides à la rénovation</a:t>
                      </a:r>
                    </a:p>
                    <a:p>
                      <a:endParaRPr lang="fr-FR" sz="1000" spc="-1" noProof="1">
                        <a:uFill>
                          <a:solidFill>
                            <a:srgbClr val="FFFFFF"/>
                          </a:solidFill>
                        </a:uFill>
                      </a:endParaRPr>
                    </a:p>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2"/>
                          </a:solidFill>
                          <a:latin typeface="Arial" panose="020B0604020202020204" pitchFamily="34" charset="0"/>
                          <a:ea typeface="+mn-ea"/>
                          <a:cs typeface="Arial" panose="020B0604020202020204" pitchFamily="34" charset="0"/>
                        </a:rPr>
                        <a:t>TITRE DU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Coordination du projet, suivis, </a:t>
                      </a:r>
                      <a:r>
                        <a:rPr lang="fr-FR" sz="1000" kern="1200" dirty="0" err="1">
                          <a:solidFill>
                            <a:schemeClr val="tx1"/>
                          </a:solidFill>
                          <a:latin typeface="+mn-lt"/>
                          <a:ea typeface="+mn-ea"/>
                          <a:cs typeface="+mn-cs"/>
                        </a:rPr>
                        <a:t>reportings</a:t>
                      </a:r>
                      <a:r>
                        <a:rPr lang="fr-FR" sz="1000" kern="1200" dirty="0">
                          <a:solidFill>
                            <a:schemeClr val="tx1"/>
                          </a:solidFill>
                          <a:latin typeface="+mn-lt"/>
                          <a:ea typeface="+mn-ea"/>
                          <a:cs typeface="+mn-cs"/>
                        </a:rPr>
                        <a:t>, animation des comités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Redéfinition des processus de travail et production du livret des procédures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Production du cahier des charges de l’outil de suivi du dispositif et suivi de son développement (intégrant les tableaux de bord de suivi-évaluation)</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Construction d’un plan de formation, et sécurisation de la dispense des formations à l’outil</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Animation du processus de co-construction du plan de communication externe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Suivi du projet (budget, planning, risques…)</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lnSpc>
                          <a:spcPct val="100000"/>
                        </a:lnSpc>
                        <a:spcBef>
                          <a:spcPts val="0"/>
                        </a:spcBef>
                        <a:spcAft>
                          <a:spcPts val="0"/>
                        </a:spcAft>
                      </a:pPr>
                      <a:endParaRPr lang="fr-FR" sz="1000" b="0" i="1" u="none"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endParaRPr lang="fr-FR" sz="100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316132774"/>
                  </a:ext>
                </a:extLst>
              </a:tr>
            </a:tbl>
          </a:graphicData>
        </a:graphic>
      </p:graphicFrame>
      <p:sp>
        <p:nvSpPr>
          <p:cNvPr id="2" name="Titre 1">
            <a:extLst>
              <a:ext uri="{FF2B5EF4-FFF2-40B4-BE49-F238E27FC236}">
                <a16:creationId xmlns:a16="http://schemas.microsoft.com/office/drawing/2014/main" id="{1AF9BF3B-533F-D2F2-0578-1AFB451ED9EF}"/>
              </a:ext>
            </a:extLst>
          </p:cNvPr>
          <p:cNvSpPr>
            <a:spLocks noGrp="1"/>
          </p:cNvSpPr>
          <p:nvPr>
            <p:ph type="title"/>
          </p:nvPr>
        </p:nvSpPr>
        <p:spPr/>
        <p:txBody>
          <a:bodyPr vert="horz"/>
          <a:lstStyle/>
          <a:p>
            <a:r>
              <a:rPr lang="fr-FR" noProof="0" dirty="0"/>
              <a:t>AN</a:t>
            </a:r>
          </a:p>
        </p:txBody>
      </p:sp>
      <p:sp>
        <p:nvSpPr>
          <p:cNvPr id="3" name="Espace réservé du numéro de diapositive 2">
            <a:extLst>
              <a:ext uri="{FF2B5EF4-FFF2-40B4-BE49-F238E27FC236}">
                <a16:creationId xmlns:a16="http://schemas.microsoft.com/office/drawing/2014/main" id="{AD3E12AD-161A-772A-ACED-43BD23AEE0E1}"/>
              </a:ext>
            </a:extLst>
          </p:cNvPr>
          <p:cNvSpPr>
            <a:spLocks noGrp="1"/>
          </p:cNvSpPr>
          <p:nvPr>
            <p:ph type="sldNum" sz="quarter" idx="11"/>
          </p:nvPr>
        </p:nvSpPr>
        <p:spPr/>
        <p:txBody>
          <a:bodyPr/>
          <a:lstStyle/>
          <a:p>
            <a:fld id="{BE9517EC-C298-4848-B090-11602D956FCE}" type="slidenum">
              <a:rPr lang="fr-FR" noProof="0" smtClean="0"/>
              <a:pPr/>
              <a:t>11</a:t>
            </a:fld>
            <a:endParaRPr lang="fr-FR" noProof="0"/>
          </a:p>
        </p:txBody>
      </p:sp>
      <p:sp>
        <p:nvSpPr>
          <p:cNvPr id="5" name="Espace réservé de la date 4">
            <a:extLst>
              <a:ext uri="{FF2B5EF4-FFF2-40B4-BE49-F238E27FC236}">
                <a16:creationId xmlns:a16="http://schemas.microsoft.com/office/drawing/2014/main" id="{A42E0615-C44C-11AA-6D65-67512BB8C8D6}"/>
              </a:ext>
            </a:extLst>
          </p:cNvPr>
          <p:cNvSpPr>
            <a:spLocks noGrp="1"/>
          </p:cNvSpPr>
          <p:nvPr>
            <p:ph type="dt" sz="half" idx="2"/>
          </p:nvPr>
        </p:nvSpPr>
        <p:spPr/>
        <p:txBody>
          <a:bodyPr/>
          <a:lstStyle/>
          <a:p>
            <a:fld id="{05EECF77-BC25-41C0-A0EF-6A4B97F069C1}" type="datetime1">
              <a:rPr lang="fr-FR" noProof="0" smtClean="0"/>
              <a:t>03/04/2025</a:t>
            </a:fld>
            <a:endParaRPr lang="fr-FR" noProof="0"/>
          </a:p>
        </p:txBody>
      </p:sp>
      <p:sp>
        <p:nvSpPr>
          <p:cNvPr id="15" name="Forme libre : forme 14">
            <a:extLst>
              <a:ext uri="{FF2B5EF4-FFF2-40B4-BE49-F238E27FC236}">
                <a16:creationId xmlns:a16="http://schemas.microsoft.com/office/drawing/2014/main" id="{52449045-C9B8-3FEB-2A96-1F669FA3171C}"/>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B2CF22EF-85E8-C348-F0EE-1B5112C6D60B}"/>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52BB5303-F825-175A-0443-8E489E423F47}"/>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90665A96-11D6-39DC-EF44-C0EE8C546CBB}"/>
              </a:ext>
            </a:extLst>
          </p:cNvPr>
          <p:cNvSpPr>
            <a:spLocks noGrp="1"/>
          </p:cNvSpPr>
          <p:nvPr>
            <p:ph type="ftr" sz="quarter" idx="10"/>
          </p:nvPr>
        </p:nvSpPr>
        <p:spPr/>
        <p:txBody>
          <a:bodyPr/>
          <a:lstStyle/>
          <a:p>
            <a:r>
              <a:rPr lang="fr-FR"/>
              <a:t>AMITA CONSEIL</a:t>
            </a:r>
          </a:p>
        </p:txBody>
      </p:sp>
      <p:sp>
        <p:nvSpPr>
          <p:cNvPr id="10" name="ZoneTexte 9">
            <a:extLst>
              <a:ext uri="{FF2B5EF4-FFF2-40B4-BE49-F238E27FC236}">
                <a16:creationId xmlns:a16="http://schemas.microsoft.com/office/drawing/2014/main" id="{912A5A97-5686-5F8A-D147-69E15A4BE02A}"/>
              </a:ext>
            </a:extLst>
          </p:cNvPr>
          <p:cNvSpPr txBox="1"/>
          <p:nvPr/>
        </p:nvSpPr>
        <p:spPr>
          <a:xfrm rot="840714">
            <a:off x="8266481" y="-76513"/>
            <a:ext cx="4288610" cy="923330"/>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2</a:t>
            </a:r>
          </a:p>
          <a:p>
            <a:r>
              <a:rPr lang="fr-FR" dirty="0">
                <a:solidFill>
                  <a:schemeClr val="bg1"/>
                </a:solidFill>
              </a:rPr>
              <a:t>INITIALES A LA PLACE DE L’IDENTITE</a:t>
            </a:r>
          </a:p>
        </p:txBody>
      </p:sp>
    </p:spTree>
    <p:extLst>
      <p:ext uri="{BB962C8B-B14F-4D97-AF65-F5344CB8AC3E}">
        <p14:creationId xmlns:p14="http://schemas.microsoft.com/office/powerpoint/2010/main" val="25276971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5 02_AMITA Conseil">
  <a:themeElements>
    <a:clrScheme name="AMITA 2">
      <a:dk1>
        <a:srgbClr val="353637"/>
      </a:dk1>
      <a:lt1>
        <a:sysClr val="window" lastClr="FFFFFF"/>
      </a:lt1>
      <a:dk2>
        <a:srgbClr val="43A2BF"/>
      </a:dk2>
      <a:lt2>
        <a:srgbClr val="F7F7F7"/>
      </a:lt2>
      <a:accent1>
        <a:srgbClr val="43A2BF"/>
      </a:accent1>
      <a:accent2>
        <a:srgbClr val="4D7480"/>
      </a:accent2>
      <a:accent3>
        <a:srgbClr val="B5E1EF"/>
      </a:accent3>
      <a:accent4>
        <a:srgbClr val="6AA6B7"/>
      </a:accent4>
      <a:accent5>
        <a:srgbClr val="FFAE19"/>
      </a:accent5>
      <a:accent6>
        <a:srgbClr val="FF6419"/>
      </a:accent6>
      <a:hlink>
        <a:srgbClr val="4D7480"/>
      </a:hlink>
      <a:folHlink>
        <a:srgbClr val="2E556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5 02_AMITA Conseil" id="{04D555FD-3CF6-4C09-9956-4D12109AF0E0}" vid="{1030E482-EE0D-43A8-A09B-A92D63339AC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E79DF9-C58F-4F32-98FC-7A5EE2CE32C6}">
  <ds:schemaRefs>
    <ds:schemaRef ds:uri="5438b2ed-c33a-4943-80d4-1eb1a51ca64d"/>
    <ds:schemaRef ds:uri="b662136d-f4c7-4ecd-aecf-392677ef4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C34AAB-7852-4104-B684-4FE27329F849}">
  <ds:schemaRefs>
    <ds:schemaRef ds:uri="5438b2ed-c33a-4943-80d4-1eb1a51ca64d"/>
    <ds:schemaRef ds:uri="b662136d-f4c7-4ecd-aecf-392677ef4b3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99BB03B-02D8-4150-8B36-F9BD50D9F5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3775</Words>
  <Application>Microsoft Office PowerPoint</Application>
  <PresentationFormat>Grand écran</PresentationFormat>
  <Paragraphs>373</Paragraphs>
  <Slides>11</Slides>
  <Notes>8</Notes>
  <HiddenSlides>1</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11</vt:i4>
      </vt:variant>
    </vt:vector>
  </HeadingPairs>
  <TitlesOfParts>
    <vt:vector size="18" baseType="lpstr">
      <vt:lpstr>Aptos</vt:lpstr>
      <vt:lpstr>Arial</vt:lpstr>
      <vt:lpstr>Calibri</vt:lpstr>
      <vt:lpstr>Now</vt:lpstr>
      <vt:lpstr>Raleway</vt:lpstr>
      <vt:lpstr>2025 02_AMITA Conseil</vt:lpstr>
      <vt:lpstr>Diapositive think-cell</vt:lpstr>
      <vt:lpstr>Présentation PowerPoint</vt:lpstr>
      <vt:lpstr>Adrien pina</vt:lpstr>
      <vt:lpstr>Nous capitalisons sur diverses collaborations sur les enjeux de transformation réglementaire ESG</vt:lpstr>
      <vt:lpstr>Prénom Nom - Grade</vt:lpstr>
      <vt:lpstr>Prénom Nom - Grade</vt:lpstr>
      <vt:lpstr>Prénom Nom - Grade</vt:lpstr>
      <vt:lpstr>Prénom Nom - Grade</vt:lpstr>
      <vt:lpstr>Prénom Nom - Grade</vt:lpstr>
      <vt:lpstr>Prénom Nom - Grade</vt:lpstr>
      <vt:lpstr>Présentation PowerPoint</vt:lpstr>
      <vt:lpstr>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Aymeric Prat</dc:creator>
  <cp:lastModifiedBy>Grégoire Sourdel</cp:lastModifiedBy>
  <cp:revision>33</cp:revision>
  <dcterms:created xsi:type="dcterms:W3CDTF">2023-07-04T06:45:58Z</dcterms:created>
  <dcterms:modified xsi:type="dcterms:W3CDTF">2025-04-03T14:25:06Z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ies>
</file>