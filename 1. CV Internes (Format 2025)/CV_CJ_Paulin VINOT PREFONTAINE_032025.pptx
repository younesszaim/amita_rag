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4"/>
  </p:sldMasterIdLst>
  <p:notesMasterIdLst>
    <p:notesMasterId r:id="rId9"/>
  </p:notesMasterIdLst>
  <p:handoutMasterIdLst>
    <p:handoutMasterId r:id="rId10"/>
  </p:handoutMasterIdLst>
  <p:sldIdLst>
    <p:sldId id="2147473144" r:id="rId5"/>
    <p:sldId id="2147473142" r:id="rId6"/>
    <p:sldId id="2147473166" r:id="rId7"/>
    <p:sldId id="2147473167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7480"/>
    <a:srgbClr val="FA803D"/>
    <a:srgbClr val="353637"/>
    <a:srgbClr val="43A2BF"/>
    <a:srgbClr val="FFFFFF"/>
    <a:srgbClr val="B5E1EF"/>
    <a:srgbClr val="6AA6B7"/>
    <a:srgbClr val="AEC4DA"/>
    <a:srgbClr val="C9D7E7"/>
    <a:srgbClr val="1614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8" autoAdjust="0"/>
    <p:restoredTop sz="94660"/>
  </p:normalViewPr>
  <p:slideViewPr>
    <p:cSldViewPr snapToGrid="0">
      <p:cViewPr varScale="1">
        <p:scale>
          <a:sx n="88" d="100"/>
          <a:sy n="88" d="100"/>
        </p:scale>
        <p:origin x="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FB24B2C0-44A7-E859-F0F5-248C134869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195FBEB-AFF2-385C-9860-DC3C5A10E1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3ED521-90D3-4786-B7B2-29257DB33A99}" type="datetimeFigureOut">
              <a:rPr lang="fr-FR" smtClean="0"/>
              <a:t>27/03/2025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BC2FB3E-C108-C16D-1C58-DFC3617648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98B3C60-4ADE-17B5-A9E7-ED077B292D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AD0581-994E-4E23-BE9A-FBA5982806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9604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43FFD9-8027-4C6C-B719-3E33B2AEFA5C}" type="datetimeFigureOut">
              <a:rPr lang="fr-FR" smtClean="0"/>
              <a:t>27/03/2025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CCD49A-1064-457F-9288-ED9170BDB4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7161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CCBB6-FBCA-4E1B-8481-3CF74219937C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4958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07D3B-D737-6FBF-D89E-5DB58BB68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0D6A6E0-5CBA-9262-8D53-57F8CB86A3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6FB38C3-9AB6-D267-3C5F-F96E0C929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3186B97-1E7E-E3B3-35F8-8FFA5B1254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CCBB6-FBCA-4E1B-8481-3CF74219937C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0329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5.jpeg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oleObject" Target="../embeddings/oleObject18.bin"/><Relationship Id="rId7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61705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2E298E-8483-7123-962E-65C2DC20D9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pic>
        <p:nvPicPr>
          <p:cNvPr id="8" name="Picture Placeholder 4">
            <a:extLst>
              <a:ext uri="{FF2B5EF4-FFF2-40B4-BE49-F238E27FC236}">
                <a16:creationId xmlns:a16="http://schemas.microsoft.com/office/drawing/2014/main" id="{0DABC13F-E722-938B-B2A7-E7F0C453039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5999" y="152400"/>
            <a:ext cx="5940426" cy="6553200"/>
          </a:xfrm>
          <a:prstGeom prst="rect">
            <a:avLst/>
          </a:prstGeom>
        </p:spPr>
      </p:pic>
      <p:sp>
        <p:nvSpPr>
          <p:cNvPr id="12" name="Titre 2">
            <a:extLst>
              <a:ext uri="{FF2B5EF4-FFF2-40B4-BE49-F238E27FC236}">
                <a16:creationId xmlns:a16="http://schemas.microsoft.com/office/drawing/2014/main" id="{DFB0E0C3-CAA0-E2E5-7CC7-EDF73E786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92" y="2702734"/>
            <a:ext cx="5535032" cy="1200330"/>
          </a:xfrm>
        </p:spPr>
        <p:txBody>
          <a:bodyPr vert="horz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3500" b="1" i="0" kern="1200" spc="-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2323AF6C-B7BC-FD33-DE02-2672963867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392" y="4171763"/>
            <a:ext cx="5535032" cy="615553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rtl="0">
              <a:buFont typeface="Arial" panose="020B0604020202020204" pitchFamily="34" charset="0"/>
              <a:buNone/>
              <a:defRPr lang="fr-FR" sz="1700" b="0" cap="none" baseline="0">
                <a:solidFill>
                  <a:srgbClr val="43A2BF"/>
                </a:solidFill>
                <a:latin typeface="+mj-lt"/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fr-FR"/>
              <a:t>À l’attention de :</a:t>
            </a:r>
          </a:p>
        </p:txBody>
      </p:sp>
      <p:sp>
        <p:nvSpPr>
          <p:cNvPr id="16" name="Espace réservé du pied de page 2">
            <a:extLst>
              <a:ext uri="{FF2B5EF4-FFF2-40B4-BE49-F238E27FC236}">
                <a16:creationId xmlns:a16="http://schemas.microsoft.com/office/drawing/2014/main" id="{2B167ED6-AE00-F126-CF4A-009DB87FCB0D}"/>
              </a:ext>
            </a:extLst>
          </p:cNvPr>
          <p:cNvSpPr txBox="1">
            <a:spLocks/>
          </p:cNvSpPr>
          <p:nvPr/>
        </p:nvSpPr>
        <p:spPr>
          <a:xfrm>
            <a:off x="405392" y="1869619"/>
            <a:ext cx="3826799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fr-FR" sz="850" b="1">
                <a:solidFill>
                  <a:srgbClr val="353637"/>
                </a:solidFill>
                <a:latin typeface="Now" panose="00000800000000000000" pitchFamily="50" charset="0"/>
              </a:rPr>
              <a:t>CABINET DE CONSEIL EN TRANSFORMATION</a:t>
            </a:r>
          </a:p>
          <a:p>
            <a:pPr algn="l" rtl="0"/>
            <a:r>
              <a:rPr lang="fr-FR" sz="700" b="1">
                <a:solidFill>
                  <a:srgbClr val="43A2BF"/>
                </a:solidFill>
                <a:latin typeface="Now" panose="00000800000000000000" pitchFamily="50" charset="0"/>
              </a:rPr>
              <a:t>PARIS – NANTES - NIORT</a:t>
            </a:r>
          </a:p>
        </p:txBody>
      </p:sp>
      <p:sp>
        <p:nvSpPr>
          <p:cNvPr id="17" name="Espace réservé du texte 13">
            <a:extLst>
              <a:ext uri="{FF2B5EF4-FFF2-40B4-BE49-F238E27FC236}">
                <a16:creationId xmlns:a16="http://schemas.microsoft.com/office/drawing/2014/main" id="{BAEA509A-536B-37D9-7FBF-76A40D60B1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5392" y="6232126"/>
            <a:ext cx="3398399" cy="365125"/>
          </a:xfr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fr-FR" sz="1050" b="0" kern="1200" cap="none" baseline="0" dirty="0">
                <a:solidFill>
                  <a:schemeClr val="bg1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AFCADCEA-D7EF-4A23-BEC7-7D6DFD55D92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05392" y="4977908"/>
            <a:ext cx="3398400" cy="1063625"/>
          </a:xfrm>
        </p:spPr>
        <p:txBody>
          <a:bodyPr/>
          <a:lstStyle>
            <a:lvl1pPr marL="0" indent="0" rtl="0"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Insérer le logo client</a:t>
            </a:r>
          </a:p>
        </p:txBody>
      </p:sp>
      <p:pic>
        <p:nvPicPr>
          <p:cNvPr id="3" name="Espace réservé du contenu 14">
            <a:extLst>
              <a:ext uri="{FF2B5EF4-FFF2-40B4-BE49-F238E27FC236}">
                <a16:creationId xmlns:a16="http://schemas.microsoft.com/office/drawing/2014/main" id="{E148F707-7F4A-452A-957D-A68A3040F2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69516" y="521012"/>
            <a:ext cx="3398244" cy="1528773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6D6CB2A-A13C-0602-09B6-D12BA3E91498}"/>
              </a:ext>
            </a:extLst>
          </p:cNvPr>
          <p:cNvSpPr txBox="1"/>
          <p:nvPr/>
        </p:nvSpPr>
        <p:spPr>
          <a:xfrm>
            <a:off x="-1307963" y="4977908"/>
            <a:ext cx="1157769" cy="161158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Pour insérer le logo client :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Cliquer sur l’icône au centre de la zone pour insérer la nouvelle image.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Ajuster le cadrage avec l’outil : </a:t>
            </a:r>
            <a:r>
              <a:rPr lang="fr-FR" sz="1000" b="1" spc="0" baseline="0" noProof="0">
                <a:latin typeface="+mn-lt"/>
              </a:rPr>
              <a:t>Rogner &gt; Ajuster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A52835-DD73-95D3-1FCA-BEC25C36E413}"/>
              </a:ext>
            </a:extLst>
          </p:cNvPr>
          <p:cNvSpPr txBox="1"/>
          <p:nvPr/>
        </p:nvSpPr>
        <p:spPr>
          <a:xfrm>
            <a:off x="-1307963" y="1880092"/>
            <a:ext cx="1157769" cy="238102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rtl="0">
              <a:spcBef>
                <a:spcPts val="600"/>
              </a:spcBef>
            </a:pPr>
            <a:r>
              <a:rPr lang="fr-FR" sz="1000" b="0" spc="0" baseline="0" noProof="0">
                <a:latin typeface="+mn-lt"/>
              </a:rPr>
              <a:t>Trois images de couverture personnalisées existent pour les bureaux de Paris, Niort et Nantes.</a:t>
            </a:r>
          </a:p>
          <a:p>
            <a:pPr rtl="0">
              <a:spcBef>
                <a:spcPts val="600"/>
              </a:spcBef>
            </a:pPr>
            <a:endParaRPr lang="fr-FR" sz="1000" b="0" spc="0" baseline="0" noProof="0">
              <a:latin typeface="+mn-lt"/>
            </a:endParaRPr>
          </a:p>
          <a:p>
            <a:pPr rtl="0">
              <a:spcBef>
                <a:spcPts val="600"/>
              </a:spcBef>
            </a:pPr>
            <a:r>
              <a:rPr lang="fr-FR" sz="1000" b="0" spc="0" baseline="0" noProof="0">
                <a:latin typeface="+mn-lt"/>
              </a:rPr>
              <a:t>Faire un clic droit dans un espace vide de la diapositive, puis sur </a:t>
            </a:r>
            <a:r>
              <a:rPr lang="fr-FR" sz="1000" b="1" spc="0" baseline="0" noProof="0">
                <a:latin typeface="+mn-lt"/>
              </a:rPr>
              <a:t>Diapositive de </a:t>
            </a:r>
            <a:r>
              <a:rPr lang="fr-FR" sz="1000" b="1" spc="0" baseline="0" noProof="0" err="1">
                <a:latin typeface="+mn-lt"/>
              </a:rPr>
              <a:t>titre_Personnalisable</a:t>
            </a:r>
            <a:endParaRPr lang="fr-FR" sz="1000" b="1" spc="0" baseline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36694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51705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D0EBE0-0B87-812D-1291-1E909F85EFE3}"/>
              </a:ext>
            </a:extLst>
          </p:cNvPr>
          <p:cNvSpPr/>
          <p:nvPr/>
        </p:nvSpPr>
        <p:spPr>
          <a:xfrm>
            <a:off x="0" y="0"/>
            <a:ext cx="742453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E45E4-ED9E-3103-5D51-2EACB99B9A04}"/>
              </a:ext>
            </a:extLst>
          </p:cNvPr>
          <p:cNvSpPr/>
          <p:nvPr/>
        </p:nvSpPr>
        <p:spPr>
          <a:xfrm>
            <a:off x="155574" y="152399"/>
            <a:ext cx="3240000" cy="65532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794" y="1606555"/>
            <a:ext cx="2855561" cy="742451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24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3300" y="6339417"/>
            <a:ext cx="5714999" cy="365125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60254" y="1606555"/>
            <a:ext cx="7850745" cy="4570406"/>
          </a:xfrm>
        </p:spPr>
        <p:txBody>
          <a:bodyPr/>
          <a:lstStyle>
            <a:lvl1pPr marL="34290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1800" b="1"/>
            </a:lvl1pPr>
            <a:lvl2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600"/>
            </a:lvl2pPr>
            <a:lvl3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400"/>
            </a:lvl3pPr>
            <a:lvl4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/>
            </a:lvl4pPr>
            <a:lvl5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7C0864-7829-C799-8722-32EE68C7772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5574" y="6340475"/>
            <a:ext cx="362084" cy="365125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6116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In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55891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91" y="2702734"/>
            <a:ext cx="5536800" cy="1200330"/>
          </a:xfrm>
        </p:spPr>
        <p:txBody>
          <a:bodyPr vert="horz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3500" b="1" i="0" kern="1200" spc="-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8" name="Espace réservé du texte 13">
            <a:extLst>
              <a:ext uri="{FF2B5EF4-FFF2-40B4-BE49-F238E27FC236}">
                <a16:creationId xmlns:a16="http://schemas.microsoft.com/office/drawing/2014/main" id="{62CB8C63-10F4-D080-DEBB-D6D14DB08D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391" y="4171763"/>
            <a:ext cx="5536800" cy="615553"/>
          </a:xfr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fr-FR" sz="1700" b="0" kern="1200" cap="none" baseline="0" dirty="0">
                <a:solidFill>
                  <a:srgbClr val="43A2B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Sous-titre de la présentation</a:t>
            </a:r>
          </a:p>
        </p:txBody>
      </p:sp>
      <p:pic>
        <p:nvPicPr>
          <p:cNvPr id="22" name="Espace réservé du contenu 14" descr="Une image contenant Police, Graphique, graphisme, capture d’écran&#10;&#10;Description générée automatiquement">
            <a:extLst>
              <a:ext uri="{FF2B5EF4-FFF2-40B4-BE49-F238E27FC236}">
                <a16:creationId xmlns:a16="http://schemas.microsoft.com/office/drawing/2014/main" id="{361737A8-8A52-2A97-77F8-8D7DBF70DB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516" y="518616"/>
            <a:ext cx="3398244" cy="1533566"/>
          </a:xfrm>
          <a:prstGeom prst="rect">
            <a:avLst/>
          </a:prstGeom>
        </p:spPr>
      </p:pic>
      <p:sp>
        <p:nvSpPr>
          <p:cNvPr id="23" name="Espace réservé du pied de page 2">
            <a:extLst>
              <a:ext uri="{FF2B5EF4-FFF2-40B4-BE49-F238E27FC236}">
                <a16:creationId xmlns:a16="http://schemas.microsoft.com/office/drawing/2014/main" id="{0D4F6383-6F22-24BA-EB2D-43D439F7C189}"/>
              </a:ext>
            </a:extLst>
          </p:cNvPr>
          <p:cNvSpPr txBox="1">
            <a:spLocks/>
          </p:cNvSpPr>
          <p:nvPr/>
        </p:nvSpPr>
        <p:spPr>
          <a:xfrm>
            <a:off x="405392" y="6232126"/>
            <a:ext cx="3826799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fr-FR" sz="850" b="1">
                <a:solidFill>
                  <a:srgbClr val="353637"/>
                </a:solidFill>
                <a:latin typeface="Now" panose="00000800000000000000" pitchFamily="50" charset="0"/>
              </a:rPr>
              <a:t>CABINET DE CONSEIL EN TRANSFORMATION</a:t>
            </a:r>
          </a:p>
          <a:p>
            <a:pPr algn="l" rtl="0"/>
            <a:r>
              <a:rPr lang="fr-FR" sz="700" b="1">
                <a:solidFill>
                  <a:srgbClr val="43A2BF"/>
                </a:solidFill>
                <a:latin typeface="Now" panose="00000800000000000000" pitchFamily="50" charset="0"/>
              </a:rPr>
              <a:t>PARIS – NANTES - NIORT</a:t>
            </a:r>
          </a:p>
        </p:txBody>
      </p:sp>
      <p:sp>
        <p:nvSpPr>
          <p:cNvPr id="27" name="Espace réservé du texte 13">
            <a:extLst>
              <a:ext uri="{FF2B5EF4-FFF2-40B4-BE49-F238E27FC236}">
                <a16:creationId xmlns:a16="http://schemas.microsoft.com/office/drawing/2014/main" id="{82948179-F907-438B-6216-BE02362C57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5392" y="5306443"/>
            <a:ext cx="3398400" cy="365125"/>
          </a:xfr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+mj-lt"/>
              <a:buNone/>
              <a:defRPr lang="fr-FR" sz="1050" b="0" kern="1200" cap="none" baseline="0" dirty="0">
                <a:solidFill>
                  <a:schemeClr val="bg1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4B024DAB-970A-A95E-B527-DDAAC1E66A7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5999" y="152400"/>
            <a:ext cx="5940426" cy="65532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748005A-86AE-5AF9-54E1-49B6AA7560AB}"/>
              </a:ext>
            </a:extLst>
          </p:cNvPr>
          <p:cNvSpPr txBox="1"/>
          <p:nvPr/>
        </p:nvSpPr>
        <p:spPr>
          <a:xfrm>
            <a:off x="-1307963" y="4977908"/>
            <a:ext cx="1157769" cy="161158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Pour insérer le logo client :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Cliquer sur l’icône au centre de la zone pour insérer la nouvelle image.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Ajuster le cadrage avec l’outil : </a:t>
            </a:r>
            <a:r>
              <a:rPr lang="fr-FR" sz="1000" b="1" spc="0" baseline="0" noProof="0">
                <a:latin typeface="+mn-lt"/>
              </a:rPr>
              <a:t>Rogner &gt; Ajuster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45E5415-A25C-1D04-E049-BFFD02009B61}"/>
              </a:ext>
            </a:extLst>
          </p:cNvPr>
          <p:cNvSpPr txBox="1"/>
          <p:nvPr/>
        </p:nvSpPr>
        <p:spPr>
          <a:xfrm>
            <a:off x="-1307963" y="0"/>
            <a:ext cx="1157769" cy="468935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Pour modifier l’image de couverture (à droite) :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Insérer l’image souhaitée sur une autre diapositive.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Sélectionner l’image de couverture puis cliquer sur </a:t>
            </a:r>
            <a:r>
              <a:rPr lang="fr-FR" sz="1000" b="1" spc="0" baseline="0" noProof="0">
                <a:latin typeface="+mn-lt"/>
              </a:rPr>
              <a:t>Reproduire la mise en forme (CTRL+SHIFT+C)</a:t>
            </a:r>
            <a:r>
              <a:rPr lang="fr-FR" sz="1000" spc="0" baseline="0" noProof="0">
                <a:latin typeface="+mn-lt"/>
              </a:rPr>
              <a:t> 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Se rendre sur l’autre diapositive, </a:t>
            </a:r>
            <a:r>
              <a:rPr lang="fr-FR" sz="1000" b="1" spc="0" baseline="0" noProof="0">
                <a:latin typeface="+mn-lt"/>
              </a:rPr>
              <a:t>Reproduire la mise en forme (CTRL+SHIFT+V)</a:t>
            </a:r>
            <a:r>
              <a:rPr lang="fr-FR" sz="1000" spc="0" baseline="0" noProof="0">
                <a:latin typeface="+mn-lt"/>
              </a:rPr>
              <a:t> sur l’image souhaitée, puis cliquer sur </a:t>
            </a:r>
            <a:r>
              <a:rPr lang="fr-FR" sz="1000" b="1" spc="0" baseline="0" noProof="0">
                <a:latin typeface="+mn-lt"/>
              </a:rPr>
              <a:t>Copier</a:t>
            </a:r>
            <a:r>
              <a:rPr lang="fr-FR" sz="1000" spc="0" baseline="0" noProof="0">
                <a:latin typeface="+mn-lt"/>
              </a:rPr>
              <a:t>.</a:t>
            </a:r>
          </a:p>
          <a:p>
            <a:pPr rtl="0">
              <a:spcBef>
                <a:spcPts val="600"/>
              </a:spcBef>
            </a:pPr>
            <a:r>
              <a:rPr lang="fr-FR" sz="1000" b="0" spc="0" baseline="0" noProof="0">
                <a:latin typeface="+mn-lt"/>
              </a:rPr>
              <a:t>Faire un clic droit sur l’image de couverture puis </a:t>
            </a:r>
            <a:r>
              <a:rPr lang="fr-FR" sz="1000" b="1" spc="0" baseline="0" noProof="0">
                <a:latin typeface="+mn-lt"/>
              </a:rPr>
              <a:t>: changer d’image &gt; À partir du presse papier </a:t>
            </a:r>
          </a:p>
        </p:txBody>
      </p:sp>
    </p:spTree>
    <p:extLst>
      <p:ext uri="{BB962C8B-B14F-4D97-AF65-F5344CB8AC3E}">
        <p14:creationId xmlns:p14="http://schemas.microsoft.com/office/powerpoint/2010/main" val="250383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Personnalis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86831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A52E298E-8483-7123-962E-65C2DC20D9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12" name="Titre 2">
            <a:extLst>
              <a:ext uri="{FF2B5EF4-FFF2-40B4-BE49-F238E27FC236}">
                <a16:creationId xmlns:a16="http://schemas.microsoft.com/office/drawing/2014/main" id="{DFB0E0C3-CAA0-E2E5-7CC7-EDF73E786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92" y="2702734"/>
            <a:ext cx="5535032" cy="1200330"/>
          </a:xfrm>
        </p:spPr>
        <p:txBody>
          <a:bodyPr vert="horz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3500" b="1" i="0" kern="1200" spc="-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2323AF6C-B7BC-FD33-DE02-2672963867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392" y="4171763"/>
            <a:ext cx="5535032" cy="615553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rtl="0">
              <a:buFont typeface="Arial" panose="020B0604020202020204" pitchFamily="34" charset="0"/>
              <a:buNone/>
              <a:defRPr lang="fr-FR" sz="1700" b="0" cap="none" baseline="0">
                <a:solidFill>
                  <a:srgbClr val="43A2BF"/>
                </a:solidFill>
                <a:latin typeface="+mj-lt"/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fr-FR"/>
              <a:t>À l’attention de :</a:t>
            </a:r>
          </a:p>
        </p:txBody>
      </p:sp>
      <p:sp>
        <p:nvSpPr>
          <p:cNvPr id="16" name="Espace réservé du pied de page 2">
            <a:extLst>
              <a:ext uri="{FF2B5EF4-FFF2-40B4-BE49-F238E27FC236}">
                <a16:creationId xmlns:a16="http://schemas.microsoft.com/office/drawing/2014/main" id="{2B167ED6-AE00-F126-CF4A-009DB87FCB0D}"/>
              </a:ext>
            </a:extLst>
          </p:cNvPr>
          <p:cNvSpPr txBox="1">
            <a:spLocks/>
          </p:cNvSpPr>
          <p:nvPr/>
        </p:nvSpPr>
        <p:spPr>
          <a:xfrm>
            <a:off x="405392" y="1869619"/>
            <a:ext cx="3826799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fr-FR" sz="850" b="1">
                <a:solidFill>
                  <a:srgbClr val="353637"/>
                </a:solidFill>
                <a:latin typeface="Now" panose="00000800000000000000" pitchFamily="50" charset="0"/>
              </a:rPr>
              <a:t>CABINET DE CONSEIL EN TRANSFORMATION</a:t>
            </a:r>
          </a:p>
          <a:p>
            <a:pPr algn="l" rtl="0"/>
            <a:r>
              <a:rPr lang="fr-FR" sz="700" b="1">
                <a:solidFill>
                  <a:srgbClr val="43A2BF"/>
                </a:solidFill>
                <a:latin typeface="Now" panose="00000800000000000000" pitchFamily="50" charset="0"/>
              </a:rPr>
              <a:t>PARIS – NANTES - NIORT</a:t>
            </a:r>
          </a:p>
        </p:txBody>
      </p:sp>
      <p:sp>
        <p:nvSpPr>
          <p:cNvPr id="17" name="Espace réservé du texte 13">
            <a:extLst>
              <a:ext uri="{FF2B5EF4-FFF2-40B4-BE49-F238E27FC236}">
                <a16:creationId xmlns:a16="http://schemas.microsoft.com/office/drawing/2014/main" id="{BAEA509A-536B-37D9-7FBF-76A40D60B1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5393" y="6232126"/>
            <a:ext cx="3398400" cy="365125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1050" b="0" cap="none" baseline="0" dirty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marL="0" lvl="0" indent="0">
              <a:lnSpc>
                <a:spcPct val="90000"/>
              </a:lnSpc>
              <a:spcBef>
                <a:spcPts val="1000"/>
              </a:spcBef>
              <a:buFont typeface="+mj-lt"/>
              <a:buNone/>
            </a:pPr>
            <a:r>
              <a:rPr lang="fr-FR"/>
              <a:t>Date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AFCADCEA-D7EF-4A23-BEC7-7D6DFD55D92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05392" y="4977908"/>
            <a:ext cx="3398400" cy="1063625"/>
          </a:xfrm>
        </p:spPr>
        <p:txBody>
          <a:bodyPr/>
          <a:lstStyle>
            <a:lvl1pPr marL="0" indent="0" rtl="0"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Insérer le logo client</a:t>
            </a:r>
          </a:p>
        </p:txBody>
      </p:sp>
      <p:pic>
        <p:nvPicPr>
          <p:cNvPr id="13" name="Espace réservé du contenu 14">
            <a:extLst>
              <a:ext uri="{FF2B5EF4-FFF2-40B4-BE49-F238E27FC236}">
                <a16:creationId xmlns:a16="http://schemas.microsoft.com/office/drawing/2014/main" id="{A662533E-9044-50F4-6124-A854428ABE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269516" y="521012"/>
            <a:ext cx="3398244" cy="1528773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C7587D82-E432-0963-A697-4CFE56F47A5B}"/>
              </a:ext>
            </a:extLst>
          </p:cNvPr>
          <p:cNvSpPr txBox="1"/>
          <p:nvPr/>
        </p:nvSpPr>
        <p:spPr>
          <a:xfrm>
            <a:off x="-1307963" y="4977908"/>
            <a:ext cx="1157769" cy="161158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Pour insérer le logo client :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Cliquer sur l’icône au centre de la zone pour insérer la nouvelle image.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Ajuster le cadrage avec l’outil : </a:t>
            </a:r>
            <a:r>
              <a:rPr lang="fr-FR" sz="1000" b="1" spc="0" baseline="0" noProof="0">
                <a:latin typeface="+mn-lt"/>
              </a:rPr>
              <a:t>Rogner &gt; Ajuster</a:t>
            </a:r>
          </a:p>
        </p:txBody>
      </p:sp>
      <p:sp>
        <p:nvSpPr>
          <p:cNvPr id="10" name="Espace réservé pour une image  8">
            <a:extLst>
              <a:ext uri="{FF2B5EF4-FFF2-40B4-BE49-F238E27FC236}">
                <a16:creationId xmlns:a16="http://schemas.microsoft.com/office/drawing/2014/main" id="{87E1669B-0B26-BB47-9924-6E636B4293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095996" y="152400"/>
            <a:ext cx="5940424" cy="6553200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637B34E-105B-3E7F-55FE-DC172C64C96F}"/>
              </a:ext>
            </a:extLst>
          </p:cNvPr>
          <p:cNvSpPr txBox="1"/>
          <p:nvPr/>
        </p:nvSpPr>
        <p:spPr>
          <a:xfrm>
            <a:off x="-1307963" y="1880092"/>
            <a:ext cx="1157769" cy="276574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rtl="0">
              <a:spcBef>
                <a:spcPts val="600"/>
              </a:spcBef>
            </a:pPr>
            <a:r>
              <a:rPr lang="fr-FR" sz="1000" b="0" spc="0" baseline="0" noProof="0">
                <a:latin typeface="+mn-lt"/>
              </a:rPr>
              <a:t>Cliquez sur l’icone pour ajouter l’image de couverture</a:t>
            </a:r>
          </a:p>
          <a:p>
            <a:pPr rtl="0">
              <a:spcBef>
                <a:spcPts val="600"/>
              </a:spcBef>
            </a:pPr>
            <a:r>
              <a:rPr lang="fr-FR" sz="1000" b="0" spc="0" baseline="0" noProof="0">
                <a:latin typeface="+mn-lt"/>
              </a:rPr>
              <a:t>Dans l’explorateur de fichiers, rendez-vous dans </a:t>
            </a:r>
            <a:r>
              <a:rPr lang="fr-FR" sz="1000" b="1" spc="0" baseline="0" noProof="0">
                <a:latin typeface="+mn-lt"/>
              </a:rPr>
              <a:t>01_Essentiels &gt; 03 Thèmes et </a:t>
            </a:r>
            <a:r>
              <a:rPr lang="fr-FR" sz="1000" b="1" spc="0" baseline="0" noProof="0" err="1">
                <a:latin typeface="+mn-lt"/>
              </a:rPr>
              <a:t>templates</a:t>
            </a:r>
            <a:endParaRPr lang="fr-FR" sz="1000" b="1" spc="0" baseline="0" noProof="0">
              <a:latin typeface="+mn-lt"/>
            </a:endParaRPr>
          </a:p>
          <a:p>
            <a:pPr rtl="0">
              <a:spcBef>
                <a:spcPts val="600"/>
              </a:spcBef>
            </a:pPr>
            <a:endParaRPr lang="fr-FR" sz="1000" b="1" spc="0" baseline="0" noProof="0">
              <a:latin typeface="+mn-lt"/>
            </a:endParaRPr>
          </a:p>
          <a:p>
            <a:pPr rtl="0">
              <a:spcBef>
                <a:spcPts val="600"/>
              </a:spcBef>
            </a:pPr>
            <a:r>
              <a:rPr lang="fr-FR" sz="1000" b="0" spc="0" baseline="0" noProof="0">
                <a:latin typeface="+mn-lt"/>
              </a:rPr>
              <a:t>Choisissez parmi les images prédéfinies celle qui convient à votre présentation</a:t>
            </a:r>
          </a:p>
        </p:txBody>
      </p:sp>
    </p:spTree>
    <p:extLst>
      <p:ext uri="{BB962C8B-B14F-4D97-AF65-F5344CB8AC3E}">
        <p14:creationId xmlns:p14="http://schemas.microsoft.com/office/powerpoint/2010/main" val="4244951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03829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D0EBE0-0B87-812D-1291-1E909F85EFE3}"/>
              </a:ext>
            </a:extLst>
          </p:cNvPr>
          <p:cNvSpPr/>
          <p:nvPr/>
        </p:nvSpPr>
        <p:spPr>
          <a:xfrm>
            <a:off x="0" y="0"/>
            <a:ext cx="742453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E45E4-ED9E-3103-5D51-2EACB99B9A04}"/>
              </a:ext>
            </a:extLst>
          </p:cNvPr>
          <p:cNvSpPr/>
          <p:nvPr/>
        </p:nvSpPr>
        <p:spPr>
          <a:xfrm>
            <a:off x="155574" y="152399"/>
            <a:ext cx="3240000" cy="65532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794" y="1606555"/>
            <a:ext cx="2855561" cy="742451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24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3300" y="6339417"/>
            <a:ext cx="5714999" cy="365125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60000" y="1606555"/>
            <a:ext cx="7851600" cy="4570406"/>
          </a:xfrm>
        </p:spPr>
        <p:txBody>
          <a:bodyPr/>
          <a:lstStyle>
            <a:lvl1pPr marL="34290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+mj-lt"/>
              <a:buAutoNum type="arabicPeriod"/>
              <a:defRPr sz="1800" b="1"/>
            </a:lvl1pPr>
            <a:lvl2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defRPr sz="1600"/>
            </a:lvl2pPr>
            <a:lvl3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defRPr sz="1400"/>
            </a:lvl3pPr>
            <a:lvl4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defRPr sz="1200"/>
            </a:lvl4pPr>
            <a:lvl5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05234F8-94D3-C165-62E6-663182F5CFC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5574" y="6340475"/>
            <a:ext cx="362084" cy="365125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1288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92664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D0EBE0-0B87-812D-1291-1E909F85EFE3}"/>
              </a:ext>
            </a:extLst>
          </p:cNvPr>
          <p:cNvSpPr/>
          <p:nvPr/>
        </p:nvSpPr>
        <p:spPr>
          <a:xfrm>
            <a:off x="0" y="0"/>
            <a:ext cx="742453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E45E4-ED9E-3103-5D51-2EACB99B9A04}"/>
              </a:ext>
            </a:extLst>
          </p:cNvPr>
          <p:cNvSpPr/>
          <p:nvPr/>
        </p:nvSpPr>
        <p:spPr>
          <a:xfrm>
            <a:off x="155574" y="152399"/>
            <a:ext cx="3240000" cy="65532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794" y="1606555"/>
            <a:ext cx="2855561" cy="742451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24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3300" y="6339417"/>
            <a:ext cx="5714999" cy="365125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60000" y="1606555"/>
            <a:ext cx="7851600" cy="4570406"/>
          </a:xfrm>
        </p:spPr>
        <p:txBody>
          <a:bodyPr/>
          <a:lstStyle>
            <a:lvl1pPr marL="34290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+mj-lt"/>
              <a:buAutoNum type="arabicPeriod"/>
              <a:defRPr sz="1800" b="1"/>
            </a:lvl1pPr>
            <a:lvl2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defRPr sz="1600"/>
            </a:lvl2pPr>
            <a:lvl3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defRPr sz="1400"/>
            </a:lvl3pPr>
            <a:lvl4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defRPr sz="1200"/>
            </a:lvl4pPr>
            <a:lvl5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967A15B-ADFE-E002-39C3-0831F89573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5574" y="6340475"/>
            <a:ext cx="362084" cy="365125"/>
          </a:xfrm>
        </p:spPr>
        <p:txBody>
          <a:bodyPr/>
          <a:lstStyle>
            <a:lvl1pPr rtl="0"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3773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275827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D0EBE0-0B87-812D-1291-1E909F85EFE3}"/>
              </a:ext>
            </a:extLst>
          </p:cNvPr>
          <p:cNvSpPr/>
          <p:nvPr/>
        </p:nvSpPr>
        <p:spPr>
          <a:xfrm>
            <a:off x="0" y="0"/>
            <a:ext cx="742453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E45E4-ED9E-3103-5D51-2EACB99B9A04}"/>
              </a:ext>
            </a:extLst>
          </p:cNvPr>
          <p:cNvSpPr/>
          <p:nvPr/>
        </p:nvSpPr>
        <p:spPr>
          <a:xfrm>
            <a:off x="155574" y="152399"/>
            <a:ext cx="3240000" cy="65532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794" y="1606555"/>
            <a:ext cx="2855561" cy="742451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24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3300" y="6339417"/>
            <a:ext cx="5714999" cy="365125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60000" y="1606555"/>
            <a:ext cx="7851600" cy="4570406"/>
          </a:xfrm>
        </p:spPr>
        <p:txBody>
          <a:bodyPr/>
          <a:lstStyle>
            <a:lvl1pPr marL="34290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sz="1800" b="1"/>
            </a:lvl1pPr>
            <a:lvl2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defRPr sz="1600"/>
            </a:lvl2pPr>
            <a:lvl3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defRPr sz="1400"/>
            </a:lvl3pPr>
            <a:lvl4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defRPr sz="1200"/>
            </a:lvl4pPr>
            <a:lvl5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6D8198-8C95-89E2-D4DD-26835884EF4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5574" y="6340475"/>
            <a:ext cx="362084" cy="365125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5160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42267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D0EBE0-0B87-812D-1291-1E909F85EFE3}"/>
              </a:ext>
            </a:extLst>
          </p:cNvPr>
          <p:cNvSpPr/>
          <p:nvPr/>
        </p:nvSpPr>
        <p:spPr>
          <a:xfrm>
            <a:off x="0" y="0"/>
            <a:ext cx="742453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E45E4-ED9E-3103-5D51-2EACB99B9A04}"/>
              </a:ext>
            </a:extLst>
          </p:cNvPr>
          <p:cNvSpPr/>
          <p:nvPr/>
        </p:nvSpPr>
        <p:spPr>
          <a:xfrm>
            <a:off x="155574" y="152399"/>
            <a:ext cx="3240000" cy="65532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794" y="1606555"/>
            <a:ext cx="2855561" cy="742451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24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3300" y="6339417"/>
            <a:ext cx="5714999" cy="365125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60000" y="1606555"/>
            <a:ext cx="7851600" cy="4570406"/>
          </a:xfrm>
        </p:spPr>
        <p:txBody>
          <a:bodyPr/>
          <a:lstStyle>
            <a:lvl1pPr marL="34290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Font typeface="+mj-lt"/>
              <a:buAutoNum type="arabicPeriod"/>
              <a:defRPr sz="1800" b="1"/>
            </a:lvl1pPr>
            <a:lvl2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defRPr sz="1600"/>
            </a:lvl2pPr>
            <a:lvl3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defRPr sz="1400"/>
            </a:lvl3pPr>
            <a:lvl4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defRPr sz="1200"/>
            </a:lvl4pPr>
            <a:lvl5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BD0B84-28D6-D743-1B40-DAC84CEB1E0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5574" y="6340475"/>
            <a:ext cx="362084" cy="365125"/>
          </a:xfrm>
        </p:spPr>
        <p:txBody>
          <a:bodyPr/>
          <a:lstStyle>
            <a:lvl1pPr rtl="0"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5925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4035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D0EBE0-0B87-812D-1291-1E909F85EFE3}"/>
              </a:ext>
            </a:extLst>
          </p:cNvPr>
          <p:cNvSpPr/>
          <p:nvPr/>
        </p:nvSpPr>
        <p:spPr>
          <a:xfrm>
            <a:off x="0" y="0"/>
            <a:ext cx="742453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E45E4-ED9E-3103-5D51-2EACB99B9A04}"/>
              </a:ext>
            </a:extLst>
          </p:cNvPr>
          <p:cNvSpPr/>
          <p:nvPr/>
        </p:nvSpPr>
        <p:spPr>
          <a:xfrm>
            <a:off x="155574" y="152399"/>
            <a:ext cx="3240000" cy="65532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794" y="1606555"/>
            <a:ext cx="2855561" cy="742451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24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3300" y="6339417"/>
            <a:ext cx="5714999" cy="365125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60000" y="1606555"/>
            <a:ext cx="7851600" cy="4570406"/>
          </a:xfrm>
        </p:spPr>
        <p:txBody>
          <a:bodyPr/>
          <a:lstStyle>
            <a:lvl1pPr marL="34290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+mj-lt"/>
              <a:buAutoNum type="arabicPeriod"/>
              <a:defRPr sz="1800" b="1"/>
            </a:lvl1pPr>
            <a:lvl2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defRPr sz="1600"/>
            </a:lvl2pPr>
            <a:lvl3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defRPr sz="1400"/>
            </a:lvl3pPr>
            <a:lvl4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defRPr sz="1200"/>
            </a:lvl4pPr>
            <a:lvl5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631EDE-55F1-3AAA-3114-F0C522F81DF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5574" y="6340475"/>
            <a:ext cx="362084" cy="365125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5910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t 9" hidden="1">
            <a:extLst>
              <a:ext uri="{FF2B5EF4-FFF2-40B4-BE49-F238E27FC236}">
                <a16:creationId xmlns:a16="http://schemas.microsoft.com/office/drawing/2014/main" id="{05A7B304-0FC6-A7CA-FA84-47B4F070611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612103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10" name="Objet 9" hidden="1">
                        <a:extLst>
                          <a:ext uri="{FF2B5EF4-FFF2-40B4-BE49-F238E27FC236}">
                            <a16:creationId xmlns:a16="http://schemas.microsoft.com/office/drawing/2014/main" id="{05A7B304-0FC6-A7CA-FA84-47B4F07061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54BAF359-327C-B4E8-9F79-27F34771B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8" y="485692"/>
            <a:ext cx="11430000" cy="695155"/>
          </a:xfrm>
        </p:spPr>
        <p:txBody>
          <a:bodyPr vert="horz" anchor="ctr"/>
          <a:lstStyle>
            <a:lvl1pPr rtl="0">
              <a:defRPr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E6FB74B-9577-0CA4-476E-AF81AA57CD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7C0B86-BB50-84CF-E7B5-FAD5FB9A6B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2541A85A-BD07-8F9E-3F4A-2FA68B1A911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984917"/>
            <a:ext cx="11430003" cy="419204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3C495DC-BFBC-1250-EA79-F47766C421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99154"/>
            <a:ext cx="11430003" cy="626469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fr-FR" sz="1800" b="1" cap="all" baseline="0" dirty="0">
                <a:solidFill>
                  <a:srgbClr val="43A2BF"/>
                </a:solidFill>
                <a:latin typeface="+mj-lt"/>
              </a:defRPr>
            </a:lvl1pPr>
          </a:lstStyle>
          <a:p>
            <a:pPr marL="171450" lvl="0" indent="-171450">
              <a:lnSpc>
                <a:spcPct val="90000"/>
              </a:lnSpc>
            </a:pPr>
            <a:r>
              <a:rPr lang="fr-FR"/>
              <a:t>Sous titre</a:t>
            </a:r>
          </a:p>
        </p:txBody>
      </p:sp>
      <p:sp>
        <p:nvSpPr>
          <p:cNvPr id="5" name="Espace réservé de la date 10">
            <a:extLst>
              <a:ext uri="{FF2B5EF4-FFF2-40B4-BE49-F238E27FC236}">
                <a16:creationId xmlns:a16="http://schemas.microsoft.com/office/drawing/2014/main" id="{22AE12D9-7C4B-4DE4-134B-9CC71CD320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78871C8A-9DB9-41A2-9AC6-C4B190C41F7B}" type="datetime1">
              <a:rPr lang="fr-FR" smtClean="0"/>
              <a:t>27/03/2025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8046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48463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6" y="485693"/>
            <a:ext cx="11430003" cy="6948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98800"/>
            <a:ext cx="5580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C09F6E40-0B05-4D05-F386-EB73033D29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1005" y="1198800"/>
            <a:ext cx="5580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983600"/>
            <a:ext cx="5580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contenu 11">
            <a:extLst>
              <a:ext uri="{FF2B5EF4-FFF2-40B4-BE49-F238E27FC236}">
                <a16:creationId xmlns:a16="http://schemas.microsoft.com/office/drawing/2014/main" id="{922C5E9B-333D-AE2C-4982-73E30FAD37C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1005" y="1983600"/>
            <a:ext cx="5580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e la date 10">
            <a:extLst>
              <a:ext uri="{FF2B5EF4-FFF2-40B4-BE49-F238E27FC236}">
                <a16:creationId xmlns:a16="http://schemas.microsoft.com/office/drawing/2014/main" id="{7FD1B616-4341-3030-BFB9-20475C1703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65BCA2E0-0322-4472-BF8D-C1C07EBADC96}" type="datetime1">
              <a:rPr lang="fr-FR" smtClean="0"/>
              <a:t>27/03/2025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6022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1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20903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6948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98800"/>
            <a:ext cx="3780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 dirty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983600"/>
            <a:ext cx="3780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41999" y="1198800"/>
            <a:ext cx="7569001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 dirty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41999" y="1983600"/>
            <a:ext cx="7569001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e la date 10">
            <a:extLst>
              <a:ext uri="{FF2B5EF4-FFF2-40B4-BE49-F238E27FC236}">
                <a16:creationId xmlns:a16="http://schemas.microsoft.com/office/drawing/2014/main" id="{DC7A2E00-9D9B-8C17-9A7A-C75861A07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7BD07436-52DC-4409-8EE3-6E2A87171B43}" type="datetime1">
              <a:rPr lang="fr-FR" smtClean="0"/>
              <a:t>27/03/2025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47668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46631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6" y="485693"/>
            <a:ext cx="11430003" cy="6948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98800"/>
            <a:ext cx="7641002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983600"/>
            <a:ext cx="7641001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3000" y="1198800"/>
            <a:ext cx="3708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03000" y="1983600"/>
            <a:ext cx="3708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e la date 10">
            <a:extLst>
              <a:ext uri="{FF2B5EF4-FFF2-40B4-BE49-F238E27FC236}">
                <a16:creationId xmlns:a16="http://schemas.microsoft.com/office/drawing/2014/main" id="{C863AA0D-DCE2-4840-B50F-1FB5566C3D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938DB7FC-3A29-4747-A142-8001527C812B}" type="datetime1">
              <a:rPr lang="fr-FR" smtClean="0"/>
              <a:t>27/03/2025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7185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ois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25827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6" y="485693"/>
            <a:ext cx="11430003" cy="6948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98800"/>
            <a:ext cx="3780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 dirty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983600"/>
            <a:ext cx="3780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061B42E4-1FCD-A654-7B40-D184085DD1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05998" y="1198800"/>
            <a:ext cx="3780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1" name="Espace réservé du contenu 11">
            <a:extLst>
              <a:ext uri="{FF2B5EF4-FFF2-40B4-BE49-F238E27FC236}">
                <a16:creationId xmlns:a16="http://schemas.microsoft.com/office/drawing/2014/main" id="{5C41A9E7-AEDF-C9A6-A6FC-31C65E7147D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05998" y="1983600"/>
            <a:ext cx="3780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1000" y="1198800"/>
            <a:ext cx="3780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31000" y="1983600"/>
            <a:ext cx="3780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e la date 10">
            <a:extLst>
              <a:ext uri="{FF2B5EF4-FFF2-40B4-BE49-F238E27FC236}">
                <a16:creationId xmlns:a16="http://schemas.microsoft.com/office/drawing/2014/main" id="{B65B5D9E-220C-683A-78B0-95CF6CB26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8E5FB0A7-7F23-4E6A-9795-4773C0DDFEEE}" type="datetime1">
              <a:rPr lang="fr-FR" smtClean="0"/>
              <a:t>27/03/2025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7404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&amp;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821172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98800"/>
            <a:ext cx="11430003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Font typeface="Arial" panose="020B0604020202020204" pitchFamily="34" charset="0"/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7" name="Espace réservé de la date 10">
            <a:extLst>
              <a:ext uri="{FF2B5EF4-FFF2-40B4-BE49-F238E27FC236}">
                <a16:creationId xmlns:a16="http://schemas.microsoft.com/office/drawing/2014/main" id="{B2FC24D8-9A98-BB5B-8D7A-C1EFA24C4D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521D2C54-CCAC-40AD-839B-4B97D69A549F}" type="datetime1">
              <a:rPr lang="fr-FR" smtClean="0"/>
              <a:t>27/03/2025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22665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bleue à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318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514BD427-C85E-7FF3-5ADB-6C9695765641}"/>
              </a:ext>
            </a:extLst>
          </p:cNvPr>
          <p:cNvSpPr/>
          <p:nvPr/>
        </p:nvSpPr>
        <p:spPr>
          <a:xfrm>
            <a:off x="9003891" y="6179574"/>
            <a:ext cx="3188110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30EC56-780E-456D-F690-0606D4ED1B3A}"/>
              </a:ext>
            </a:extLst>
          </p:cNvPr>
          <p:cNvSpPr/>
          <p:nvPr/>
        </p:nvSpPr>
        <p:spPr>
          <a:xfrm>
            <a:off x="9504486" y="152401"/>
            <a:ext cx="2531939" cy="6548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9041953" cy="6948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570424" y="6340476"/>
            <a:ext cx="7852526" cy="360000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80995" y="6340475"/>
            <a:ext cx="362086" cy="360001"/>
          </a:xfrm>
        </p:spPr>
        <p:txBody>
          <a:bodyPr vert="horz" lIns="91440" tIns="45720" rIns="91440" bIns="45720" rtlCol="0" anchor="ctr"/>
          <a:lstStyle>
            <a:lvl1pPr rtl="0">
              <a:defRPr lang="fr-FR" smtClean="0"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98800"/>
            <a:ext cx="9041953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Font typeface="Arial" panose="020B0604020202020204" pitchFamily="34" charset="0"/>
              <a:buNone/>
              <a:defRPr lang="fr-FR" sz="1800" b="1" cap="all" baseline="0" dirty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B8E04866-5B0C-A17E-298A-637EC30BB1C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983600"/>
            <a:ext cx="9041952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12" name="Graphique 11">
            <a:extLst>
              <a:ext uri="{FF2B5EF4-FFF2-40B4-BE49-F238E27FC236}">
                <a16:creationId xmlns:a16="http://schemas.microsoft.com/office/drawing/2014/main" id="{CC38F476-59DD-8511-7A29-8B342AED43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19772" y="286503"/>
            <a:ext cx="1901366" cy="855370"/>
          </a:xfrm>
          <a:prstGeom prst="rect">
            <a:avLst/>
          </a:prstGeom>
        </p:spPr>
      </p:pic>
      <p:sp>
        <p:nvSpPr>
          <p:cNvPr id="10" name="Espace réservé de la date 10">
            <a:extLst>
              <a:ext uri="{FF2B5EF4-FFF2-40B4-BE49-F238E27FC236}">
                <a16:creationId xmlns:a16="http://schemas.microsoft.com/office/drawing/2014/main" id="{33736BB2-04AE-E18A-6F46-42CC1E8CE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C54E723-D22E-4F2F-BAD1-AC559C1EE34F}" type="datetime1">
              <a:rPr lang="fr-FR" smtClean="0"/>
              <a:t>27/03/2025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4435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22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s contacts :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94016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95179120-2B8B-CC53-5EDD-380030E693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pic>
        <p:nvPicPr>
          <p:cNvPr id="2" name="Graphique 1">
            <a:extLst>
              <a:ext uri="{FF2B5EF4-FFF2-40B4-BE49-F238E27FC236}">
                <a16:creationId xmlns:a16="http://schemas.microsoft.com/office/drawing/2014/main" id="{3CC61307-6F61-6888-EB92-0346D43A92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r="45865"/>
          <a:stretch/>
        </p:blipFill>
        <p:spPr>
          <a:xfrm>
            <a:off x="8537849" y="0"/>
            <a:ext cx="3654151" cy="6858000"/>
          </a:xfrm>
          <a:prstGeom prst="rect">
            <a:avLst/>
          </a:prstGeom>
        </p:spPr>
      </p:pic>
      <p:sp>
        <p:nvSpPr>
          <p:cNvPr id="7" name="Titre 2">
            <a:extLst>
              <a:ext uri="{FF2B5EF4-FFF2-40B4-BE49-F238E27FC236}">
                <a16:creationId xmlns:a16="http://schemas.microsoft.com/office/drawing/2014/main" id="{A0F06A95-1F27-C760-E36A-1E7C78DB1195}"/>
              </a:ext>
            </a:extLst>
          </p:cNvPr>
          <p:cNvSpPr txBox="1">
            <a:spLocks/>
          </p:cNvSpPr>
          <p:nvPr/>
        </p:nvSpPr>
        <p:spPr bwMode="auto">
          <a:xfrm>
            <a:off x="452123" y="5754279"/>
            <a:ext cx="1391963" cy="26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>
              <a:lnSpc>
                <a:spcPct val="90000"/>
              </a:lnSpc>
            </a:pPr>
            <a:r>
              <a:rPr lang="fr-FR" sz="900">
                <a:solidFill>
                  <a:schemeClr val="tx2"/>
                </a:solidFill>
                <a:latin typeface="+mn-lt"/>
                <a:ea typeface="+mj-ea"/>
                <a:cs typeface="+mj-cs"/>
              </a:rPr>
              <a:t>Mentions légales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4B611569-DFE4-D6E5-DB01-4C76E792C0A3}"/>
              </a:ext>
            </a:extLst>
          </p:cNvPr>
          <p:cNvSpPr txBox="1">
            <a:spLocks/>
          </p:cNvSpPr>
          <p:nvPr/>
        </p:nvSpPr>
        <p:spPr>
          <a:xfrm>
            <a:off x="1844085" y="5754279"/>
            <a:ext cx="1907299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RCS Paris 844 224 881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APE 7022 Z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SAS au capital de 100 000 €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01449EC0-C12F-909D-CCF8-4E3EC34AC0D1}"/>
              </a:ext>
            </a:extLst>
          </p:cNvPr>
          <p:cNvSpPr txBox="1">
            <a:spLocks/>
          </p:cNvSpPr>
          <p:nvPr/>
        </p:nvSpPr>
        <p:spPr>
          <a:xfrm>
            <a:off x="3758507" y="5754279"/>
            <a:ext cx="1568745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 b="1">
                <a:solidFill>
                  <a:schemeClr val="bg1">
                    <a:lumMod val="50000"/>
                  </a:schemeClr>
                </a:solidFill>
                <a:latin typeface="+mn-lt"/>
              </a:rPr>
              <a:t>PARIS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16 Rue Auber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75009 Paris</a:t>
            </a: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F78D9D22-B0BB-0150-4C7A-378FDD57CE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6194" y="4436165"/>
            <a:ext cx="3408898" cy="1533566"/>
          </a:xfrm>
          <a:prstGeom prst="rect">
            <a:avLst/>
          </a:prstGeom>
        </p:spPr>
      </p:pic>
      <p:sp>
        <p:nvSpPr>
          <p:cNvPr id="11" name="Espace réservé du pied de page 2">
            <a:extLst>
              <a:ext uri="{FF2B5EF4-FFF2-40B4-BE49-F238E27FC236}">
                <a16:creationId xmlns:a16="http://schemas.microsoft.com/office/drawing/2014/main" id="{C0E44361-FF10-EE71-96BF-F11A48AB21CC}"/>
              </a:ext>
            </a:extLst>
          </p:cNvPr>
          <p:cNvSpPr txBox="1">
            <a:spLocks/>
          </p:cNvSpPr>
          <p:nvPr/>
        </p:nvSpPr>
        <p:spPr>
          <a:xfrm>
            <a:off x="986193" y="4837823"/>
            <a:ext cx="3408898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fr-FR" sz="850" b="1">
                <a:solidFill>
                  <a:srgbClr val="353637"/>
                </a:solidFill>
                <a:latin typeface="Now" panose="00000800000000000000" pitchFamily="50" charset="0"/>
              </a:rPr>
              <a:t>CABINET DE CONSEIL EN TRANSFORMATION</a:t>
            </a:r>
          </a:p>
          <a:p>
            <a:pPr rtl="0"/>
            <a:r>
              <a:rPr lang="fr-FR" sz="700" b="1">
                <a:solidFill>
                  <a:srgbClr val="43A2BF"/>
                </a:solidFill>
                <a:latin typeface="Now" panose="00000800000000000000" pitchFamily="50" charset="0"/>
              </a:rPr>
              <a:t>PARIS – NANTES - NIORT</a:t>
            </a:r>
          </a:p>
        </p:txBody>
      </p:sp>
      <p:sp>
        <p:nvSpPr>
          <p:cNvPr id="13" name="Titre 12">
            <a:extLst>
              <a:ext uri="{FF2B5EF4-FFF2-40B4-BE49-F238E27FC236}">
                <a16:creationId xmlns:a16="http://schemas.microsoft.com/office/drawing/2014/main" id="{8040899B-70BA-C98E-7243-581C3AFDFE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122" y="485693"/>
            <a:ext cx="11287754" cy="694800"/>
          </a:xfrm>
        </p:spPr>
        <p:txBody>
          <a:bodyPr vert="horz"/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2000" b="1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Vos contacts :</a:t>
            </a: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E90ED69B-CFD3-33C1-D2C1-407CB94812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0409" y="2854600"/>
            <a:ext cx="2306512" cy="631283"/>
          </a:xfrm>
        </p:spPr>
        <p:txBody>
          <a:bodyPr anchor="ctr"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sz="1600" b="1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lvl="0"/>
            <a:r>
              <a:rPr lang="fr-FR"/>
              <a:t>NOM PRENOM</a:t>
            </a:r>
          </a:p>
        </p:txBody>
      </p:sp>
      <p:sp>
        <p:nvSpPr>
          <p:cNvPr id="24" name="Espace réservé du texte 22">
            <a:extLst>
              <a:ext uri="{FF2B5EF4-FFF2-40B4-BE49-F238E27FC236}">
                <a16:creationId xmlns:a16="http://schemas.microsoft.com/office/drawing/2014/main" id="{116FACC4-F6A3-FD48-56DA-A346E2EFB4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0409" y="3485883"/>
            <a:ext cx="2306512" cy="3421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400" b="1" i="0" u="none" strike="noStrike" kern="1200" cap="none" spc="0" normalizeH="0" baseline="0" dirty="0" smtClean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GRADE</a:t>
            </a:r>
          </a:p>
        </p:txBody>
      </p:sp>
      <p:sp>
        <p:nvSpPr>
          <p:cNvPr id="25" name="Espace réservé du texte 22">
            <a:extLst>
              <a:ext uri="{FF2B5EF4-FFF2-40B4-BE49-F238E27FC236}">
                <a16:creationId xmlns:a16="http://schemas.microsoft.com/office/drawing/2014/main" id="{84F2AACE-BBE0-973B-70C7-EB949A19C3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0409" y="3828050"/>
            <a:ext cx="2306512" cy="6277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000" b="0" i="0" u="none" strike="noStrike" kern="1200" cap="none" spc="0" normalizeH="0" baseline="0" dirty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Prénom.nom@amitaconseil.com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+33 (0) 6 12 34 56 78</a:t>
            </a:r>
          </a:p>
        </p:txBody>
      </p:sp>
      <p:sp>
        <p:nvSpPr>
          <p:cNvPr id="29" name="Espace réservé pour une image  27">
            <a:extLst>
              <a:ext uri="{FF2B5EF4-FFF2-40B4-BE49-F238E27FC236}">
                <a16:creationId xmlns:a16="http://schemas.microsoft.com/office/drawing/2014/main" id="{95AD02E2-678F-BA98-98BE-FDF0E1027D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8163" y="1203492"/>
            <a:ext cx="1560512" cy="1628109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30" name="Espace réservé du texte 22">
            <a:extLst>
              <a:ext uri="{FF2B5EF4-FFF2-40B4-BE49-F238E27FC236}">
                <a16:creationId xmlns:a16="http://schemas.microsoft.com/office/drawing/2014/main" id="{2AB991A5-B28D-31D4-7C2A-ABCE44AF2D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51576" y="2854600"/>
            <a:ext cx="2306512" cy="631283"/>
          </a:xfrm>
        </p:spPr>
        <p:txBody>
          <a:bodyPr anchor="ctr"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sz="1600" b="1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lvl="0"/>
            <a:r>
              <a:rPr lang="fr-FR"/>
              <a:t>NOM PRENOM</a:t>
            </a:r>
          </a:p>
        </p:txBody>
      </p:sp>
      <p:sp>
        <p:nvSpPr>
          <p:cNvPr id="31" name="Espace réservé du texte 22">
            <a:extLst>
              <a:ext uri="{FF2B5EF4-FFF2-40B4-BE49-F238E27FC236}">
                <a16:creationId xmlns:a16="http://schemas.microsoft.com/office/drawing/2014/main" id="{3D1E0C0A-2EDD-3661-A430-C375B328B3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1576" y="3485883"/>
            <a:ext cx="2306512" cy="3421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400" b="1" i="0" u="none" strike="noStrike" kern="1200" cap="none" spc="0" normalizeH="0" baseline="0" dirty="0" smtClean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GRADE</a:t>
            </a:r>
          </a:p>
        </p:txBody>
      </p:sp>
      <p:sp>
        <p:nvSpPr>
          <p:cNvPr id="32" name="Espace réservé du texte 22">
            <a:extLst>
              <a:ext uri="{FF2B5EF4-FFF2-40B4-BE49-F238E27FC236}">
                <a16:creationId xmlns:a16="http://schemas.microsoft.com/office/drawing/2014/main" id="{3848698C-2799-1BF7-AD01-97F06EB07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51576" y="3828050"/>
            <a:ext cx="2306512" cy="6277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000" b="0" i="0" u="none" strike="noStrike" kern="1200" cap="none" spc="0" normalizeH="0" baseline="0" dirty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Prénom.nom@amitaconseil.com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+33 (0) 6 12 34 56 78</a:t>
            </a:r>
          </a:p>
        </p:txBody>
      </p:sp>
      <p:sp>
        <p:nvSpPr>
          <p:cNvPr id="33" name="Espace réservé pour une image  27">
            <a:extLst>
              <a:ext uri="{FF2B5EF4-FFF2-40B4-BE49-F238E27FC236}">
                <a16:creationId xmlns:a16="http://schemas.microsoft.com/office/drawing/2014/main" id="{16715DB2-ED35-33DC-09EB-AC0D37CEC9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929330" y="1203492"/>
            <a:ext cx="1560512" cy="1628109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34" name="Espace réservé du texte 22">
            <a:extLst>
              <a:ext uri="{FF2B5EF4-FFF2-40B4-BE49-F238E27FC236}">
                <a16:creationId xmlns:a16="http://schemas.microsoft.com/office/drawing/2014/main" id="{7FEC946C-C2D2-6CC0-77AD-1693A19C14C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42744" y="2854600"/>
            <a:ext cx="2306512" cy="631283"/>
          </a:xfrm>
        </p:spPr>
        <p:txBody>
          <a:bodyPr anchor="ctr"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sz="1600" b="1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lvl="0"/>
            <a:r>
              <a:rPr lang="fr-FR"/>
              <a:t>NOM PRENOM</a:t>
            </a:r>
          </a:p>
        </p:txBody>
      </p:sp>
      <p:sp>
        <p:nvSpPr>
          <p:cNvPr id="35" name="Espace réservé du texte 22">
            <a:extLst>
              <a:ext uri="{FF2B5EF4-FFF2-40B4-BE49-F238E27FC236}">
                <a16:creationId xmlns:a16="http://schemas.microsoft.com/office/drawing/2014/main" id="{FE760D77-8599-8105-839E-878F4499C69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42744" y="3485883"/>
            <a:ext cx="2306512" cy="3421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400" b="1" i="0" u="none" strike="noStrike" kern="1200" cap="none" spc="0" normalizeH="0" baseline="0" dirty="0" smtClean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GRADE</a:t>
            </a:r>
          </a:p>
        </p:txBody>
      </p:sp>
      <p:sp>
        <p:nvSpPr>
          <p:cNvPr id="36" name="Espace réservé du texte 22">
            <a:extLst>
              <a:ext uri="{FF2B5EF4-FFF2-40B4-BE49-F238E27FC236}">
                <a16:creationId xmlns:a16="http://schemas.microsoft.com/office/drawing/2014/main" id="{A6EAC7CD-F8DB-F29A-2F2D-FC53CE6A20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42744" y="3828050"/>
            <a:ext cx="2306512" cy="6277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000" b="0" i="0" u="none" strike="noStrike" kern="1200" cap="none" spc="0" normalizeH="0" baseline="0" dirty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Prénom.nom@amitaconseil.com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+33 (0) 6 12 34 56 78</a:t>
            </a:r>
          </a:p>
        </p:txBody>
      </p:sp>
      <p:sp>
        <p:nvSpPr>
          <p:cNvPr id="37" name="Espace réservé pour une image  27">
            <a:extLst>
              <a:ext uri="{FF2B5EF4-FFF2-40B4-BE49-F238E27FC236}">
                <a16:creationId xmlns:a16="http://schemas.microsoft.com/office/drawing/2014/main" id="{54C671B2-E4BB-899F-47E7-0FD66FC415A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320498" y="1203492"/>
            <a:ext cx="1560512" cy="1628109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38" name="Espace réservé du texte 22">
            <a:extLst>
              <a:ext uri="{FF2B5EF4-FFF2-40B4-BE49-F238E27FC236}">
                <a16:creationId xmlns:a16="http://schemas.microsoft.com/office/drawing/2014/main" id="{372B1A6C-DE96-53D9-9A8B-A3554B85A8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33911" y="2854600"/>
            <a:ext cx="2306512" cy="631283"/>
          </a:xfrm>
        </p:spPr>
        <p:txBody>
          <a:bodyPr anchor="ctr"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sz="1600" b="1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lvl="0"/>
            <a:r>
              <a:rPr lang="fr-FR"/>
              <a:t>NOM PRENOM</a:t>
            </a:r>
          </a:p>
        </p:txBody>
      </p:sp>
      <p:sp>
        <p:nvSpPr>
          <p:cNvPr id="39" name="Espace réservé du texte 22">
            <a:extLst>
              <a:ext uri="{FF2B5EF4-FFF2-40B4-BE49-F238E27FC236}">
                <a16:creationId xmlns:a16="http://schemas.microsoft.com/office/drawing/2014/main" id="{2C8BC5F1-B79C-A9E8-15B3-D563C87E537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33911" y="3485883"/>
            <a:ext cx="2306512" cy="3421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400" b="1" i="0" u="none" strike="noStrike" kern="1200" cap="none" spc="0" normalizeH="0" baseline="0" dirty="0" smtClean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GRADE</a:t>
            </a:r>
          </a:p>
        </p:txBody>
      </p:sp>
      <p:sp>
        <p:nvSpPr>
          <p:cNvPr id="40" name="Espace réservé du texte 22">
            <a:extLst>
              <a:ext uri="{FF2B5EF4-FFF2-40B4-BE49-F238E27FC236}">
                <a16:creationId xmlns:a16="http://schemas.microsoft.com/office/drawing/2014/main" id="{E2EA75BB-74DC-4842-9BB2-48D0B73E0A4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33911" y="3828050"/>
            <a:ext cx="2306512" cy="6277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000" b="0" i="0" u="none" strike="noStrike" kern="1200" cap="none" spc="0" normalizeH="0" baseline="0" dirty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Prénom.nom@amitaconseil.com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+33 (0) 6 12 34 56 78</a:t>
            </a:r>
          </a:p>
        </p:txBody>
      </p:sp>
      <p:sp>
        <p:nvSpPr>
          <p:cNvPr id="41" name="Espace réservé pour une image  27">
            <a:extLst>
              <a:ext uri="{FF2B5EF4-FFF2-40B4-BE49-F238E27FC236}">
                <a16:creationId xmlns:a16="http://schemas.microsoft.com/office/drawing/2014/main" id="{7C952499-A464-4FAB-658D-BD08D4B2E31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711665" y="1203492"/>
            <a:ext cx="1560512" cy="1628109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2" name="Espace réservé du texte 22">
            <a:extLst>
              <a:ext uri="{FF2B5EF4-FFF2-40B4-BE49-F238E27FC236}">
                <a16:creationId xmlns:a16="http://schemas.microsoft.com/office/drawing/2014/main" id="{05FB3A31-8B0E-76A4-B340-CE70CEF56B2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724855" y="2854600"/>
            <a:ext cx="2306512" cy="631283"/>
          </a:xfrm>
        </p:spPr>
        <p:txBody>
          <a:bodyPr anchor="ctr"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sz="1600" b="1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lvl="0"/>
            <a:r>
              <a:rPr lang="fr-FR"/>
              <a:t>NOM PRENOM</a:t>
            </a:r>
          </a:p>
        </p:txBody>
      </p:sp>
      <p:sp>
        <p:nvSpPr>
          <p:cNvPr id="43" name="Espace réservé du texte 22">
            <a:extLst>
              <a:ext uri="{FF2B5EF4-FFF2-40B4-BE49-F238E27FC236}">
                <a16:creationId xmlns:a16="http://schemas.microsoft.com/office/drawing/2014/main" id="{3A7CA541-6CC3-5B2B-5137-23CE7AC3383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24855" y="3485883"/>
            <a:ext cx="2306512" cy="3421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400" b="1" i="0" u="none" strike="noStrike" kern="1200" cap="none" spc="0" normalizeH="0" baseline="0" dirty="0" smtClean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GRADE</a:t>
            </a:r>
          </a:p>
        </p:txBody>
      </p:sp>
      <p:sp>
        <p:nvSpPr>
          <p:cNvPr id="44" name="Espace réservé du texte 22">
            <a:extLst>
              <a:ext uri="{FF2B5EF4-FFF2-40B4-BE49-F238E27FC236}">
                <a16:creationId xmlns:a16="http://schemas.microsoft.com/office/drawing/2014/main" id="{5BB26FB2-E7B0-9BF9-45BF-1AB5DD2A063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724855" y="3828050"/>
            <a:ext cx="2306512" cy="6277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000" b="0" i="0" u="none" strike="noStrike" kern="1200" cap="none" spc="0" normalizeH="0" baseline="0" dirty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Prénom.nom@amitaconseil.com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+33 (0) 6 12 34 56 78</a:t>
            </a:r>
          </a:p>
        </p:txBody>
      </p:sp>
      <p:sp>
        <p:nvSpPr>
          <p:cNvPr id="45" name="Espace réservé pour une image  27">
            <a:extLst>
              <a:ext uri="{FF2B5EF4-FFF2-40B4-BE49-F238E27FC236}">
                <a16:creationId xmlns:a16="http://schemas.microsoft.com/office/drawing/2014/main" id="{E87B8E6C-BC45-A6D3-096D-B1798940D4D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102609" y="1203492"/>
            <a:ext cx="1560512" cy="1628109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51" name="Espace réservé du pied de page 50">
            <a:extLst>
              <a:ext uri="{FF2B5EF4-FFF2-40B4-BE49-F238E27FC236}">
                <a16:creationId xmlns:a16="http://schemas.microsoft.com/office/drawing/2014/main" id="{2BB51DBB-F4DD-F2BF-774A-D3D25DA76D52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1920021" y="6340475"/>
            <a:ext cx="8351958" cy="365125"/>
          </a:xfrm>
        </p:spPr>
        <p:txBody>
          <a:bodyPr/>
          <a:lstStyle>
            <a:lvl1pPr algn="ctr"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6A8C689-FE8E-03D2-D8C2-6C480215F59A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380995" y="6340475"/>
            <a:ext cx="362086" cy="360001"/>
          </a:xfrm>
        </p:spPr>
        <p:txBody>
          <a:bodyPr vert="horz" lIns="91440" tIns="45720" rIns="91440" bIns="45720" rtlCol="0" anchor="ctr"/>
          <a:lstStyle>
            <a:lvl1pPr rtl="0">
              <a:defRPr lang="fr-FR" smtClean="0"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725D12BC-F052-8411-1AF2-EA3837DBFB46}"/>
              </a:ext>
            </a:extLst>
          </p:cNvPr>
          <p:cNvSpPr txBox="1">
            <a:spLocks/>
          </p:cNvSpPr>
          <p:nvPr/>
        </p:nvSpPr>
        <p:spPr>
          <a:xfrm>
            <a:off x="5334375" y="5754279"/>
            <a:ext cx="1568745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 b="1">
                <a:solidFill>
                  <a:schemeClr val="bg1">
                    <a:lumMod val="50000"/>
                  </a:schemeClr>
                </a:solidFill>
                <a:latin typeface="+mn-lt"/>
              </a:rPr>
              <a:t>NIORT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103 Avenue de Paris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79000 Niort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2291CCAE-FFC5-414F-E449-E46E9E9C6E50}"/>
              </a:ext>
            </a:extLst>
          </p:cNvPr>
          <p:cNvSpPr txBox="1">
            <a:spLocks/>
          </p:cNvSpPr>
          <p:nvPr/>
        </p:nvSpPr>
        <p:spPr>
          <a:xfrm>
            <a:off x="6910244" y="5754279"/>
            <a:ext cx="1568745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 b="1">
                <a:solidFill>
                  <a:schemeClr val="bg1">
                    <a:lumMod val="50000"/>
                  </a:schemeClr>
                </a:solidFill>
                <a:latin typeface="+mn-lt"/>
              </a:rPr>
              <a:t>NANTES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17 Boulevard de Berlin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44000 Nantes</a:t>
            </a:r>
          </a:p>
        </p:txBody>
      </p:sp>
      <p:sp>
        <p:nvSpPr>
          <p:cNvPr id="17" name="Espace réservé de la date 10">
            <a:extLst>
              <a:ext uri="{FF2B5EF4-FFF2-40B4-BE49-F238E27FC236}">
                <a16:creationId xmlns:a16="http://schemas.microsoft.com/office/drawing/2014/main" id="{C7F826E3-2192-51E8-5AB6-6F6EC9785A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117694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80AF42E2-021C-4F41-8104-619F63EC6722}" type="datetime1">
              <a:rPr lang="fr-FR" smtClean="0"/>
              <a:t>27/03/2025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9859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t de la 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006854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8B4917B4-5954-0D76-BAA0-1A3698D526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pic>
        <p:nvPicPr>
          <p:cNvPr id="11" name="Graphique 10">
            <a:extLst>
              <a:ext uri="{FF2B5EF4-FFF2-40B4-BE49-F238E27FC236}">
                <a16:creationId xmlns:a16="http://schemas.microsoft.com/office/drawing/2014/main" id="{0DF46767-FF2E-A311-5FC8-FC3CCA8535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r="3370"/>
          <a:stretch/>
        </p:blipFill>
        <p:spPr>
          <a:xfrm>
            <a:off x="0" y="846925"/>
            <a:ext cx="12192000" cy="5676112"/>
          </a:xfrm>
          <a:prstGeom prst="rect">
            <a:avLst/>
          </a:prstGeom>
        </p:spPr>
      </p:pic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6D93F71-C400-BDD2-7DE6-C958FFFC38C7}"/>
              </a:ext>
            </a:extLst>
          </p:cNvPr>
          <p:cNvSpPr txBox="1">
            <a:spLocks/>
          </p:cNvSpPr>
          <p:nvPr/>
        </p:nvSpPr>
        <p:spPr>
          <a:xfrm>
            <a:off x="986193" y="5253383"/>
            <a:ext cx="3408898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fr-FR" sz="850" b="1">
                <a:solidFill>
                  <a:srgbClr val="353637"/>
                </a:solidFill>
                <a:latin typeface="Now" panose="00000800000000000000" pitchFamily="50" charset="0"/>
              </a:rPr>
              <a:t>CABINET DE CONSEIL EN TRANSFORMATION</a:t>
            </a:r>
          </a:p>
          <a:p>
            <a:pPr rtl="0"/>
            <a:r>
              <a:rPr lang="fr-FR" sz="700" b="1">
                <a:solidFill>
                  <a:srgbClr val="43A2BF"/>
                </a:solidFill>
                <a:latin typeface="Now" panose="00000800000000000000" pitchFamily="50" charset="0"/>
              </a:rPr>
              <a:t>PARIS – NANTES - NIORT</a:t>
            </a:r>
          </a:p>
        </p:txBody>
      </p:sp>
      <p:sp>
        <p:nvSpPr>
          <p:cNvPr id="4" name="Titre 2">
            <a:extLst>
              <a:ext uri="{FF2B5EF4-FFF2-40B4-BE49-F238E27FC236}">
                <a16:creationId xmlns:a16="http://schemas.microsoft.com/office/drawing/2014/main" id="{1DFA8C9F-5730-AE6C-7035-33A8BDB25715}"/>
              </a:ext>
            </a:extLst>
          </p:cNvPr>
          <p:cNvSpPr txBox="1">
            <a:spLocks/>
          </p:cNvSpPr>
          <p:nvPr/>
        </p:nvSpPr>
        <p:spPr bwMode="auto">
          <a:xfrm>
            <a:off x="452123" y="5754279"/>
            <a:ext cx="1391963" cy="26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>
              <a:lnSpc>
                <a:spcPct val="90000"/>
              </a:lnSpc>
            </a:pPr>
            <a:r>
              <a:rPr lang="fr-FR" sz="900">
                <a:solidFill>
                  <a:schemeClr val="tx2"/>
                </a:solidFill>
                <a:latin typeface="+mn-lt"/>
                <a:ea typeface="+mj-ea"/>
                <a:cs typeface="+mj-cs"/>
              </a:rPr>
              <a:t>Mentions légales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296D9A24-28BA-F170-CE5D-7A98005351F0}"/>
              </a:ext>
            </a:extLst>
          </p:cNvPr>
          <p:cNvSpPr txBox="1">
            <a:spLocks/>
          </p:cNvSpPr>
          <p:nvPr/>
        </p:nvSpPr>
        <p:spPr>
          <a:xfrm>
            <a:off x="1844086" y="5754279"/>
            <a:ext cx="1847062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RCS Paris 844 224 881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APE 7022 Z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SAS au capital de 100 000 €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4F19F6FB-6C20-D474-9918-2BEDD82DC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8" y="2473965"/>
            <a:ext cx="11430002" cy="694800"/>
          </a:xfrm>
        </p:spPr>
        <p:txBody>
          <a:bodyPr vert="horz"/>
          <a:lstStyle>
            <a:lvl1pPr marL="0" algn="ctr" defTabSz="914400" rtl="0" eaLnBrk="1" latinLnBrk="0" hangingPunct="1">
              <a:defRPr lang="fr-FR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9" name="Espace réservé du pied de page 50">
            <a:extLst>
              <a:ext uri="{FF2B5EF4-FFF2-40B4-BE49-F238E27FC236}">
                <a16:creationId xmlns:a16="http://schemas.microsoft.com/office/drawing/2014/main" id="{733E0ACB-D5D5-59BF-42BE-573460770651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1920021" y="6340475"/>
            <a:ext cx="8351958" cy="365125"/>
          </a:xfrm>
        </p:spPr>
        <p:txBody>
          <a:bodyPr/>
          <a:lstStyle>
            <a:lvl1pPr algn="ctr"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4015D164-67AF-110B-1EB8-478D066B7517}"/>
              </a:ext>
            </a:extLst>
          </p:cNvPr>
          <p:cNvSpPr txBox="1">
            <a:spLocks/>
          </p:cNvSpPr>
          <p:nvPr/>
        </p:nvSpPr>
        <p:spPr>
          <a:xfrm>
            <a:off x="3758507" y="5754279"/>
            <a:ext cx="1568745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 b="1">
                <a:solidFill>
                  <a:schemeClr val="bg1">
                    <a:lumMod val="50000"/>
                  </a:schemeClr>
                </a:solidFill>
                <a:latin typeface="+mn-lt"/>
              </a:rPr>
              <a:t>PARIS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16 Rue Auber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75009 Paris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B8ADC259-7B80-9FBE-FD57-958EB94EE659}"/>
              </a:ext>
            </a:extLst>
          </p:cNvPr>
          <p:cNvSpPr txBox="1">
            <a:spLocks/>
          </p:cNvSpPr>
          <p:nvPr/>
        </p:nvSpPr>
        <p:spPr>
          <a:xfrm>
            <a:off x="5334375" y="5754279"/>
            <a:ext cx="1568745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 b="1">
                <a:solidFill>
                  <a:schemeClr val="bg1">
                    <a:lumMod val="50000"/>
                  </a:schemeClr>
                </a:solidFill>
                <a:latin typeface="+mn-lt"/>
              </a:rPr>
              <a:t>NIORT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103 Avenue de Paris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79000 Niort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E0C088F5-249F-102E-09F8-5FB90B2D71BA}"/>
              </a:ext>
            </a:extLst>
          </p:cNvPr>
          <p:cNvSpPr txBox="1">
            <a:spLocks/>
          </p:cNvSpPr>
          <p:nvPr/>
        </p:nvSpPr>
        <p:spPr>
          <a:xfrm>
            <a:off x="6910244" y="5754279"/>
            <a:ext cx="1568745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 b="1">
                <a:solidFill>
                  <a:schemeClr val="bg1">
                    <a:lumMod val="50000"/>
                  </a:schemeClr>
                </a:solidFill>
                <a:latin typeface="+mn-lt"/>
              </a:rPr>
              <a:t>NANTES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17 Boulevard de Berlin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44000 Nantes</a:t>
            </a:r>
          </a:p>
        </p:txBody>
      </p:sp>
      <p:sp>
        <p:nvSpPr>
          <p:cNvPr id="17" name="Espace réservé du numéro de diapositive 3">
            <a:extLst>
              <a:ext uri="{FF2B5EF4-FFF2-40B4-BE49-F238E27FC236}">
                <a16:creationId xmlns:a16="http://schemas.microsoft.com/office/drawing/2014/main" id="{9E4CC770-9A02-5703-AA66-43EAB8B3510C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380995" y="6340475"/>
            <a:ext cx="362086" cy="360001"/>
          </a:xfrm>
        </p:spPr>
        <p:txBody>
          <a:bodyPr vert="horz" lIns="91440" tIns="45720" rIns="91440" bIns="45720" rtlCol="0" anchor="ctr"/>
          <a:lstStyle>
            <a:lvl1pPr rtl="0">
              <a:defRPr lang="fr-FR" smtClean="0"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9" name="Espace réservé de la date 10">
            <a:extLst>
              <a:ext uri="{FF2B5EF4-FFF2-40B4-BE49-F238E27FC236}">
                <a16:creationId xmlns:a16="http://schemas.microsoft.com/office/drawing/2014/main" id="{1F098B08-9DB9-0E9F-0651-539F4FE4C7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117694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3A00B2B-991D-40B7-9911-432FF4699D27}" type="datetime1">
              <a:rPr lang="fr-FR" smtClean="0"/>
              <a:t>27/03/2025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8927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B068B94B-670C-F133-CB86-3E259DD20AD6}"/>
              </a:ext>
            </a:extLst>
          </p:cNvPr>
          <p:cNvGraphicFramePr>
            <a:graphicFrameLocks noChangeAspect="1"/>
          </p:cNvGraphicFramePr>
          <p:nvPr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34992188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21" imgW="359" imgH="360" progId="TCLayout.ActiveDocument.1">
                  <p:embed/>
                </p:oleObj>
              </mc:Choice>
              <mc:Fallback>
                <p:oleObj name="Diapositive think-cell" r:id="rId21" imgW="359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B068B94B-670C-F133-CB86-3E259DD20A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2AD48E1-B2D6-0FB1-1BBC-D92CA4BA4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8" y="485693"/>
            <a:ext cx="11430002" cy="694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ECA95B-165B-9DA2-D8F5-BC9BCA12C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7" y="1983600"/>
            <a:ext cx="11430003" cy="4194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A6FC88-E0F2-E7D8-A6EE-622B5540E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70426" y="6340475"/>
            <a:ext cx="76690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65DD3F-8A0A-C37D-6F0C-0CD7DA21F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0997" y="6340475"/>
            <a:ext cx="3620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kumimoji="0" lang="fr-FR" sz="700" b="0" i="0" u="none" strike="noStrike" kern="1200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1775F55-D649-105E-BB88-44CDE1F10776}"/>
              </a:ext>
            </a:extLst>
          </p:cNvPr>
          <p:cNvSpPr txBox="1"/>
          <p:nvPr/>
        </p:nvSpPr>
        <p:spPr>
          <a:xfrm>
            <a:off x="9239464" y="6340476"/>
            <a:ext cx="1382110" cy="365124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 rtl="0"/>
            <a:r>
              <a:rPr lang="fr-FR" sz="700">
                <a:solidFill>
                  <a:schemeClr val="bg1">
                    <a:lumMod val="50000"/>
                  </a:schemeClr>
                </a:solidFill>
                <a:latin typeface="+mn-lt"/>
              </a:rPr>
              <a:t>DOCUMENT CONFIDENTIEL</a:t>
            </a:r>
          </a:p>
        </p:txBody>
      </p:sp>
      <p:pic>
        <p:nvPicPr>
          <p:cNvPr id="10" name="Espace réservé du contenu 19">
            <a:extLst>
              <a:ext uri="{FF2B5EF4-FFF2-40B4-BE49-F238E27FC236}">
                <a16:creationId xmlns:a16="http://schemas.microsoft.com/office/drawing/2014/main" id="{21E15E84-437F-13B1-07E8-D06B251E45C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10570881" y="6251120"/>
            <a:ext cx="1346895" cy="605929"/>
          </a:xfrm>
          <a:prstGeom prst="rect">
            <a:avLst/>
          </a:prstGeom>
        </p:spPr>
      </p:pic>
      <p:sp>
        <p:nvSpPr>
          <p:cNvPr id="7" name="Triangle isocèle 6">
            <a:extLst>
              <a:ext uri="{FF2B5EF4-FFF2-40B4-BE49-F238E27FC236}">
                <a16:creationId xmlns:a16="http://schemas.microsoft.com/office/drawing/2014/main" id="{89A10469-81FC-EB5E-ED6E-7AE4FBED36E8}"/>
              </a:ext>
            </a:extLst>
          </p:cNvPr>
          <p:cNvSpPr/>
          <p:nvPr/>
        </p:nvSpPr>
        <p:spPr>
          <a:xfrm rot="15131171">
            <a:off x="75423" y="142623"/>
            <a:ext cx="378055" cy="325910"/>
          </a:xfrm>
          <a:prstGeom prst="triangle">
            <a:avLst/>
          </a:prstGeom>
          <a:solidFill>
            <a:srgbClr val="1AC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11" name="Espace réservé de la date 10">
            <a:extLst>
              <a:ext uri="{FF2B5EF4-FFF2-40B4-BE49-F238E27FC236}">
                <a16:creationId xmlns:a16="http://schemas.microsoft.com/office/drawing/2014/main" id="{0C7D9D68-6C57-3DD6-C000-3F9EEBEA03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99CA19EF-D4BE-4F92-9509-E047DF919FAE}" type="datetime1">
              <a:rPr lang="fr-FR" smtClean="0"/>
              <a:t>27/03/2025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0797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  <p:sldLayoutId id="2147483776" r:id="rId18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fr-FR" sz="2400" kern="1200" cap="all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541338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2"/>
        </a:buClr>
        <a:buSzPct val="110000"/>
        <a:buFont typeface="Arial" panose="020B0604020202020204" pitchFamily="34" charset="0"/>
        <a:buChar char="•"/>
        <a:defRPr lang="fr-FR" sz="1100" b="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896938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16205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616075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065338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98">
          <p15:clr>
            <a:srgbClr val="F26B43"/>
          </p15:clr>
        </p15:guide>
        <p15:guide id="2" pos="7582">
          <p15:clr>
            <a:srgbClr val="F26B43"/>
          </p15:clr>
        </p15:guide>
        <p15:guide id="3" orient="horz" pos="96">
          <p15:clr>
            <a:srgbClr val="F26B43"/>
          </p15:clr>
        </p15:guide>
        <p15:guide id="4" orient="horz" pos="4224">
          <p15:clr>
            <a:srgbClr val="F26B43"/>
          </p15:clr>
        </p15:guide>
        <p15:guide id="5" pos="234">
          <p15:clr>
            <a:srgbClr val="F26B43"/>
          </p15:clr>
        </p15:guide>
        <p15:guide id="6" pos="7446">
          <p15:clr>
            <a:srgbClr val="F26B43"/>
          </p15:clr>
        </p15:guide>
        <p15:guide id="7" orient="horz" pos="1253">
          <p15:clr>
            <a:srgbClr val="F26B43"/>
          </p15:clr>
        </p15:guide>
        <p15:guide id="8" orient="horz" pos="754">
          <p15:clr>
            <a:srgbClr val="F26B43"/>
          </p15:clr>
        </p15:guide>
        <p15:guide id="9" orient="horz" pos="38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0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1.x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2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2.xml"/><Relationship Id="rId6" Type="http://schemas.openxmlformats.org/officeDocument/2006/relationships/image" Target="../media/image15.png"/><Relationship Id="rId5" Type="http://schemas.openxmlformats.org/officeDocument/2006/relationships/image" Target="../media/image18.png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3.x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2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5E516-6B7A-5752-0AEC-0378A617E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4401277-41B0-E171-2C86-3D0217B7744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600" imgH="601" progId="TCLayout.ActiveDocument.1">
                  <p:embed/>
                </p:oleObj>
              </mc:Choice>
              <mc:Fallback>
                <p:oleObj name="Diapositive think-cell" r:id="rId3" imgW="600" imgH="6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401277-41B0-E171-2C86-3D0217B774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FCB08978-F8BB-5DFA-35F2-E62FA5CE133B}"/>
              </a:ext>
            </a:extLst>
          </p:cNvPr>
          <p:cNvSpPr/>
          <p:nvPr/>
        </p:nvSpPr>
        <p:spPr>
          <a:xfrm>
            <a:off x="155576" y="491646"/>
            <a:ext cx="4002518" cy="5848828"/>
          </a:xfrm>
          <a:prstGeom prst="roundRect">
            <a:avLst>
              <a:gd name="adj" fmla="val 4261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ysClr val="windowText" lastClr="000000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20076D4-B819-417A-BFE5-4D16BA421578}"/>
              </a:ext>
            </a:extLst>
          </p:cNvPr>
          <p:cNvSpPr txBox="1"/>
          <p:nvPr/>
        </p:nvSpPr>
        <p:spPr>
          <a:xfrm>
            <a:off x="1363319" y="705962"/>
            <a:ext cx="2689966" cy="12157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400" cap="all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PAULIN VINOT PREFONTAINE </a:t>
            </a:r>
            <a:r>
              <a:rPr lang="fr-FR" sz="1600" b="1" dirty="0">
                <a:solidFill>
                  <a:schemeClr val="tx2"/>
                </a:solidFill>
                <a:latin typeface="+mj-lt"/>
              </a:rPr>
              <a:t>CONSULTANT JUNIOR</a:t>
            </a:r>
            <a:endParaRPr lang="fr-FR" sz="900" b="1" dirty="0">
              <a:solidFill>
                <a:schemeClr val="tx2"/>
              </a:solidFill>
              <a:latin typeface="+mj-lt"/>
            </a:endParaRPr>
          </a:p>
          <a:p>
            <a:r>
              <a:rPr lang="fr-FR" sz="900" b="1" dirty="0">
                <a:solidFill>
                  <a:schemeClr val="tx2"/>
                </a:solidFill>
                <a:latin typeface="+mj-lt"/>
              </a:rPr>
              <a:t>XX ANS D’EXPÉRIENCE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C348E1F-4DDB-78C8-F542-3EB2401B4404}"/>
              </a:ext>
            </a:extLst>
          </p:cNvPr>
          <p:cNvSpPr txBox="1"/>
          <p:nvPr/>
        </p:nvSpPr>
        <p:spPr>
          <a:xfrm>
            <a:off x="4239096" y="705962"/>
            <a:ext cx="7571902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Diplômé de CY TECH Cergy d’un diplôme d’ingénieur en mathématiques appliquées, Baptiste a eu l’occasion d’élargir son panel de compétences notamment grâce à la diversité des tâches auxquelles il a participé pendant trois ans dans le domaine de la data analyse.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Il a acquis de solides connaissances fonctionnelles sur de nombreux outils et logiciels d’analyse de données (</a:t>
            </a:r>
            <a:r>
              <a:rPr kumimoji="0" lang="fr-F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Alteryx</a:t>
            </a: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Power BI, etc.). Plus que de simples connaissances, la Data constitue une véritable passion pour Baptiste.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C’est un consultant data qui allie compétences, autonomie et rigueur.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06FA32E-C5A3-B19F-C571-95B23C95E72A}"/>
              </a:ext>
            </a:extLst>
          </p:cNvPr>
          <p:cNvSpPr/>
          <p:nvPr/>
        </p:nvSpPr>
        <p:spPr>
          <a:xfrm>
            <a:off x="368572" y="5288594"/>
            <a:ext cx="3582332" cy="8429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147DF1DD-5EA8-9D5D-5FF5-BF836C5928B4}"/>
              </a:ext>
            </a:extLst>
          </p:cNvPr>
          <p:cNvSpPr/>
          <p:nvPr/>
        </p:nvSpPr>
        <p:spPr>
          <a:xfrm>
            <a:off x="152673" y="3326530"/>
            <a:ext cx="2419514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  <a:gd name="connsiteX0" fmla="*/ 2764053 w 5193356"/>
              <a:gd name="connsiteY0" fmla="*/ 0 h 458973"/>
              <a:gd name="connsiteX1" fmla="*/ 4980165 w 5193356"/>
              <a:gd name="connsiteY1" fmla="*/ 9525 h 458973"/>
              <a:gd name="connsiteX2" fmla="*/ 4997252 w 5193356"/>
              <a:gd name="connsiteY2" fmla="*/ 9525 h 458973"/>
              <a:gd name="connsiteX3" fmla="*/ 4997252 w 5193356"/>
              <a:gd name="connsiteY3" fmla="*/ 11341 h 458973"/>
              <a:gd name="connsiteX4" fmla="*/ 5023131 w 5193356"/>
              <a:gd name="connsiteY4" fmla="*/ 14091 h 458973"/>
              <a:gd name="connsiteX5" fmla="*/ 5193356 w 5193356"/>
              <a:gd name="connsiteY5" fmla="*/ 234249 h 458973"/>
              <a:gd name="connsiteX6" fmla="*/ 5023131 w 5193356"/>
              <a:gd name="connsiteY6" fmla="*/ 454408 h 458973"/>
              <a:gd name="connsiteX7" fmla="*/ 4997252 w 5193356"/>
              <a:gd name="connsiteY7" fmla="*/ 457157 h 458973"/>
              <a:gd name="connsiteX8" fmla="*/ 4997252 w 5193356"/>
              <a:gd name="connsiteY8" fmla="*/ 458972 h 458973"/>
              <a:gd name="connsiteX9" fmla="*/ 4980175 w 5193356"/>
              <a:gd name="connsiteY9" fmla="*/ 458972 h 458973"/>
              <a:gd name="connsiteX10" fmla="*/ 4980165 w 5193356"/>
              <a:gd name="connsiteY10" fmla="*/ 458973 h 458973"/>
              <a:gd name="connsiteX11" fmla="*/ 4980156 w 5193356"/>
              <a:gd name="connsiteY11" fmla="*/ 458972 h 458973"/>
              <a:gd name="connsiteX12" fmla="*/ 0 w 5193356"/>
              <a:gd name="connsiteY12" fmla="*/ 458972 h 458973"/>
              <a:gd name="connsiteX13" fmla="*/ 2764053 w 5193356"/>
              <a:gd name="connsiteY13" fmla="*/ 0 h 458973"/>
              <a:gd name="connsiteX0" fmla="*/ 0 w 2429303"/>
              <a:gd name="connsiteY0" fmla="*/ 0 h 458973"/>
              <a:gd name="connsiteX1" fmla="*/ 2216112 w 2429303"/>
              <a:gd name="connsiteY1" fmla="*/ 9525 h 458973"/>
              <a:gd name="connsiteX2" fmla="*/ 2233199 w 2429303"/>
              <a:gd name="connsiteY2" fmla="*/ 9525 h 458973"/>
              <a:gd name="connsiteX3" fmla="*/ 2233199 w 2429303"/>
              <a:gd name="connsiteY3" fmla="*/ 11341 h 458973"/>
              <a:gd name="connsiteX4" fmla="*/ 2259078 w 2429303"/>
              <a:gd name="connsiteY4" fmla="*/ 14091 h 458973"/>
              <a:gd name="connsiteX5" fmla="*/ 2429303 w 2429303"/>
              <a:gd name="connsiteY5" fmla="*/ 234249 h 458973"/>
              <a:gd name="connsiteX6" fmla="*/ 2259078 w 2429303"/>
              <a:gd name="connsiteY6" fmla="*/ 454408 h 458973"/>
              <a:gd name="connsiteX7" fmla="*/ 2233199 w 2429303"/>
              <a:gd name="connsiteY7" fmla="*/ 457157 h 458973"/>
              <a:gd name="connsiteX8" fmla="*/ 2233199 w 2429303"/>
              <a:gd name="connsiteY8" fmla="*/ 458972 h 458973"/>
              <a:gd name="connsiteX9" fmla="*/ 2216122 w 2429303"/>
              <a:gd name="connsiteY9" fmla="*/ 458972 h 458973"/>
              <a:gd name="connsiteX10" fmla="*/ 2216112 w 2429303"/>
              <a:gd name="connsiteY10" fmla="*/ 458973 h 458973"/>
              <a:gd name="connsiteX11" fmla="*/ 2216103 w 2429303"/>
              <a:gd name="connsiteY11" fmla="*/ 458972 h 458973"/>
              <a:gd name="connsiteX12" fmla="*/ 0 w 2429303"/>
              <a:gd name="connsiteY12" fmla="*/ 458972 h 458973"/>
              <a:gd name="connsiteX13" fmla="*/ 0 w 2429303"/>
              <a:gd name="connsiteY13" fmla="*/ 0 h 458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29303" h="458973">
                <a:moveTo>
                  <a:pt x="0" y="0"/>
                </a:moveTo>
                <a:lnTo>
                  <a:pt x="2216112" y="9525"/>
                </a:lnTo>
                <a:lnTo>
                  <a:pt x="2233199" y="9525"/>
                </a:lnTo>
                <a:lnTo>
                  <a:pt x="2233199" y="11341"/>
                </a:lnTo>
                <a:lnTo>
                  <a:pt x="2259078" y="14091"/>
                </a:lnTo>
                <a:cubicBezTo>
                  <a:pt x="2356225" y="35045"/>
                  <a:pt x="2429303" y="125651"/>
                  <a:pt x="2429303" y="234249"/>
                </a:cubicBezTo>
                <a:cubicBezTo>
                  <a:pt x="2429303" y="342847"/>
                  <a:pt x="2356225" y="433453"/>
                  <a:pt x="2259078" y="454408"/>
                </a:cubicBezTo>
                <a:lnTo>
                  <a:pt x="2233199" y="457157"/>
                </a:lnTo>
                <a:lnTo>
                  <a:pt x="2233199" y="458972"/>
                </a:lnTo>
                <a:lnTo>
                  <a:pt x="2216122" y="458972"/>
                </a:lnTo>
                <a:cubicBezTo>
                  <a:pt x="2216119" y="458972"/>
                  <a:pt x="2216115" y="458973"/>
                  <a:pt x="2216112" y="458973"/>
                </a:cubicBezTo>
                <a:cubicBezTo>
                  <a:pt x="2216109" y="458973"/>
                  <a:pt x="2216106" y="458972"/>
                  <a:pt x="2216103" y="458972"/>
                </a:cubicBezTo>
                <a:lnTo>
                  <a:pt x="0" y="4589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fr-FR" sz="1200" b="1" kern="0">
                <a:solidFill>
                  <a:srgbClr val="3536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COMPÉTENCES</a:t>
            </a:r>
            <a:endParaRPr lang="fr-FR" sz="1600" b="1" kern="0">
              <a:solidFill>
                <a:srgbClr val="3536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8A19E5D6-F0C9-EC32-8538-B362197DD5BE}"/>
              </a:ext>
            </a:extLst>
          </p:cNvPr>
          <p:cNvSpPr/>
          <p:nvPr/>
        </p:nvSpPr>
        <p:spPr>
          <a:xfrm>
            <a:off x="152673" y="4858846"/>
            <a:ext cx="2419514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  <a:gd name="connsiteX0" fmla="*/ 2764053 w 5193356"/>
              <a:gd name="connsiteY0" fmla="*/ 0 h 458973"/>
              <a:gd name="connsiteX1" fmla="*/ 4980165 w 5193356"/>
              <a:gd name="connsiteY1" fmla="*/ 9525 h 458973"/>
              <a:gd name="connsiteX2" fmla="*/ 4997252 w 5193356"/>
              <a:gd name="connsiteY2" fmla="*/ 9525 h 458973"/>
              <a:gd name="connsiteX3" fmla="*/ 4997252 w 5193356"/>
              <a:gd name="connsiteY3" fmla="*/ 11341 h 458973"/>
              <a:gd name="connsiteX4" fmla="*/ 5023131 w 5193356"/>
              <a:gd name="connsiteY4" fmla="*/ 14091 h 458973"/>
              <a:gd name="connsiteX5" fmla="*/ 5193356 w 5193356"/>
              <a:gd name="connsiteY5" fmla="*/ 234249 h 458973"/>
              <a:gd name="connsiteX6" fmla="*/ 5023131 w 5193356"/>
              <a:gd name="connsiteY6" fmla="*/ 454408 h 458973"/>
              <a:gd name="connsiteX7" fmla="*/ 4997252 w 5193356"/>
              <a:gd name="connsiteY7" fmla="*/ 457157 h 458973"/>
              <a:gd name="connsiteX8" fmla="*/ 4997252 w 5193356"/>
              <a:gd name="connsiteY8" fmla="*/ 458972 h 458973"/>
              <a:gd name="connsiteX9" fmla="*/ 4980175 w 5193356"/>
              <a:gd name="connsiteY9" fmla="*/ 458972 h 458973"/>
              <a:gd name="connsiteX10" fmla="*/ 4980165 w 5193356"/>
              <a:gd name="connsiteY10" fmla="*/ 458973 h 458973"/>
              <a:gd name="connsiteX11" fmla="*/ 4980156 w 5193356"/>
              <a:gd name="connsiteY11" fmla="*/ 458972 h 458973"/>
              <a:gd name="connsiteX12" fmla="*/ 0 w 5193356"/>
              <a:gd name="connsiteY12" fmla="*/ 458972 h 458973"/>
              <a:gd name="connsiteX13" fmla="*/ 2764053 w 5193356"/>
              <a:gd name="connsiteY13" fmla="*/ 0 h 458973"/>
              <a:gd name="connsiteX0" fmla="*/ 0 w 2429303"/>
              <a:gd name="connsiteY0" fmla="*/ 0 h 458973"/>
              <a:gd name="connsiteX1" fmla="*/ 2216112 w 2429303"/>
              <a:gd name="connsiteY1" fmla="*/ 9525 h 458973"/>
              <a:gd name="connsiteX2" fmla="*/ 2233199 w 2429303"/>
              <a:gd name="connsiteY2" fmla="*/ 9525 h 458973"/>
              <a:gd name="connsiteX3" fmla="*/ 2233199 w 2429303"/>
              <a:gd name="connsiteY3" fmla="*/ 11341 h 458973"/>
              <a:gd name="connsiteX4" fmla="*/ 2259078 w 2429303"/>
              <a:gd name="connsiteY4" fmla="*/ 14091 h 458973"/>
              <a:gd name="connsiteX5" fmla="*/ 2429303 w 2429303"/>
              <a:gd name="connsiteY5" fmla="*/ 234249 h 458973"/>
              <a:gd name="connsiteX6" fmla="*/ 2259078 w 2429303"/>
              <a:gd name="connsiteY6" fmla="*/ 454408 h 458973"/>
              <a:gd name="connsiteX7" fmla="*/ 2233199 w 2429303"/>
              <a:gd name="connsiteY7" fmla="*/ 457157 h 458973"/>
              <a:gd name="connsiteX8" fmla="*/ 2233199 w 2429303"/>
              <a:gd name="connsiteY8" fmla="*/ 458972 h 458973"/>
              <a:gd name="connsiteX9" fmla="*/ 2216122 w 2429303"/>
              <a:gd name="connsiteY9" fmla="*/ 458972 h 458973"/>
              <a:gd name="connsiteX10" fmla="*/ 2216112 w 2429303"/>
              <a:gd name="connsiteY10" fmla="*/ 458973 h 458973"/>
              <a:gd name="connsiteX11" fmla="*/ 2216103 w 2429303"/>
              <a:gd name="connsiteY11" fmla="*/ 458972 h 458973"/>
              <a:gd name="connsiteX12" fmla="*/ 0 w 2429303"/>
              <a:gd name="connsiteY12" fmla="*/ 458972 h 458973"/>
              <a:gd name="connsiteX13" fmla="*/ 0 w 2429303"/>
              <a:gd name="connsiteY13" fmla="*/ 0 h 458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29303" h="458973">
                <a:moveTo>
                  <a:pt x="0" y="0"/>
                </a:moveTo>
                <a:lnTo>
                  <a:pt x="2216112" y="9525"/>
                </a:lnTo>
                <a:lnTo>
                  <a:pt x="2233199" y="9525"/>
                </a:lnTo>
                <a:lnTo>
                  <a:pt x="2233199" y="11341"/>
                </a:lnTo>
                <a:lnTo>
                  <a:pt x="2259078" y="14091"/>
                </a:lnTo>
                <a:cubicBezTo>
                  <a:pt x="2356225" y="35045"/>
                  <a:pt x="2429303" y="125651"/>
                  <a:pt x="2429303" y="234249"/>
                </a:cubicBezTo>
                <a:cubicBezTo>
                  <a:pt x="2429303" y="342847"/>
                  <a:pt x="2356225" y="433453"/>
                  <a:pt x="2259078" y="454408"/>
                </a:cubicBezTo>
                <a:lnTo>
                  <a:pt x="2233199" y="457157"/>
                </a:lnTo>
                <a:lnTo>
                  <a:pt x="2233199" y="458972"/>
                </a:lnTo>
                <a:lnTo>
                  <a:pt x="2216122" y="458972"/>
                </a:lnTo>
                <a:cubicBezTo>
                  <a:pt x="2216119" y="458972"/>
                  <a:pt x="2216115" y="458973"/>
                  <a:pt x="2216112" y="458973"/>
                </a:cubicBezTo>
                <a:cubicBezTo>
                  <a:pt x="2216109" y="458973"/>
                  <a:pt x="2216106" y="458972"/>
                  <a:pt x="2216103" y="458972"/>
                </a:cubicBezTo>
                <a:lnTo>
                  <a:pt x="0" y="4589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fr-FR" sz="1200" b="1" kern="0">
                <a:solidFill>
                  <a:srgbClr val="3536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OUTILS / MÉTHODES</a:t>
            </a:r>
            <a:endParaRPr lang="fr-FR" sz="1600" b="1" kern="0">
              <a:solidFill>
                <a:srgbClr val="3536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orme libre : forme 22">
            <a:extLst>
              <a:ext uri="{FF2B5EF4-FFF2-40B4-BE49-F238E27FC236}">
                <a16:creationId xmlns:a16="http://schemas.microsoft.com/office/drawing/2014/main" id="{CD85422A-72EF-8255-566D-9A13957F2B94}"/>
              </a:ext>
            </a:extLst>
          </p:cNvPr>
          <p:cNvSpPr/>
          <p:nvPr/>
        </p:nvSpPr>
        <p:spPr>
          <a:xfrm>
            <a:off x="151683" y="1983600"/>
            <a:ext cx="2403792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  <a:gd name="connsiteX0" fmla="*/ 2764053 w 5193356"/>
              <a:gd name="connsiteY0" fmla="*/ 0 h 458973"/>
              <a:gd name="connsiteX1" fmla="*/ 4980165 w 5193356"/>
              <a:gd name="connsiteY1" fmla="*/ 9525 h 458973"/>
              <a:gd name="connsiteX2" fmla="*/ 4997252 w 5193356"/>
              <a:gd name="connsiteY2" fmla="*/ 9525 h 458973"/>
              <a:gd name="connsiteX3" fmla="*/ 4997252 w 5193356"/>
              <a:gd name="connsiteY3" fmla="*/ 11341 h 458973"/>
              <a:gd name="connsiteX4" fmla="*/ 5023131 w 5193356"/>
              <a:gd name="connsiteY4" fmla="*/ 14091 h 458973"/>
              <a:gd name="connsiteX5" fmla="*/ 5193356 w 5193356"/>
              <a:gd name="connsiteY5" fmla="*/ 234249 h 458973"/>
              <a:gd name="connsiteX6" fmla="*/ 5023131 w 5193356"/>
              <a:gd name="connsiteY6" fmla="*/ 454408 h 458973"/>
              <a:gd name="connsiteX7" fmla="*/ 4997252 w 5193356"/>
              <a:gd name="connsiteY7" fmla="*/ 457157 h 458973"/>
              <a:gd name="connsiteX8" fmla="*/ 4997252 w 5193356"/>
              <a:gd name="connsiteY8" fmla="*/ 458972 h 458973"/>
              <a:gd name="connsiteX9" fmla="*/ 4980175 w 5193356"/>
              <a:gd name="connsiteY9" fmla="*/ 458972 h 458973"/>
              <a:gd name="connsiteX10" fmla="*/ 4980165 w 5193356"/>
              <a:gd name="connsiteY10" fmla="*/ 458973 h 458973"/>
              <a:gd name="connsiteX11" fmla="*/ 4980156 w 5193356"/>
              <a:gd name="connsiteY11" fmla="*/ 458972 h 458973"/>
              <a:gd name="connsiteX12" fmla="*/ 0 w 5193356"/>
              <a:gd name="connsiteY12" fmla="*/ 458972 h 458973"/>
              <a:gd name="connsiteX13" fmla="*/ 2764053 w 5193356"/>
              <a:gd name="connsiteY13" fmla="*/ 0 h 458973"/>
              <a:gd name="connsiteX0" fmla="*/ 0 w 2429303"/>
              <a:gd name="connsiteY0" fmla="*/ 0 h 458973"/>
              <a:gd name="connsiteX1" fmla="*/ 2216112 w 2429303"/>
              <a:gd name="connsiteY1" fmla="*/ 9525 h 458973"/>
              <a:gd name="connsiteX2" fmla="*/ 2233199 w 2429303"/>
              <a:gd name="connsiteY2" fmla="*/ 9525 h 458973"/>
              <a:gd name="connsiteX3" fmla="*/ 2233199 w 2429303"/>
              <a:gd name="connsiteY3" fmla="*/ 11341 h 458973"/>
              <a:gd name="connsiteX4" fmla="*/ 2259078 w 2429303"/>
              <a:gd name="connsiteY4" fmla="*/ 14091 h 458973"/>
              <a:gd name="connsiteX5" fmla="*/ 2429303 w 2429303"/>
              <a:gd name="connsiteY5" fmla="*/ 234249 h 458973"/>
              <a:gd name="connsiteX6" fmla="*/ 2259078 w 2429303"/>
              <a:gd name="connsiteY6" fmla="*/ 454408 h 458973"/>
              <a:gd name="connsiteX7" fmla="*/ 2233199 w 2429303"/>
              <a:gd name="connsiteY7" fmla="*/ 457157 h 458973"/>
              <a:gd name="connsiteX8" fmla="*/ 2233199 w 2429303"/>
              <a:gd name="connsiteY8" fmla="*/ 458972 h 458973"/>
              <a:gd name="connsiteX9" fmla="*/ 2216122 w 2429303"/>
              <a:gd name="connsiteY9" fmla="*/ 458972 h 458973"/>
              <a:gd name="connsiteX10" fmla="*/ 2216112 w 2429303"/>
              <a:gd name="connsiteY10" fmla="*/ 458973 h 458973"/>
              <a:gd name="connsiteX11" fmla="*/ 2216103 w 2429303"/>
              <a:gd name="connsiteY11" fmla="*/ 458972 h 458973"/>
              <a:gd name="connsiteX12" fmla="*/ 0 w 2429303"/>
              <a:gd name="connsiteY12" fmla="*/ 458972 h 458973"/>
              <a:gd name="connsiteX13" fmla="*/ 0 w 2429303"/>
              <a:gd name="connsiteY13" fmla="*/ 0 h 458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29303" h="458973">
                <a:moveTo>
                  <a:pt x="0" y="0"/>
                </a:moveTo>
                <a:lnTo>
                  <a:pt x="2216112" y="9525"/>
                </a:lnTo>
                <a:lnTo>
                  <a:pt x="2233199" y="9525"/>
                </a:lnTo>
                <a:lnTo>
                  <a:pt x="2233199" y="11341"/>
                </a:lnTo>
                <a:lnTo>
                  <a:pt x="2259078" y="14091"/>
                </a:lnTo>
                <a:cubicBezTo>
                  <a:pt x="2356225" y="35045"/>
                  <a:pt x="2429303" y="125651"/>
                  <a:pt x="2429303" y="234249"/>
                </a:cubicBezTo>
                <a:cubicBezTo>
                  <a:pt x="2429303" y="342847"/>
                  <a:pt x="2356225" y="433453"/>
                  <a:pt x="2259078" y="454408"/>
                </a:cubicBezTo>
                <a:lnTo>
                  <a:pt x="2233199" y="457157"/>
                </a:lnTo>
                <a:lnTo>
                  <a:pt x="2233199" y="458972"/>
                </a:lnTo>
                <a:lnTo>
                  <a:pt x="2216122" y="458972"/>
                </a:lnTo>
                <a:cubicBezTo>
                  <a:pt x="2216119" y="458972"/>
                  <a:pt x="2216115" y="458973"/>
                  <a:pt x="2216112" y="458973"/>
                </a:cubicBezTo>
                <a:cubicBezTo>
                  <a:pt x="2216109" y="458973"/>
                  <a:pt x="2216106" y="458972"/>
                  <a:pt x="2216103" y="458972"/>
                </a:cubicBezTo>
                <a:lnTo>
                  <a:pt x="0" y="4589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fr-FR" sz="1200" b="1" kern="0" dirty="0">
                <a:solidFill>
                  <a:srgbClr val="3536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FORMATIONS</a:t>
            </a:r>
            <a:endParaRPr lang="fr-FR" sz="1600" b="1" kern="0" dirty="0">
              <a:solidFill>
                <a:srgbClr val="3536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61FC5B-F15E-D548-7B04-4D512A40AAF3}"/>
              </a:ext>
            </a:extLst>
          </p:cNvPr>
          <p:cNvSpPr/>
          <p:nvPr/>
        </p:nvSpPr>
        <p:spPr>
          <a:xfrm>
            <a:off x="371475" y="2414547"/>
            <a:ext cx="3579429" cy="694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ESSCA M2 Consulting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Certification Product </a:t>
            </a:r>
            <a:r>
              <a:rPr lang="fr-FR" sz="1000" dirty="0" err="1">
                <a:solidFill>
                  <a:schemeClr val="bg1"/>
                </a:solidFill>
              </a:rPr>
              <a:t>Owner</a:t>
            </a:r>
            <a:r>
              <a:rPr lang="fr-FR" sz="1000" dirty="0">
                <a:solidFill>
                  <a:schemeClr val="bg1"/>
                </a:solidFill>
              </a:rPr>
              <a:t> Agile (PSPO1)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Participation à plusieurs formations, REX et réflexions internes sur l’IA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Formation sur l’implémentation du CRM Salesforce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41" name="Forme libre : forme 40">
            <a:extLst>
              <a:ext uri="{FF2B5EF4-FFF2-40B4-BE49-F238E27FC236}">
                <a16:creationId xmlns:a16="http://schemas.microsoft.com/office/drawing/2014/main" id="{5968A43C-85F7-8947-A6AC-F0FB7939257E}"/>
              </a:ext>
            </a:extLst>
          </p:cNvPr>
          <p:cNvSpPr/>
          <p:nvPr/>
        </p:nvSpPr>
        <p:spPr>
          <a:xfrm>
            <a:off x="4239096" y="1983600"/>
            <a:ext cx="4944265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93356" h="449448">
                <a:moveTo>
                  <a:pt x="0" y="0"/>
                </a:moveTo>
                <a:lnTo>
                  <a:pt x="4980165" y="0"/>
                </a:lnTo>
                <a:lnTo>
                  <a:pt x="4997252" y="0"/>
                </a:lnTo>
                <a:lnTo>
                  <a:pt x="4997252" y="1816"/>
                </a:lnTo>
                <a:lnTo>
                  <a:pt x="5023131" y="4566"/>
                </a:lnTo>
                <a:cubicBezTo>
                  <a:pt x="5120278" y="25520"/>
                  <a:pt x="5193356" y="116126"/>
                  <a:pt x="5193356" y="224724"/>
                </a:cubicBezTo>
                <a:cubicBezTo>
                  <a:pt x="5193356" y="333322"/>
                  <a:pt x="5120278" y="423928"/>
                  <a:pt x="5023131" y="444883"/>
                </a:cubicBezTo>
                <a:lnTo>
                  <a:pt x="4997252" y="447632"/>
                </a:lnTo>
                <a:lnTo>
                  <a:pt x="4997252" y="449447"/>
                </a:lnTo>
                <a:lnTo>
                  <a:pt x="4980175" y="449447"/>
                </a:lnTo>
                <a:lnTo>
                  <a:pt x="4980165" y="449448"/>
                </a:lnTo>
                <a:lnTo>
                  <a:pt x="4980156" y="449447"/>
                </a:lnTo>
                <a:lnTo>
                  <a:pt x="0" y="44944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fr-FR" sz="1200" b="1" ker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PRINCIPALES EXPÉRIENCES EN LIEN AVEC LA MISSION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374B764-4A1F-3B82-6EFD-6F08A0BA92C7}"/>
              </a:ext>
            </a:extLst>
          </p:cNvPr>
          <p:cNvSpPr txBox="1"/>
          <p:nvPr/>
        </p:nvSpPr>
        <p:spPr>
          <a:xfrm>
            <a:off x="4862670" y="2414547"/>
            <a:ext cx="6957855" cy="2941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>
                <a:solidFill>
                  <a:schemeClr val="tx2"/>
                </a:solidFill>
              </a:rPr>
              <a:t>Malakoff </a:t>
            </a:r>
            <a:r>
              <a:rPr lang="en-GB" sz="1000" b="1" dirty="0" err="1">
                <a:solidFill>
                  <a:schemeClr val="tx2"/>
                </a:solidFill>
              </a:rPr>
              <a:t>Humanis</a:t>
            </a:r>
            <a:r>
              <a:rPr lang="en-GB" sz="1000" b="1" dirty="0">
                <a:solidFill>
                  <a:schemeClr val="tx2"/>
                </a:solidFill>
              </a:rPr>
              <a:t> – Consultant assistant Data Product Manager </a:t>
            </a:r>
            <a:r>
              <a:rPr lang="fr-FR" sz="1000" b="1" dirty="0">
                <a:solidFill>
                  <a:schemeClr val="tx2"/>
                </a:solidFill>
              </a:rPr>
              <a:t>(XX mois)</a:t>
            </a:r>
          </a:p>
          <a:p>
            <a:pPr marL="171450" marR="0" lvl="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  <a:tabLst/>
              <a:defRPr/>
            </a:pPr>
            <a:r>
              <a:rPr lang="fr-FR" sz="1000" dirty="0">
                <a:solidFill>
                  <a:schemeClr val="dk1"/>
                </a:solidFill>
                <a:cs typeface="Arial"/>
              </a:rPr>
              <a:t>Fusion des différents viviers de cas d’usages IA/IA </a:t>
            </a:r>
            <a:r>
              <a:rPr lang="fr-FR" sz="1000" dirty="0" err="1">
                <a:solidFill>
                  <a:schemeClr val="dk1"/>
                </a:solidFill>
                <a:cs typeface="Arial"/>
              </a:rPr>
              <a:t>Gen</a:t>
            </a:r>
            <a:r>
              <a:rPr lang="fr-FR" sz="1000" dirty="0">
                <a:solidFill>
                  <a:schemeClr val="dk1"/>
                </a:solidFill>
                <a:cs typeface="Arial"/>
              </a:rPr>
              <a:t>, et représentation graphique de la synthèse globale du vivier</a:t>
            </a:r>
          </a:p>
          <a:p>
            <a:pPr marL="171450" marR="0" lvl="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  <a:tabLst/>
              <a:defRPr/>
            </a:pPr>
            <a:r>
              <a:rPr lang="fr-FR" sz="1000" dirty="0">
                <a:solidFill>
                  <a:schemeClr val="dk1"/>
                </a:solidFill>
                <a:cs typeface="Arial"/>
              </a:rPr>
              <a:t>Coordination transverse de l’initiative IA </a:t>
            </a:r>
            <a:r>
              <a:rPr lang="fr-FR" sz="1000" dirty="0" err="1">
                <a:solidFill>
                  <a:schemeClr val="dk1"/>
                </a:solidFill>
                <a:cs typeface="Arial"/>
              </a:rPr>
              <a:t>Gen</a:t>
            </a:r>
            <a:r>
              <a:rPr lang="fr-FR" sz="1000" dirty="0">
                <a:solidFill>
                  <a:schemeClr val="dk1"/>
                </a:solidFill>
                <a:cs typeface="Arial"/>
              </a:rPr>
              <a:t> aux cotés des autres chefs de projets, mise en place d’un </a:t>
            </a:r>
            <a:r>
              <a:rPr lang="fr-FR" sz="1000" dirty="0" err="1">
                <a:solidFill>
                  <a:schemeClr val="dk1"/>
                </a:solidFill>
                <a:cs typeface="Arial"/>
              </a:rPr>
              <a:t>backlog</a:t>
            </a:r>
            <a:r>
              <a:rPr lang="fr-FR" sz="1000" dirty="0">
                <a:solidFill>
                  <a:schemeClr val="dk1"/>
                </a:solidFill>
                <a:cs typeface="Arial"/>
              </a:rPr>
              <a:t> et priorisation des prochains cas d’usages à établir lors de l’année suivante</a:t>
            </a:r>
          </a:p>
          <a:p>
            <a:pPr marL="171450" marR="0" lvl="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  <a:tabLst/>
              <a:defRPr/>
            </a:pPr>
            <a:r>
              <a:rPr lang="fr-FR" sz="1000" dirty="0">
                <a:solidFill>
                  <a:schemeClr val="dk1"/>
                </a:solidFill>
                <a:cs typeface="Arial"/>
              </a:rPr>
              <a:t>Aide au suivi budgétaire du programme IA/IA </a:t>
            </a:r>
            <a:r>
              <a:rPr lang="fr-FR" sz="1000" dirty="0" err="1">
                <a:solidFill>
                  <a:schemeClr val="dk1"/>
                </a:solidFill>
                <a:cs typeface="Arial"/>
              </a:rPr>
              <a:t>Gen</a:t>
            </a:r>
            <a:r>
              <a:rPr lang="fr-FR" sz="1000" dirty="0">
                <a:solidFill>
                  <a:schemeClr val="dk1"/>
                </a:solidFill>
                <a:cs typeface="Arial"/>
              </a:rPr>
              <a:t>, réalisation d’un bilan de fin d’année et établissement du budget de l’année prochaine aux cotés des différents métiers</a:t>
            </a:r>
          </a:p>
          <a:p>
            <a:pPr marL="171450" marR="0" lvl="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  <a:tabLst/>
              <a:defRPr/>
            </a:pPr>
            <a:r>
              <a:rPr lang="fr-FR" sz="1000" dirty="0">
                <a:solidFill>
                  <a:schemeClr val="dk1"/>
                </a:solidFill>
                <a:cs typeface="Arial"/>
              </a:rPr>
              <a:t>Préparations des supports pour les instances projet/programme et suivi des actions Data Gouvernance</a:t>
            </a:r>
          </a:p>
          <a:p>
            <a:pPr marL="171450" marR="0" lvl="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  <a:tabLst/>
              <a:defRPr/>
            </a:pPr>
            <a:endParaRPr lang="fr-FR" sz="1000" dirty="0">
              <a:solidFill>
                <a:schemeClr val="dk1"/>
              </a:solidFill>
              <a:cs typeface="Arial"/>
            </a:endParaRP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defRPr/>
            </a:pPr>
            <a:r>
              <a:rPr kumimoji="0" lang="fr-FR" sz="1000" b="1" i="0" u="none" strike="noStrike" kern="1200" cap="none" spc="0" normalizeH="0" baseline="0" noProof="0" dirty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Société Générale – Consultant junior transformation (XX mois)</a:t>
            </a:r>
          </a:p>
          <a:p>
            <a:pPr marL="17145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chemeClr val="dk1"/>
                </a:solidFill>
                <a:cs typeface="Arial"/>
                <a:sym typeface="Arial"/>
              </a:rPr>
              <a:t>Traduction des besoins métiers vers l’IT via la rédaction d’expression de besoin : réalisation d’ateliers et itérations avec les différentes directions parties prenantes, formalisation des EDB</a:t>
            </a:r>
          </a:p>
          <a:p>
            <a:pPr marL="17145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chemeClr val="dk1"/>
                </a:solidFill>
                <a:cs typeface="Arial"/>
                <a:sym typeface="Arial"/>
              </a:rPr>
              <a:t>Data </a:t>
            </a:r>
            <a:r>
              <a:rPr lang="fr-FR" sz="1000" dirty="0" err="1">
                <a:solidFill>
                  <a:schemeClr val="dk1"/>
                </a:solidFill>
                <a:cs typeface="Arial"/>
                <a:sym typeface="Arial"/>
              </a:rPr>
              <a:t>quality</a:t>
            </a:r>
            <a:r>
              <a:rPr lang="fr-FR" sz="1000" dirty="0">
                <a:solidFill>
                  <a:schemeClr val="dk1"/>
                </a:solidFill>
                <a:cs typeface="Arial"/>
                <a:sym typeface="Arial"/>
              </a:rPr>
              <a:t> : identification et présentation des problèmes de DQ lors des comités des différentes entités, mise en place de plusieurs contrôles</a:t>
            </a:r>
          </a:p>
          <a:p>
            <a:pPr marL="17145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chemeClr val="dk1"/>
                </a:solidFill>
                <a:cs typeface="Arial"/>
                <a:sym typeface="Arial"/>
              </a:rPr>
              <a:t>Support au pilotage de la mission, rédaction de CR et mise à jour de base XLS regroupant l’intégralité des résultats de chaque entité afin d’automatiser certains contrôles et de faciliter le travail des analystes lors des comités</a:t>
            </a:r>
          </a:p>
          <a:p>
            <a:pPr marL="17145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  <a:defRPr/>
            </a:pPr>
            <a:endParaRPr lang="fr-FR" sz="1000" dirty="0">
              <a:solidFill>
                <a:schemeClr val="dk1"/>
              </a:solidFill>
              <a:cs typeface="Arial"/>
            </a:endParaRPr>
          </a:p>
          <a:p>
            <a:pPr marL="171450" marR="0" lvl="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  <a:tabLst/>
              <a:defRPr/>
            </a:pPr>
            <a:endParaRPr lang="fr-FR" sz="1000" dirty="0">
              <a:solidFill>
                <a:schemeClr val="dk1"/>
              </a:solidFill>
              <a:cs typeface="Arial"/>
            </a:endParaRP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63BFF34-2FDE-0F16-0FA0-99D7DCAAD6B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234AAA3-D3BD-4DCA-8674-DDCEC63B7531}" type="datetime1">
              <a:rPr lang="fr-FR" smtClean="0"/>
              <a:t>31/03/2025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18E6C44-B8B2-DFBE-F6FF-27BC0098D5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/>
              <a:t>AMITA CONSEIL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6EC5BE4-9D85-8589-7F81-D639F76A05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D9892E7-E91F-405F-A6AB-FE5AB3285265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0ED7D2-0817-34E4-AA65-28CAB2ADE35A}"/>
              </a:ext>
            </a:extLst>
          </p:cNvPr>
          <p:cNvSpPr/>
          <p:nvPr/>
        </p:nvSpPr>
        <p:spPr>
          <a:xfrm>
            <a:off x="380995" y="3760698"/>
            <a:ext cx="3579429" cy="117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Gestion de projet: Participation à la formation </a:t>
            </a:r>
            <a:r>
              <a:rPr lang="fr-FR" sz="1000" dirty="0" err="1">
                <a:solidFill>
                  <a:schemeClr val="bg1"/>
                </a:solidFill>
              </a:rPr>
              <a:t>Orsys</a:t>
            </a:r>
            <a:r>
              <a:rPr lang="fr-FR" sz="1000" dirty="0">
                <a:solidFill>
                  <a:schemeClr val="bg1"/>
                </a:solidFill>
              </a:rPr>
              <a:t> Product </a:t>
            </a:r>
            <a:r>
              <a:rPr lang="fr-FR" sz="1000" dirty="0" err="1">
                <a:solidFill>
                  <a:schemeClr val="bg1"/>
                </a:solidFill>
              </a:rPr>
              <a:t>Owner</a:t>
            </a:r>
            <a:r>
              <a:rPr lang="fr-FR" sz="1000" dirty="0">
                <a:solidFill>
                  <a:schemeClr val="bg1"/>
                </a:solidFill>
              </a:rPr>
              <a:t> et certification PSPO1 (Scrum.org); Rédaction d’une formation sur l’IA </a:t>
            </a:r>
            <a:r>
              <a:rPr lang="fr-FR" sz="1000" dirty="0" err="1">
                <a:solidFill>
                  <a:schemeClr val="bg1"/>
                </a:solidFill>
              </a:rPr>
              <a:t>Gen</a:t>
            </a:r>
            <a:r>
              <a:rPr lang="fr-FR" sz="1000" dirty="0">
                <a:solidFill>
                  <a:schemeClr val="bg1"/>
                </a:solidFill>
              </a:rPr>
              <a:t>; Travail sur différents cas d’usage lié à l’IA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/>
              </a:solidFill>
            </a:endParaRP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Soft-</a:t>
            </a:r>
            <a:r>
              <a:rPr lang="fr-FR" sz="1000" dirty="0" err="1">
                <a:solidFill>
                  <a:schemeClr val="bg1"/>
                </a:solidFill>
              </a:rPr>
              <a:t>skills</a:t>
            </a:r>
            <a:r>
              <a:rPr lang="fr-FR" sz="1000" dirty="0">
                <a:solidFill>
                  <a:schemeClr val="bg1"/>
                </a:solidFill>
              </a:rPr>
              <a:t>: Esprit d’équipe; Leadership; Communication interpersonnelle; Capacité de formalisation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C016A55-C40C-4303-7391-582EC3D279B8}"/>
              </a:ext>
            </a:extLst>
          </p:cNvPr>
          <p:cNvSpPr/>
          <p:nvPr/>
        </p:nvSpPr>
        <p:spPr>
          <a:xfrm>
            <a:off x="666217" y="709314"/>
            <a:ext cx="1131076" cy="1116676"/>
          </a:xfrm>
          <a:prstGeom prst="ellipse">
            <a:avLst/>
          </a:prstGeom>
          <a:noFill/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A58CDB-0089-2305-03DB-BCBFAB23D67A}"/>
              </a:ext>
            </a:extLst>
          </p:cNvPr>
          <p:cNvSpPr/>
          <p:nvPr/>
        </p:nvSpPr>
        <p:spPr>
          <a:xfrm>
            <a:off x="368572" y="5295569"/>
            <a:ext cx="3570437" cy="117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Maitrise du pack Office : Word, Power Point, Excel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CRM Salesforce et </a:t>
            </a:r>
            <a:r>
              <a:rPr lang="fr-FR" sz="1000" dirty="0" err="1">
                <a:solidFill>
                  <a:schemeClr val="bg1"/>
                </a:solidFill>
              </a:rPr>
              <a:t>Zoho</a:t>
            </a:r>
            <a:endParaRPr lang="fr-FR" sz="1000" dirty="0">
              <a:solidFill>
                <a:schemeClr val="bg1"/>
              </a:solidFill>
            </a:endParaRPr>
          </a:p>
        </p:txBody>
      </p:sp>
      <p:pic>
        <p:nvPicPr>
          <p:cNvPr id="45" name="Picture 2" descr="upload.wikimedia.org/wikipedia/commons/thumb/6/...">
            <a:extLst>
              <a:ext uri="{FF2B5EF4-FFF2-40B4-BE49-F238E27FC236}">
                <a16:creationId xmlns:a16="http://schemas.microsoft.com/office/drawing/2014/main" id="{CDE5EC60-6416-B2C6-CE0C-C103855E6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9096" y="2438177"/>
            <a:ext cx="635469" cy="2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Image 46" descr="Une image contenant personne, homme, mur, complet&#10;&#10;Description générée automatiquement">
            <a:extLst>
              <a:ext uri="{FF2B5EF4-FFF2-40B4-BE49-F238E27FC236}">
                <a16:creationId xmlns:a16="http://schemas.microsoft.com/office/drawing/2014/main" id="{7433AFBA-B87F-F7DE-43A6-400831E09E1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090" r="11331"/>
          <a:stretch/>
        </p:blipFill>
        <p:spPr>
          <a:xfrm>
            <a:off x="368572" y="557385"/>
            <a:ext cx="1069054" cy="1360476"/>
          </a:xfrm>
          <a:prstGeom prst="rect">
            <a:avLst/>
          </a:prstGeom>
        </p:spPr>
      </p:pic>
      <p:sp>
        <p:nvSpPr>
          <p:cNvPr id="48" name="ZoneTexte 47">
            <a:extLst>
              <a:ext uri="{FF2B5EF4-FFF2-40B4-BE49-F238E27FC236}">
                <a16:creationId xmlns:a16="http://schemas.microsoft.com/office/drawing/2014/main" id="{83D17651-3B3A-A8A5-DD90-007B18392C69}"/>
              </a:ext>
            </a:extLst>
          </p:cNvPr>
          <p:cNvSpPr txBox="1"/>
          <p:nvPr/>
        </p:nvSpPr>
        <p:spPr>
          <a:xfrm rot="840714">
            <a:off x="9523367" y="-76512"/>
            <a:ext cx="1774845" cy="92333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Photo</a:t>
            </a:r>
          </a:p>
          <a:p>
            <a:r>
              <a:rPr lang="fr-FR" dirty="0" err="1">
                <a:solidFill>
                  <a:schemeClr val="bg1"/>
                </a:solidFill>
              </a:rPr>
              <a:t>Duree</a:t>
            </a:r>
            <a:r>
              <a:rPr lang="fr-FR" dirty="0">
                <a:solidFill>
                  <a:schemeClr val="bg1"/>
                </a:solidFill>
              </a:rPr>
              <a:t> missions</a:t>
            </a:r>
          </a:p>
          <a:p>
            <a:r>
              <a:rPr lang="fr-FR" dirty="0">
                <a:solidFill>
                  <a:schemeClr val="bg1"/>
                </a:solidFill>
              </a:rPr>
              <a:t>Logo clients</a:t>
            </a:r>
          </a:p>
        </p:txBody>
      </p:sp>
    </p:spTree>
    <p:extLst>
      <p:ext uri="{BB962C8B-B14F-4D97-AF65-F5344CB8AC3E}">
        <p14:creationId xmlns:p14="http://schemas.microsoft.com/office/powerpoint/2010/main" val="4021883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B56EC-8377-DD3B-7366-E6774F805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466083A-4698-69D3-71D1-586ACEB72BB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314947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245" imgH="245" progId="TCLayout.ActiveDocument.1">
                  <p:embed/>
                </p:oleObj>
              </mc:Choice>
              <mc:Fallback>
                <p:oleObj name="Diapositive think-cell" r:id="rId4" imgW="245" imgH="24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466083A-4698-69D3-71D1-586ACEB72B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Tableau 8">
            <a:extLst>
              <a:ext uri="{FF2B5EF4-FFF2-40B4-BE49-F238E27FC236}">
                <a16:creationId xmlns:a16="http://schemas.microsoft.com/office/drawing/2014/main" id="{A3A19647-FD7D-E123-3162-76D42B52E8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7370423"/>
              </p:ext>
            </p:extLst>
          </p:nvPr>
        </p:nvGraphicFramePr>
        <p:xfrm>
          <a:off x="370870" y="1984675"/>
          <a:ext cx="11430002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 b="1" noProof="0" dirty="0"/>
                        <a:t>CLIENT / PROJET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 b="1" noProof="0" dirty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 b="1" noProof="0"/>
                        <a:t>RÔLE ET 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369054">
                <a:tc>
                  <a:txBody>
                    <a:bodyPr/>
                    <a:lstStyle/>
                    <a:p>
                      <a:pPr marL="0" algn="l" defTabSz="55724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UP WIDER</a:t>
                      </a:r>
                    </a:p>
                    <a:p>
                      <a:pPr marL="0" algn="l" defTabSz="55724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000" b="0" i="1" u="non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Programme XX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spc="-1" noProof="1">
                          <a:uFill>
                            <a:solidFill>
                              <a:srgbClr val="FFFFFF"/>
                            </a:solidFill>
                          </a:uFill>
                        </a:rPr>
                        <a:t>XX</a:t>
                      </a:r>
                    </a:p>
                    <a:p>
                      <a:endParaRPr lang="fr-FR" sz="1000" spc="-1" noProof="1"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  <a:p>
                      <a:endParaRPr lang="fr-FR" sz="1000" spc="-1" noProof="1"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None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b="1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Business Recruter (XX mois)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Recrutement, gestion d’équipe et de consultants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Relation clients grand compte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</a:tbl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B6399308-A61A-08DD-CE08-E7F6C1E3A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 noProof="0" dirty="0"/>
              <a:t>PAULIN VINOT PREFONTAINE 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A296820-E9A1-5D9A-A12E-A64B0EF80F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noProof="0" smtClean="0"/>
              <a:pPr/>
              <a:t>2</a:t>
            </a:fld>
            <a:endParaRPr lang="fr-FR" noProof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5384F8A-E0B2-68D9-E963-C05500981BD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5EECF77-BC25-41C0-A0EF-6A4B97F069C1}" type="datetime1">
              <a:rPr lang="fr-FR" noProof="0" smtClean="0"/>
              <a:t>27/03/2025</a:t>
            </a:fld>
            <a:endParaRPr lang="fr-FR" noProof="0"/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7011D353-CB76-5330-72E0-1640B4E140BF}"/>
              </a:ext>
            </a:extLst>
          </p:cNvPr>
          <p:cNvSpPr/>
          <p:nvPr/>
        </p:nvSpPr>
        <p:spPr>
          <a:xfrm>
            <a:off x="380995" y="1332000"/>
            <a:ext cx="5715005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93356" h="449448">
                <a:moveTo>
                  <a:pt x="0" y="0"/>
                </a:moveTo>
                <a:lnTo>
                  <a:pt x="4980165" y="0"/>
                </a:lnTo>
                <a:lnTo>
                  <a:pt x="4997252" y="0"/>
                </a:lnTo>
                <a:lnTo>
                  <a:pt x="4997252" y="1816"/>
                </a:lnTo>
                <a:lnTo>
                  <a:pt x="5023131" y="4566"/>
                </a:lnTo>
                <a:cubicBezTo>
                  <a:pt x="5120278" y="25520"/>
                  <a:pt x="5193356" y="116126"/>
                  <a:pt x="5193356" y="224724"/>
                </a:cubicBezTo>
                <a:cubicBezTo>
                  <a:pt x="5193356" y="333322"/>
                  <a:pt x="5120278" y="423928"/>
                  <a:pt x="5023131" y="444883"/>
                </a:cubicBezTo>
                <a:lnTo>
                  <a:pt x="4997252" y="447632"/>
                </a:lnTo>
                <a:lnTo>
                  <a:pt x="4997252" y="449447"/>
                </a:lnTo>
                <a:lnTo>
                  <a:pt x="4980175" y="449447"/>
                </a:lnTo>
                <a:lnTo>
                  <a:pt x="4980165" y="449448"/>
                </a:lnTo>
                <a:lnTo>
                  <a:pt x="4980156" y="449447"/>
                </a:lnTo>
                <a:lnTo>
                  <a:pt x="0" y="44944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fr-FR" sz="1200" b="1" ker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PRINCIPALES EXPÉRIENCES EN LIEN AVEC LA MISSION (SUITE)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AD709F-5F89-99E7-FF88-A8501EB5827E}"/>
              </a:ext>
            </a:extLst>
          </p:cNvPr>
          <p:cNvSpPr/>
          <p:nvPr/>
        </p:nvSpPr>
        <p:spPr>
          <a:xfrm>
            <a:off x="12305039" y="0"/>
            <a:ext cx="2071025" cy="20528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100" dirty="0">
                <a:solidFill>
                  <a:schemeClr val="tx1"/>
                </a:solidFill>
              </a:rPr>
              <a:t>Nota : cette présentation en tableau devra être en cohérence avec la présentation des références mission AMITA (références courtes)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C75D43-1D3B-B588-BA43-FE74C18EAF1C}"/>
              </a:ext>
            </a:extLst>
          </p:cNvPr>
          <p:cNvSpPr/>
          <p:nvPr/>
        </p:nvSpPr>
        <p:spPr>
          <a:xfrm>
            <a:off x="4862670" y="0"/>
            <a:ext cx="2071025" cy="3330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tx1"/>
                </a:solidFill>
              </a:rPr>
              <a:t>CV détaillé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A90C2F6B-CD06-D986-FF18-237658CD36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AMITA CONSEIL</a:t>
            </a:r>
          </a:p>
        </p:txBody>
      </p:sp>
    </p:spTree>
    <p:extLst>
      <p:ext uri="{BB962C8B-B14F-4D97-AF65-F5344CB8AC3E}">
        <p14:creationId xmlns:p14="http://schemas.microsoft.com/office/powerpoint/2010/main" val="2876425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8E4E6-0FB2-A25B-B3EC-B23D8B666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6813216-06A6-4E8A-62E2-80030942941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600" imgH="601" progId="TCLayout.ActiveDocument.1">
                  <p:embed/>
                </p:oleObj>
              </mc:Choice>
              <mc:Fallback>
                <p:oleObj name="Diapositive think-cell" r:id="rId3" imgW="600" imgH="6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401277-41B0-E171-2C86-3D0217B774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24745F0F-6CC8-9EA2-44B3-613FFB4E16F4}"/>
              </a:ext>
            </a:extLst>
          </p:cNvPr>
          <p:cNvSpPr/>
          <p:nvPr/>
        </p:nvSpPr>
        <p:spPr>
          <a:xfrm>
            <a:off x="155576" y="491646"/>
            <a:ext cx="4002518" cy="5848828"/>
          </a:xfrm>
          <a:prstGeom prst="roundRect">
            <a:avLst>
              <a:gd name="adj" fmla="val 4261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ysClr val="windowText" lastClr="000000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54734BF-408B-A5A6-8E53-D384E930AF6A}"/>
              </a:ext>
            </a:extLst>
          </p:cNvPr>
          <p:cNvSpPr txBox="1"/>
          <p:nvPr/>
        </p:nvSpPr>
        <p:spPr>
          <a:xfrm>
            <a:off x="1363319" y="705962"/>
            <a:ext cx="2689966" cy="8463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400" cap="all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AN</a:t>
            </a:r>
          </a:p>
          <a:p>
            <a:r>
              <a:rPr lang="fr-FR" sz="1600" b="1" dirty="0">
                <a:solidFill>
                  <a:schemeClr val="tx2"/>
                </a:solidFill>
                <a:latin typeface="+mj-lt"/>
              </a:rPr>
              <a:t>CONSULTANT</a:t>
            </a:r>
            <a:endParaRPr lang="fr-FR" sz="900" b="1" dirty="0">
              <a:solidFill>
                <a:schemeClr val="tx2"/>
              </a:solidFill>
              <a:latin typeface="+mj-lt"/>
            </a:endParaRPr>
          </a:p>
          <a:p>
            <a:r>
              <a:rPr lang="fr-FR" sz="900" b="1" dirty="0">
                <a:solidFill>
                  <a:schemeClr val="tx2"/>
                </a:solidFill>
                <a:latin typeface="+mj-lt"/>
              </a:rPr>
              <a:t>2 ANS D’EXPÉRIENCE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EF715D1-E2C0-623A-019B-795D0059A215}"/>
              </a:ext>
            </a:extLst>
          </p:cNvPr>
          <p:cNvSpPr txBox="1"/>
          <p:nvPr/>
        </p:nvSpPr>
        <p:spPr>
          <a:xfrm>
            <a:off x="4239096" y="705962"/>
            <a:ext cx="7571902" cy="938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buClr>
                <a:schemeClr val="tx2"/>
              </a:buClr>
            </a:pPr>
            <a:r>
              <a:rPr lang="fr-FR" sz="1100" dirty="0"/>
              <a:t>AN est Data Consultant, avec 2 ans d’expérience dans le conseil. Rigoureux, il maîtrise l’analyse de données et la retranscription des besoins exprimés par les métiers en fonctionnalités adaptées, notamment en matière de data visualisation sous </a:t>
            </a:r>
            <a:r>
              <a:rPr lang="fr-FR" sz="1100" dirty="0" err="1"/>
              <a:t>PowerBI</a:t>
            </a:r>
            <a:r>
              <a:rPr lang="fr-FR" sz="1100" dirty="0"/>
              <a:t>. AN a pu participer sur un projet structurant de développement de modèles de données et de création  et déploiement de </a:t>
            </a:r>
            <a:r>
              <a:rPr lang="fr-FR" sz="1100" dirty="0" err="1"/>
              <a:t>dashboards</a:t>
            </a:r>
            <a:r>
              <a:rPr lang="fr-FR" sz="1100" dirty="0"/>
              <a:t> orientés vers différents besoins métiers de la </a:t>
            </a:r>
            <a:r>
              <a:rPr lang="fr-FR" sz="1100" dirty="0" err="1"/>
              <a:t>banque.Dynamique</a:t>
            </a:r>
            <a:r>
              <a:rPr lang="fr-FR" sz="1100" dirty="0"/>
              <a:t>, adaptable et professionnel, AN mènera à bien tous les projets qui lui seront confiés.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91A36C-F664-7314-031B-E426B422B119}"/>
              </a:ext>
            </a:extLst>
          </p:cNvPr>
          <p:cNvSpPr/>
          <p:nvPr/>
        </p:nvSpPr>
        <p:spPr>
          <a:xfrm>
            <a:off x="368572" y="5288594"/>
            <a:ext cx="3582332" cy="8429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139950EA-6B3B-EF94-950C-387E90D2E13F}"/>
              </a:ext>
            </a:extLst>
          </p:cNvPr>
          <p:cNvSpPr/>
          <p:nvPr/>
        </p:nvSpPr>
        <p:spPr>
          <a:xfrm>
            <a:off x="152673" y="3326530"/>
            <a:ext cx="2419514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  <a:gd name="connsiteX0" fmla="*/ 2764053 w 5193356"/>
              <a:gd name="connsiteY0" fmla="*/ 0 h 458973"/>
              <a:gd name="connsiteX1" fmla="*/ 4980165 w 5193356"/>
              <a:gd name="connsiteY1" fmla="*/ 9525 h 458973"/>
              <a:gd name="connsiteX2" fmla="*/ 4997252 w 5193356"/>
              <a:gd name="connsiteY2" fmla="*/ 9525 h 458973"/>
              <a:gd name="connsiteX3" fmla="*/ 4997252 w 5193356"/>
              <a:gd name="connsiteY3" fmla="*/ 11341 h 458973"/>
              <a:gd name="connsiteX4" fmla="*/ 5023131 w 5193356"/>
              <a:gd name="connsiteY4" fmla="*/ 14091 h 458973"/>
              <a:gd name="connsiteX5" fmla="*/ 5193356 w 5193356"/>
              <a:gd name="connsiteY5" fmla="*/ 234249 h 458973"/>
              <a:gd name="connsiteX6" fmla="*/ 5023131 w 5193356"/>
              <a:gd name="connsiteY6" fmla="*/ 454408 h 458973"/>
              <a:gd name="connsiteX7" fmla="*/ 4997252 w 5193356"/>
              <a:gd name="connsiteY7" fmla="*/ 457157 h 458973"/>
              <a:gd name="connsiteX8" fmla="*/ 4997252 w 5193356"/>
              <a:gd name="connsiteY8" fmla="*/ 458972 h 458973"/>
              <a:gd name="connsiteX9" fmla="*/ 4980175 w 5193356"/>
              <a:gd name="connsiteY9" fmla="*/ 458972 h 458973"/>
              <a:gd name="connsiteX10" fmla="*/ 4980165 w 5193356"/>
              <a:gd name="connsiteY10" fmla="*/ 458973 h 458973"/>
              <a:gd name="connsiteX11" fmla="*/ 4980156 w 5193356"/>
              <a:gd name="connsiteY11" fmla="*/ 458972 h 458973"/>
              <a:gd name="connsiteX12" fmla="*/ 0 w 5193356"/>
              <a:gd name="connsiteY12" fmla="*/ 458972 h 458973"/>
              <a:gd name="connsiteX13" fmla="*/ 2764053 w 5193356"/>
              <a:gd name="connsiteY13" fmla="*/ 0 h 458973"/>
              <a:gd name="connsiteX0" fmla="*/ 0 w 2429303"/>
              <a:gd name="connsiteY0" fmla="*/ 0 h 458973"/>
              <a:gd name="connsiteX1" fmla="*/ 2216112 w 2429303"/>
              <a:gd name="connsiteY1" fmla="*/ 9525 h 458973"/>
              <a:gd name="connsiteX2" fmla="*/ 2233199 w 2429303"/>
              <a:gd name="connsiteY2" fmla="*/ 9525 h 458973"/>
              <a:gd name="connsiteX3" fmla="*/ 2233199 w 2429303"/>
              <a:gd name="connsiteY3" fmla="*/ 11341 h 458973"/>
              <a:gd name="connsiteX4" fmla="*/ 2259078 w 2429303"/>
              <a:gd name="connsiteY4" fmla="*/ 14091 h 458973"/>
              <a:gd name="connsiteX5" fmla="*/ 2429303 w 2429303"/>
              <a:gd name="connsiteY5" fmla="*/ 234249 h 458973"/>
              <a:gd name="connsiteX6" fmla="*/ 2259078 w 2429303"/>
              <a:gd name="connsiteY6" fmla="*/ 454408 h 458973"/>
              <a:gd name="connsiteX7" fmla="*/ 2233199 w 2429303"/>
              <a:gd name="connsiteY7" fmla="*/ 457157 h 458973"/>
              <a:gd name="connsiteX8" fmla="*/ 2233199 w 2429303"/>
              <a:gd name="connsiteY8" fmla="*/ 458972 h 458973"/>
              <a:gd name="connsiteX9" fmla="*/ 2216122 w 2429303"/>
              <a:gd name="connsiteY9" fmla="*/ 458972 h 458973"/>
              <a:gd name="connsiteX10" fmla="*/ 2216112 w 2429303"/>
              <a:gd name="connsiteY10" fmla="*/ 458973 h 458973"/>
              <a:gd name="connsiteX11" fmla="*/ 2216103 w 2429303"/>
              <a:gd name="connsiteY11" fmla="*/ 458972 h 458973"/>
              <a:gd name="connsiteX12" fmla="*/ 0 w 2429303"/>
              <a:gd name="connsiteY12" fmla="*/ 458972 h 458973"/>
              <a:gd name="connsiteX13" fmla="*/ 0 w 2429303"/>
              <a:gd name="connsiteY13" fmla="*/ 0 h 458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29303" h="458973">
                <a:moveTo>
                  <a:pt x="0" y="0"/>
                </a:moveTo>
                <a:lnTo>
                  <a:pt x="2216112" y="9525"/>
                </a:lnTo>
                <a:lnTo>
                  <a:pt x="2233199" y="9525"/>
                </a:lnTo>
                <a:lnTo>
                  <a:pt x="2233199" y="11341"/>
                </a:lnTo>
                <a:lnTo>
                  <a:pt x="2259078" y="14091"/>
                </a:lnTo>
                <a:cubicBezTo>
                  <a:pt x="2356225" y="35045"/>
                  <a:pt x="2429303" y="125651"/>
                  <a:pt x="2429303" y="234249"/>
                </a:cubicBezTo>
                <a:cubicBezTo>
                  <a:pt x="2429303" y="342847"/>
                  <a:pt x="2356225" y="433453"/>
                  <a:pt x="2259078" y="454408"/>
                </a:cubicBezTo>
                <a:lnTo>
                  <a:pt x="2233199" y="457157"/>
                </a:lnTo>
                <a:lnTo>
                  <a:pt x="2233199" y="458972"/>
                </a:lnTo>
                <a:lnTo>
                  <a:pt x="2216122" y="458972"/>
                </a:lnTo>
                <a:cubicBezTo>
                  <a:pt x="2216119" y="458972"/>
                  <a:pt x="2216115" y="458973"/>
                  <a:pt x="2216112" y="458973"/>
                </a:cubicBezTo>
                <a:cubicBezTo>
                  <a:pt x="2216109" y="458973"/>
                  <a:pt x="2216106" y="458972"/>
                  <a:pt x="2216103" y="458972"/>
                </a:cubicBezTo>
                <a:lnTo>
                  <a:pt x="0" y="4589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fr-FR" sz="1200" b="1" kern="0">
                <a:solidFill>
                  <a:srgbClr val="3536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COMPÉTENCES</a:t>
            </a:r>
            <a:endParaRPr lang="fr-FR" sz="1600" b="1" kern="0">
              <a:solidFill>
                <a:srgbClr val="3536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2E3765A4-DBB1-ED99-E44D-40F01692E8A5}"/>
              </a:ext>
            </a:extLst>
          </p:cNvPr>
          <p:cNvSpPr/>
          <p:nvPr/>
        </p:nvSpPr>
        <p:spPr>
          <a:xfrm>
            <a:off x="152673" y="4858846"/>
            <a:ext cx="2419514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  <a:gd name="connsiteX0" fmla="*/ 2764053 w 5193356"/>
              <a:gd name="connsiteY0" fmla="*/ 0 h 458973"/>
              <a:gd name="connsiteX1" fmla="*/ 4980165 w 5193356"/>
              <a:gd name="connsiteY1" fmla="*/ 9525 h 458973"/>
              <a:gd name="connsiteX2" fmla="*/ 4997252 w 5193356"/>
              <a:gd name="connsiteY2" fmla="*/ 9525 h 458973"/>
              <a:gd name="connsiteX3" fmla="*/ 4997252 w 5193356"/>
              <a:gd name="connsiteY3" fmla="*/ 11341 h 458973"/>
              <a:gd name="connsiteX4" fmla="*/ 5023131 w 5193356"/>
              <a:gd name="connsiteY4" fmla="*/ 14091 h 458973"/>
              <a:gd name="connsiteX5" fmla="*/ 5193356 w 5193356"/>
              <a:gd name="connsiteY5" fmla="*/ 234249 h 458973"/>
              <a:gd name="connsiteX6" fmla="*/ 5023131 w 5193356"/>
              <a:gd name="connsiteY6" fmla="*/ 454408 h 458973"/>
              <a:gd name="connsiteX7" fmla="*/ 4997252 w 5193356"/>
              <a:gd name="connsiteY7" fmla="*/ 457157 h 458973"/>
              <a:gd name="connsiteX8" fmla="*/ 4997252 w 5193356"/>
              <a:gd name="connsiteY8" fmla="*/ 458972 h 458973"/>
              <a:gd name="connsiteX9" fmla="*/ 4980175 w 5193356"/>
              <a:gd name="connsiteY9" fmla="*/ 458972 h 458973"/>
              <a:gd name="connsiteX10" fmla="*/ 4980165 w 5193356"/>
              <a:gd name="connsiteY10" fmla="*/ 458973 h 458973"/>
              <a:gd name="connsiteX11" fmla="*/ 4980156 w 5193356"/>
              <a:gd name="connsiteY11" fmla="*/ 458972 h 458973"/>
              <a:gd name="connsiteX12" fmla="*/ 0 w 5193356"/>
              <a:gd name="connsiteY12" fmla="*/ 458972 h 458973"/>
              <a:gd name="connsiteX13" fmla="*/ 2764053 w 5193356"/>
              <a:gd name="connsiteY13" fmla="*/ 0 h 458973"/>
              <a:gd name="connsiteX0" fmla="*/ 0 w 2429303"/>
              <a:gd name="connsiteY0" fmla="*/ 0 h 458973"/>
              <a:gd name="connsiteX1" fmla="*/ 2216112 w 2429303"/>
              <a:gd name="connsiteY1" fmla="*/ 9525 h 458973"/>
              <a:gd name="connsiteX2" fmla="*/ 2233199 w 2429303"/>
              <a:gd name="connsiteY2" fmla="*/ 9525 h 458973"/>
              <a:gd name="connsiteX3" fmla="*/ 2233199 w 2429303"/>
              <a:gd name="connsiteY3" fmla="*/ 11341 h 458973"/>
              <a:gd name="connsiteX4" fmla="*/ 2259078 w 2429303"/>
              <a:gd name="connsiteY4" fmla="*/ 14091 h 458973"/>
              <a:gd name="connsiteX5" fmla="*/ 2429303 w 2429303"/>
              <a:gd name="connsiteY5" fmla="*/ 234249 h 458973"/>
              <a:gd name="connsiteX6" fmla="*/ 2259078 w 2429303"/>
              <a:gd name="connsiteY6" fmla="*/ 454408 h 458973"/>
              <a:gd name="connsiteX7" fmla="*/ 2233199 w 2429303"/>
              <a:gd name="connsiteY7" fmla="*/ 457157 h 458973"/>
              <a:gd name="connsiteX8" fmla="*/ 2233199 w 2429303"/>
              <a:gd name="connsiteY8" fmla="*/ 458972 h 458973"/>
              <a:gd name="connsiteX9" fmla="*/ 2216122 w 2429303"/>
              <a:gd name="connsiteY9" fmla="*/ 458972 h 458973"/>
              <a:gd name="connsiteX10" fmla="*/ 2216112 w 2429303"/>
              <a:gd name="connsiteY10" fmla="*/ 458973 h 458973"/>
              <a:gd name="connsiteX11" fmla="*/ 2216103 w 2429303"/>
              <a:gd name="connsiteY11" fmla="*/ 458972 h 458973"/>
              <a:gd name="connsiteX12" fmla="*/ 0 w 2429303"/>
              <a:gd name="connsiteY12" fmla="*/ 458972 h 458973"/>
              <a:gd name="connsiteX13" fmla="*/ 0 w 2429303"/>
              <a:gd name="connsiteY13" fmla="*/ 0 h 458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29303" h="458973">
                <a:moveTo>
                  <a:pt x="0" y="0"/>
                </a:moveTo>
                <a:lnTo>
                  <a:pt x="2216112" y="9525"/>
                </a:lnTo>
                <a:lnTo>
                  <a:pt x="2233199" y="9525"/>
                </a:lnTo>
                <a:lnTo>
                  <a:pt x="2233199" y="11341"/>
                </a:lnTo>
                <a:lnTo>
                  <a:pt x="2259078" y="14091"/>
                </a:lnTo>
                <a:cubicBezTo>
                  <a:pt x="2356225" y="35045"/>
                  <a:pt x="2429303" y="125651"/>
                  <a:pt x="2429303" y="234249"/>
                </a:cubicBezTo>
                <a:cubicBezTo>
                  <a:pt x="2429303" y="342847"/>
                  <a:pt x="2356225" y="433453"/>
                  <a:pt x="2259078" y="454408"/>
                </a:cubicBezTo>
                <a:lnTo>
                  <a:pt x="2233199" y="457157"/>
                </a:lnTo>
                <a:lnTo>
                  <a:pt x="2233199" y="458972"/>
                </a:lnTo>
                <a:lnTo>
                  <a:pt x="2216122" y="458972"/>
                </a:lnTo>
                <a:cubicBezTo>
                  <a:pt x="2216119" y="458972"/>
                  <a:pt x="2216115" y="458973"/>
                  <a:pt x="2216112" y="458973"/>
                </a:cubicBezTo>
                <a:cubicBezTo>
                  <a:pt x="2216109" y="458973"/>
                  <a:pt x="2216106" y="458972"/>
                  <a:pt x="2216103" y="458972"/>
                </a:cubicBezTo>
                <a:lnTo>
                  <a:pt x="0" y="4589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fr-FR" sz="1200" b="1" kern="0">
                <a:solidFill>
                  <a:srgbClr val="3536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OUTILS / MÉTHODES</a:t>
            </a:r>
            <a:endParaRPr lang="fr-FR" sz="1600" b="1" kern="0">
              <a:solidFill>
                <a:srgbClr val="3536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orme libre : forme 22">
            <a:extLst>
              <a:ext uri="{FF2B5EF4-FFF2-40B4-BE49-F238E27FC236}">
                <a16:creationId xmlns:a16="http://schemas.microsoft.com/office/drawing/2014/main" id="{8A75365B-5E9A-F08F-0501-A1A11756CF58}"/>
              </a:ext>
            </a:extLst>
          </p:cNvPr>
          <p:cNvSpPr/>
          <p:nvPr/>
        </p:nvSpPr>
        <p:spPr>
          <a:xfrm>
            <a:off x="151683" y="1983600"/>
            <a:ext cx="2403792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  <a:gd name="connsiteX0" fmla="*/ 2764053 w 5193356"/>
              <a:gd name="connsiteY0" fmla="*/ 0 h 458973"/>
              <a:gd name="connsiteX1" fmla="*/ 4980165 w 5193356"/>
              <a:gd name="connsiteY1" fmla="*/ 9525 h 458973"/>
              <a:gd name="connsiteX2" fmla="*/ 4997252 w 5193356"/>
              <a:gd name="connsiteY2" fmla="*/ 9525 h 458973"/>
              <a:gd name="connsiteX3" fmla="*/ 4997252 w 5193356"/>
              <a:gd name="connsiteY3" fmla="*/ 11341 h 458973"/>
              <a:gd name="connsiteX4" fmla="*/ 5023131 w 5193356"/>
              <a:gd name="connsiteY4" fmla="*/ 14091 h 458973"/>
              <a:gd name="connsiteX5" fmla="*/ 5193356 w 5193356"/>
              <a:gd name="connsiteY5" fmla="*/ 234249 h 458973"/>
              <a:gd name="connsiteX6" fmla="*/ 5023131 w 5193356"/>
              <a:gd name="connsiteY6" fmla="*/ 454408 h 458973"/>
              <a:gd name="connsiteX7" fmla="*/ 4997252 w 5193356"/>
              <a:gd name="connsiteY7" fmla="*/ 457157 h 458973"/>
              <a:gd name="connsiteX8" fmla="*/ 4997252 w 5193356"/>
              <a:gd name="connsiteY8" fmla="*/ 458972 h 458973"/>
              <a:gd name="connsiteX9" fmla="*/ 4980175 w 5193356"/>
              <a:gd name="connsiteY9" fmla="*/ 458972 h 458973"/>
              <a:gd name="connsiteX10" fmla="*/ 4980165 w 5193356"/>
              <a:gd name="connsiteY10" fmla="*/ 458973 h 458973"/>
              <a:gd name="connsiteX11" fmla="*/ 4980156 w 5193356"/>
              <a:gd name="connsiteY11" fmla="*/ 458972 h 458973"/>
              <a:gd name="connsiteX12" fmla="*/ 0 w 5193356"/>
              <a:gd name="connsiteY12" fmla="*/ 458972 h 458973"/>
              <a:gd name="connsiteX13" fmla="*/ 2764053 w 5193356"/>
              <a:gd name="connsiteY13" fmla="*/ 0 h 458973"/>
              <a:gd name="connsiteX0" fmla="*/ 0 w 2429303"/>
              <a:gd name="connsiteY0" fmla="*/ 0 h 458973"/>
              <a:gd name="connsiteX1" fmla="*/ 2216112 w 2429303"/>
              <a:gd name="connsiteY1" fmla="*/ 9525 h 458973"/>
              <a:gd name="connsiteX2" fmla="*/ 2233199 w 2429303"/>
              <a:gd name="connsiteY2" fmla="*/ 9525 h 458973"/>
              <a:gd name="connsiteX3" fmla="*/ 2233199 w 2429303"/>
              <a:gd name="connsiteY3" fmla="*/ 11341 h 458973"/>
              <a:gd name="connsiteX4" fmla="*/ 2259078 w 2429303"/>
              <a:gd name="connsiteY4" fmla="*/ 14091 h 458973"/>
              <a:gd name="connsiteX5" fmla="*/ 2429303 w 2429303"/>
              <a:gd name="connsiteY5" fmla="*/ 234249 h 458973"/>
              <a:gd name="connsiteX6" fmla="*/ 2259078 w 2429303"/>
              <a:gd name="connsiteY6" fmla="*/ 454408 h 458973"/>
              <a:gd name="connsiteX7" fmla="*/ 2233199 w 2429303"/>
              <a:gd name="connsiteY7" fmla="*/ 457157 h 458973"/>
              <a:gd name="connsiteX8" fmla="*/ 2233199 w 2429303"/>
              <a:gd name="connsiteY8" fmla="*/ 458972 h 458973"/>
              <a:gd name="connsiteX9" fmla="*/ 2216122 w 2429303"/>
              <a:gd name="connsiteY9" fmla="*/ 458972 h 458973"/>
              <a:gd name="connsiteX10" fmla="*/ 2216112 w 2429303"/>
              <a:gd name="connsiteY10" fmla="*/ 458973 h 458973"/>
              <a:gd name="connsiteX11" fmla="*/ 2216103 w 2429303"/>
              <a:gd name="connsiteY11" fmla="*/ 458972 h 458973"/>
              <a:gd name="connsiteX12" fmla="*/ 0 w 2429303"/>
              <a:gd name="connsiteY12" fmla="*/ 458972 h 458973"/>
              <a:gd name="connsiteX13" fmla="*/ 0 w 2429303"/>
              <a:gd name="connsiteY13" fmla="*/ 0 h 458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29303" h="458973">
                <a:moveTo>
                  <a:pt x="0" y="0"/>
                </a:moveTo>
                <a:lnTo>
                  <a:pt x="2216112" y="9525"/>
                </a:lnTo>
                <a:lnTo>
                  <a:pt x="2233199" y="9525"/>
                </a:lnTo>
                <a:lnTo>
                  <a:pt x="2233199" y="11341"/>
                </a:lnTo>
                <a:lnTo>
                  <a:pt x="2259078" y="14091"/>
                </a:lnTo>
                <a:cubicBezTo>
                  <a:pt x="2356225" y="35045"/>
                  <a:pt x="2429303" y="125651"/>
                  <a:pt x="2429303" y="234249"/>
                </a:cubicBezTo>
                <a:cubicBezTo>
                  <a:pt x="2429303" y="342847"/>
                  <a:pt x="2356225" y="433453"/>
                  <a:pt x="2259078" y="454408"/>
                </a:cubicBezTo>
                <a:lnTo>
                  <a:pt x="2233199" y="457157"/>
                </a:lnTo>
                <a:lnTo>
                  <a:pt x="2233199" y="458972"/>
                </a:lnTo>
                <a:lnTo>
                  <a:pt x="2216122" y="458972"/>
                </a:lnTo>
                <a:cubicBezTo>
                  <a:pt x="2216119" y="458972"/>
                  <a:pt x="2216115" y="458973"/>
                  <a:pt x="2216112" y="458973"/>
                </a:cubicBezTo>
                <a:cubicBezTo>
                  <a:pt x="2216109" y="458973"/>
                  <a:pt x="2216106" y="458972"/>
                  <a:pt x="2216103" y="458972"/>
                </a:cubicBezTo>
                <a:lnTo>
                  <a:pt x="0" y="4589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fr-FR" sz="1200" b="1" kern="0" dirty="0">
                <a:solidFill>
                  <a:srgbClr val="3536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FORMATIONS</a:t>
            </a:r>
            <a:endParaRPr lang="fr-FR" sz="1600" b="1" kern="0" dirty="0">
              <a:solidFill>
                <a:srgbClr val="3536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893A51-A485-502E-6066-B03D682B0809}"/>
              </a:ext>
            </a:extLst>
          </p:cNvPr>
          <p:cNvSpPr/>
          <p:nvPr/>
        </p:nvSpPr>
        <p:spPr>
          <a:xfrm>
            <a:off x="371475" y="2414547"/>
            <a:ext cx="3579429" cy="694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bg1"/>
                </a:solidFill>
              </a:rPr>
              <a:t>MSc – Data Science &amp; Digital Marketing - </a:t>
            </a:r>
            <a:r>
              <a:rPr lang="en-GB" sz="1000" dirty="0" err="1">
                <a:solidFill>
                  <a:schemeClr val="bg1"/>
                </a:solidFill>
              </a:rPr>
              <a:t>EmLyon</a:t>
            </a:r>
            <a:r>
              <a:rPr lang="en-GB" sz="1000" dirty="0">
                <a:solidFill>
                  <a:schemeClr val="bg1"/>
                </a:solidFill>
              </a:rPr>
              <a:t> – Paris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bg1"/>
                </a:solidFill>
              </a:rPr>
              <a:t>Bachelor - International Trade and Economics - Nanjing - Chine</a:t>
            </a:r>
          </a:p>
        </p:txBody>
      </p:sp>
      <p:sp>
        <p:nvSpPr>
          <p:cNvPr id="41" name="Forme libre : forme 40">
            <a:extLst>
              <a:ext uri="{FF2B5EF4-FFF2-40B4-BE49-F238E27FC236}">
                <a16:creationId xmlns:a16="http://schemas.microsoft.com/office/drawing/2014/main" id="{62FE87AB-0295-E546-D82C-79A14BB2D3D2}"/>
              </a:ext>
            </a:extLst>
          </p:cNvPr>
          <p:cNvSpPr/>
          <p:nvPr/>
        </p:nvSpPr>
        <p:spPr>
          <a:xfrm>
            <a:off x="4239096" y="1983600"/>
            <a:ext cx="4944265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93356" h="449448">
                <a:moveTo>
                  <a:pt x="0" y="0"/>
                </a:moveTo>
                <a:lnTo>
                  <a:pt x="4980165" y="0"/>
                </a:lnTo>
                <a:lnTo>
                  <a:pt x="4997252" y="0"/>
                </a:lnTo>
                <a:lnTo>
                  <a:pt x="4997252" y="1816"/>
                </a:lnTo>
                <a:lnTo>
                  <a:pt x="5023131" y="4566"/>
                </a:lnTo>
                <a:cubicBezTo>
                  <a:pt x="5120278" y="25520"/>
                  <a:pt x="5193356" y="116126"/>
                  <a:pt x="5193356" y="224724"/>
                </a:cubicBezTo>
                <a:cubicBezTo>
                  <a:pt x="5193356" y="333322"/>
                  <a:pt x="5120278" y="423928"/>
                  <a:pt x="5023131" y="444883"/>
                </a:cubicBezTo>
                <a:lnTo>
                  <a:pt x="4997252" y="447632"/>
                </a:lnTo>
                <a:lnTo>
                  <a:pt x="4997252" y="449447"/>
                </a:lnTo>
                <a:lnTo>
                  <a:pt x="4980175" y="449447"/>
                </a:lnTo>
                <a:lnTo>
                  <a:pt x="4980165" y="449448"/>
                </a:lnTo>
                <a:lnTo>
                  <a:pt x="4980156" y="449447"/>
                </a:lnTo>
                <a:lnTo>
                  <a:pt x="0" y="44944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fr-FR" sz="1200" b="1" ker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PRINCIPALES EXPÉRIENCES EN LIEN AVEC LA MISSION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DD217B2-CFF5-0725-8BF6-9E6EBB7F97D7}"/>
              </a:ext>
            </a:extLst>
          </p:cNvPr>
          <p:cNvSpPr txBox="1"/>
          <p:nvPr/>
        </p:nvSpPr>
        <p:spPr>
          <a:xfrm>
            <a:off x="4862670" y="2414547"/>
            <a:ext cx="6957855" cy="2572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tx2"/>
                </a:solidFill>
              </a:rPr>
              <a:t>BPCE : Analyste </a:t>
            </a:r>
            <a:r>
              <a:rPr lang="fr-FR" sz="1000" b="1" dirty="0" err="1">
                <a:solidFill>
                  <a:schemeClr val="tx2"/>
                </a:solidFill>
              </a:rPr>
              <a:t>Alteryx</a:t>
            </a:r>
            <a:r>
              <a:rPr lang="fr-FR" sz="1000" b="1" dirty="0">
                <a:solidFill>
                  <a:schemeClr val="tx2"/>
                </a:solidFill>
              </a:rPr>
              <a:t> dans le cadre d’une intégration de l’outil (XX mois)</a:t>
            </a:r>
          </a:p>
          <a:p>
            <a:pPr marL="17145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fr-FR" altLang="fr-FR" sz="1000" dirty="0">
                <a:solidFill>
                  <a:schemeClr val="dk1"/>
                </a:solidFill>
                <a:cs typeface="Arial"/>
              </a:rPr>
              <a:t>Intégration d’</a:t>
            </a:r>
            <a:r>
              <a:rPr lang="fr-FR" altLang="fr-FR" sz="1000" dirty="0" err="1">
                <a:solidFill>
                  <a:schemeClr val="dk1"/>
                </a:solidFill>
                <a:cs typeface="Arial"/>
              </a:rPr>
              <a:t>Alteryx</a:t>
            </a:r>
            <a:r>
              <a:rPr lang="fr-FR" altLang="fr-FR" sz="1000" dirty="0">
                <a:solidFill>
                  <a:schemeClr val="dk1"/>
                </a:solidFill>
                <a:cs typeface="Arial"/>
              </a:rPr>
              <a:t> comme ETL de référence pour alimenter les rapports de différentes équipes métier de la direction Financière</a:t>
            </a:r>
          </a:p>
          <a:p>
            <a:pPr marL="17145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fr-FR" altLang="fr-FR" sz="1000" dirty="0">
                <a:solidFill>
                  <a:schemeClr val="dk1"/>
                </a:solidFill>
                <a:cs typeface="Arial"/>
              </a:rPr>
              <a:t>Développement et déploiement d’une quinzaine de rapports et tableaux de bord automatisés pour les métiers de la direction financière</a:t>
            </a:r>
          </a:p>
          <a:p>
            <a:pPr marL="17145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fr-FR" altLang="fr-FR" sz="1000" dirty="0">
                <a:solidFill>
                  <a:schemeClr val="dk1"/>
                </a:solidFill>
                <a:cs typeface="Arial"/>
              </a:rPr>
              <a:t>Formation des utilisateurs et futurs propriétaires de produits sur les aspects techniques</a:t>
            </a:r>
          </a:p>
          <a:p>
            <a:pPr marL="17145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endParaRPr lang="fr-FR" altLang="fr-FR" sz="1000" dirty="0">
              <a:solidFill>
                <a:schemeClr val="dk1"/>
              </a:solidFill>
              <a:cs typeface="Arial"/>
            </a:endParaRPr>
          </a:p>
          <a:p>
            <a:r>
              <a:rPr lang="fr-FR" sz="1000" b="1" dirty="0">
                <a:solidFill>
                  <a:schemeClr val="tx2"/>
                </a:solidFill>
              </a:rPr>
              <a:t>Pernod-Ricard : Analyste contrôle de gestion (XX mois)</a:t>
            </a:r>
          </a:p>
          <a:p>
            <a:pPr marL="171450" marR="0" lvl="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  <a:tabLst>
                <a:tab pos="360000" algn="l"/>
              </a:tabLst>
              <a:defRPr/>
            </a:pPr>
            <a:r>
              <a:rPr lang="fr-FR" sz="1000" dirty="0">
                <a:solidFill>
                  <a:schemeClr val="dk1"/>
                </a:solidFill>
                <a:cs typeface="Arial"/>
              </a:rPr>
              <a:t>Analyste en contrôle au sein du département IT</a:t>
            </a:r>
          </a:p>
          <a:p>
            <a:pPr marL="171450" marR="0" lvl="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  <a:tabLst>
                <a:tab pos="360000" algn="l"/>
              </a:tabLst>
              <a:defRPr/>
            </a:pPr>
            <a:r>
              <a:rPr lang="fr-FR" sz="1000" dirty="0">
                <a:solidFill>
                  <a:schemeClr val="dk1"/>
                </a:solidFill>
                <a:cs typeface="Arial"/>
              </a:rPr>
              <a:t>Gestion des scénarios dans le cadre de l’exercice budgétaires et production d’analyses et de rapports à destination du métier</a:t>
            </a:r>
          </a:p>
          <a:p>
            <a:pPr marL="171450" marR="0" lvl="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  <a:tabLst>
                <a:tab pos="360000" algn="l"/>
              </a:tabLst>
              <a:defRPr/>
            </a:pPr>
            <a:r>
              <a:rPr lang="fr-FR" sz="1000" dirty="0">
                <a:solidFill>
                  <a:schemeClr val="dk1"/>
                </a:solidFill>
                <a:cs typeface="Arial"/>
              </a:rPr>
              <a:t>Développement de nouveaux rapports dans Power BI à destination du métier</a:t>
            </a:r>
          </a:p>
          <a:p>
            <a:pPr marL="171450" marR="0" lvl="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  <a:tabLst>
                <a:tab pos="360000" algn="l"/>
              </a:tabLst>
              <a:defRPr/>
            </a:pPr>
            <a:r>
              <a:rPr lang="fr-FR" sz="1000" dirty="0">
                <a:solidFill>
                  <a:schemeClr val="dk1"/>
                </a:solidFill>
                <a:cs typeface="Arial"/>
              </a:rPr>
              <a:t>Automatisation de tâche lié à la manipulation de données pour le contrôle de gestion</a:t>
            </a:r>
          </a:p>
          <a:p>
            <a:endParaRPr lang="fr-FR" sz="1000" dirty="0"/>
          </a:p>
          <a:p>
            <a:pPr marL="17145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endParaRPr lang="fr-FR" sz="1000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D42D67A-EF25-6B3E-47BF-86B275CA964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234AAA3-D3BD-4DCA-8674-DDCEC63B7531}" type="datetime1">
              <a:rPr lang="fr-FR" smtClean="0"/>
              <a:t>31/03/2025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8D8F2F1-1E9A-7686-E86C-636938D6BB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/>
              <a:t>AMITA CONSEIL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5816A9A-094B-B61E-2CA8-20F903273B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D9892E7-E91F-405F-A6AB-FE5AB3285265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51802A-5E9C-4914-902E-2690397A9806}"/>
              </a:ext>
            </a:extLst>
          </p:cNvPr>
          <p:cNvSpPr/>
          <p:nvPr/>
        </p:nvSpPr>
        <p:spPr>
          <a:xfrm>
            <a:off x="380995" y="3760698"/>
            <a:ext cx="3570437" cy="117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Gestion de projets; Animation des Comités Projet; Préparation des instances COPIL; Production notes/compte-rendu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Animation de formations; Data Science/BI; Conception et création de Dashboard; Automatisation de process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Conception et développement de solutions analytiques &amp; de modèles de données; Développement en Python et R pour l’analyse de données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D8AF452A-8677-DD91-548D-9B9D94BE65E2}"/>
              </a:ext>
            </a:extLst>
          </p:cNvPr>
          <p:cNvSpPr/>
          <p:nvPr/>
        </p:nvSpPr>
        <p:spPr>
          <a:xfrm>
            <a:off x="666217" y="709314"/>
            <a:ext cx="1131076" cy="1116676"/>
          </a:xfrm>
          <a:prstGeom prst="ellipse">
            <a:avLst/>
          </a:prstGeom>
          <a:noFill/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6499D3-A4A4-BC89-9048-E665BCD8799B}"/>
              </a:ext>
            </a:extLst>
          </p:cNvPr>
          <p:cNvSpPr/>
          <p:nvPr/>
        </p:nvSpPr>
        <p:spPr>
          <a:xfrm>
            <a:off x="368572" y="5295569"/>
            <a:ext cx="3570437" cy="117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Python: Pandas, </a:t>
            </a:r>
            <a:r>
              <a:rPr lang="fr-FR" sz="1000" dirty="0" err="1">
                <a:solidFill>
                  <a:schemeClr val="bg1"/>
                </a:solidFill>
              </a:rPr>
              <a:t>Matplotlib</a:t>
            </a:r>
            <a:r>
              <a:rPr lang="fr-FR" sz="1000" dirty="0">
                <a:solidFill>
                  <a:schemeClr val="bg1"/>
                </a:solidFill>
              </a:rPr>
              <a:t>, </a:t>
            </a:r>
            <a:r>
              <a:rPr lang="fr-FR" sz="1000" dirty="0" err="1">
                <a:solidFill>
                  <a:schemeClr val="bg1"/>
                </a:solidFill>
              </a:rPr>
              <a:t>Scikit-Learn</a:t>
            </a:r>
            <a:r>
              <a:rPr lang="fr-FR" sz="1000" dirty="0">
                <a:solidFill>
                  <a:schemeClr val="bg1"/>
                </a:solidFill>
              </a:rPr>
              <a:t>, </a:t>
            </a:r>
            <a:r>
              <a:rPr lang="fr-FR" sz="1000" dirty="0" err="1">
                <a:solidFill>
                  <a:schemeClr val="bg1"/>
                </a:solidFill>
              </a:rPr>
              <a:t>Numpy</a:t>
            </a:r>
            <a:endParaRPr lang="fr-FR" sz="1000" dirty="0">
              <a:solidFill>
                <a:schemeClr val="bg1"/>
              </a:solidFill>
            </a:endParaRP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SQL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R 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 err="1">
                <a:solidFill>
                  <a:schemeClr val="bg1"/>
                </a:solidFill>
              </a:rPr>
              <a:t>PowerBI</a:t>
            </a:r>
            <a:endParaRPr lang="fr-FR" sz="1000" dirty="0">
              <a:solidFill>
                <a:schemeClr val="bg1"/>
              </a:solidFill>
            </a:endParaRP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Azure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Tableau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 err="1">
                <a:solidFill>
                  <a:schemeClr val="bg1"/>
                </a:solidFill>
              </a:rPr>
              <a:t>Alteryx</a:t>
            </a:r>
            <a:endParaRPr lang="fr-FR" sz="1000" dirty="0">
              <a:solidFill>
                <a:schemeClr val="bg1"/>
              </a:solidFill>
            </a:endParaRPr>
          </a:p>
        </p:txBody>
      </p:sp>
      <p:pic>
        <p:nvPicPr>
          <p:cNvPr id="44" name="Image 43">
            <a:extLst>
              <a:ext uri="{FF2B5EF4-FFF2-40B4-BE49-F238E27FC236}">
                <a16:creationId xmlns:a16="http://schemas.microsoft.com/office/drawing/2014/main" id="{BFD1D391-5867-DFE5-4AE6-50129F94D4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0560" y="3925419"/>
            <a:ext cx="420647" cy="412935"/>
          </a:xfrm>
          <a:prstGeom prst="rect">
            <a:avLst/>
          </a:prstGeom>
        </p:spPr>
      </p:pic>
      <p:pic>
        <p:nvPicPr>
          <p:cNvPr id="45" name="Picture 2" descr="upload.wikimedia.org/wikipedia/commons/thumb/6/...">
            <a:extLst>
              <a:ext uri="{FF2B5EF4-FFF2-40B4-BE49-F238E27FC236}">
                <a16:creationId xmlns:a16="http://schemas.microsoft.com/office/drawing/2014/main" id="{60AFC099-E065-4638-9D55-8F894C5D4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9096" y="2438177"/>
            <a:ext cx="635469" cy="2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B9906332-9154-60F0-6764-E216855963E7}"/>
              </a:ext>
            </a:extLst>
          </p:cNvPr>
          <p:cNvSpPr txBox="1"/>
          <p:nvPr/>
        </p:nvSpPr>
        <p:spPr>
          <a:xfrm rot="840714">
            <a:off x="8266481" y="-215012"/>
            <a:ext cx="4288610" cy="1200329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VERSION ANONYMISEE: </a:t>
            </a:r>
          </a:p>
          <a:p>
            <a:r>
              <a:rPr lang="fr-FR" dirty="0">
                <a:solidFill>
                  <a:schemeClr val="bg1"/>
                </a:solidFill>
              </a:rPr>
              <a:t>COPIER SLIDE 1</a:t>
            </a:r>
          </a:p>
          <a:p>
            <a:r>
              <a:rPr lang="fr-FR" dirty="0">
                <a:solidFill>
                  <a:schemeClr val="bg1"/>
                </a:solidFill>
              </a:rPr>
              <a:t>INITIALES A LA PLACE DE L’IDENTITE</a:t>
            </a:r>
          </a:p>
          <a:p>
            <a:r>
              <a:rPr lang="fr-FR" dirty="0">
                <a:solidFill>
                  <a:schemeClr val="bg1"/>
                </a:solidFill>
              </a:rPr>
              <a:t>ENLEVER LA PHOTO</a:t>
            </a:r>
          </a:p>
        </p:txBody>
      </p:sp>
    </p:spTree>
    <p:extLst>
      <p:ext uri="{BB962C8B-B14F-4D97-AF65-F5344CB8AC3E}">
        <p14:creationId xmlns:p14="http://schemas.microsoft.com/office/powerpoint/2010/main" val="1404383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8A3CA-4CF7-DD9C-6FAF-9688C6327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0C14E42-F304-CABA-980A-2F041D6B7C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245" imgH="245" progId="TCLayout.ActiveDocument.1">
                  <p:embed/>
                </p:oleObj>
              </mc:Choice>
              <mc:Fallback>
                <p:oleObj name="Diapositive think-cell" r:id="rId4" imgW="245" imgH="24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466083A-4698-69D3-71D1-586ACEB72B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Tableau 8">
            <a:extLst>
              <a:ext uri="{FF2B5EF4-FFF2-40B4-BE49-F238E27FC236}">
                <a16:creationId xmlns:a16="http://schemas.microsoft.com/office/drawing/2014/main" id="{78A35FA4-3707-532D-B454-B609EE7609B5}"/>
              </a:ext>
            </a:extLst>
          </p:cNvPr>
          <p:cNvGraphicFramePr>
            <a:graphicFrameLocks/>
          </p:cNvGraphicFramePr>
          <p:nvPr/>
        </p:nvGraphicFramePr>
        <p:xfrm>
          <a:off x="370870" y="1984675"/>
          <a:ext cx="11430002" cy="1584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 b="1" noProof="0" dirty="0"/>
                        <a:t>CLIENT / PROJET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 b="1" noProof="0" dirty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 b="1" noProof="0"/>
                        <a:t>RÔLE ET 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369054">
                <a:tc>
                  <a:txBody>
                    <a:bodyPr/>
                    <a:lstStyle/>
                    <a:p>
                      <a:pPr marL="0" algn="l" defTabSz="55724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 PORTE DU HAINAUT</a:t>
                      </a:r>
                    </a:p>
                    <a:p>
                      <a:pPr marL="0" algn="l" defTabSz="55724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000" b="0" i="1" u="non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Programme XX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spc="-1" noProof="1">
                          <a:uFill>
                            <a:solidFill>
                              <a:srgbClr val="FFFFFF"/>
                            </a:solidFill>
                          </a:uFill>
                        </a:rPr>
                        <a:t>Mise en place de la cellule de pilotage du programme « habiter mieux » intégrant la mise en œuvre d’un outil de suivi des aides à la rénovation</a:t>
                      </a:r>
                    </a:p>
                    <a:p>
                      <a:endParaRPr lang="fr-FR" sz="1000" spc="-1" noProof="1"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  <a:p>
                      <a:endParaRPr lang="fr-FR" sz="1000" spc="-1" noProof="1"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None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b="1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TITRE DU POSTE (XX mois)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Coordination du projet, suivis, </a:t>
                      </a:r>
                      <a:r>
                        <a:rPr lang="fr-FR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reportings</a:t>
                      </a: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animation des comités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Redéfinition des processus de travail et production du livret des procédures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Production du cahier des charges de l’outil de suivi du dispositif et suivi de son développement (intégrant les tableaux de bord de suivi-évaluation)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Construction d’un plan de formation, et sécurisation de la dispense des formations à l’outil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Animation du processus de co-construction du plan de communication externe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Suivi du projet (budget, planning, risques…)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</a:tbl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1AF9BF3B-533F-D2F2-0578-1AFB451ED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 noProof="0" dirty="0"/>
              <a:t>AN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D3E12AD-161A-772A-ACED-43BD23AEE0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noProof="0" smtClean="0"/>
              <a:pPr/>
              <a:t>4</a:t>
            </a:fld>
            <a:endParaRPr lang="fr-FR" noProof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42E0615-C44C-11AA-6D65-67512BB8C8D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5EECF77-BC25-41C0-A0EF-6A4B97F069C1}" type="datetime1">
              <a:rPr lang="fr-FR" noProof="0" smtClean="0"/>
              <a:t>31/03/2025</a:t>
            </a:fld>
            <a:endParaRPr lang="fr-FR" noProof="0"/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52449045-C9B8-3FEB-2A96-1F669FA3171C}"/>
              </a:ext>
            </a:extLst>
          </p:cNvPr>
          <p:cNvSpPr/>
          <p:nvPr/>
        </p:nvSpPr>
        <p:spPr>
          <a:xfrm>
            <a:off x="380995" y="1332000"/>
            <a:ext cx="5715005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93356" h="449448">
                <a:moveTo>
                  <a:pt x="0" y="0"/>
                </a:moveTo>
                <a:lnTo>
                  <a:pt x="4980165" y="0"/>
                </a:lnTo>
                <a:lnTo>
                  <a:pt x="4997252" y="0"/>
                </a:lnTo>
                <a:lnTo>
                  <a:pt x="4997252" y="1816"/>
                </a:lnTo>
                <a:lnTo>
                  <a:pt x="5023131" y="4566"/>
                </a:lnTo>
                <a:cubicBezTo>
                  <a:pt x="5120278" y="25520"/>
                  <a:pt x="5193356" y="116126"/>
                  <a:pt x="5193356" y="224724"/>
                </a:cubicBezTo>
                <a:cubicBezTo>
                  <a:pt x="5193356" y="333322"/>
                  <a:pt x="5120278" y="423928"/>
                  <a:pt x="5023131" y="444883"/>
                </a:cubicBezTo>
                <a:lnTo>
                  <a:pt x="4997252" y="447632"/>
                </a:lnTo>
                <a:lnTo>
                  <a:pt x="4997252" y="449447"/>
                </a:lnTo>
                <a:lnTo>
                  <a:pt x="4980175" y="449447"/>
                </a:lnTo>
                <a:lnTo>
                  <a:pt x="4980165" y="449448"/>
                </a:lnTo>
                <a:lnTo>
                  <a:pt x="4980156" y="449447"/>
                </a:lnTo>
                <a:lnTo>
                  <a:pt x="0" y="44944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fr-FR" sz="1200" b="1" ker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PRINCIPALES EXPÉRIENCES EN LIEN AVEC LA MISSION (SUITE)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CF22EF-85E8-C348-F0EE-1B5112C6D60B}"/>
              </a:ext>
            </a:extLst>
          </p:cNvPr>
          <p:cNvSpPr/>
          <p:nvPr/>
        </p:nvSpPr>
        <p:spPr>
          <a:xfrm>
            <a:off x="12305039" y="0"/>
            <a:ext cx="2071025" cy="20528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100" dirty="0">
                <a:solidFill>
                  <a:schemeClr val="tx1"/>
                </a:solidFill>
              </a:rPr>
              <a:t>Nota : cette présentation en tableau devra être en cohérence avec la présentation des références mission AMITA (références courtes)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BB5303-F825-175A-0443-8E489E423F47}"/>
              </a:ext>
            </a:extLst>
          </p:cNvPr>
          <p:cNvSpPr/>
          <p:nvPr/>
        </p:nvSpPr>
        <p:spPr>
          <a:xfrm>
            <a:off x="4862670" y="0"/>
            <a:ext cx="2071025" cy="3330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tx1"/>
                </a:solidFill>
              </a:rPr>
              <a:t>CV détaillé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90665A96-11D6-39DC-EF44-C0EE8C546C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AMITA CONSEIL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12A5A97-5686-5F8A-D147-69E15A4BE02A}"/>
              </a:ext>
            </a:extLst>
          </p:cNvPr>
          <p:cNvSpPr txBox="1"/>
          <p:nvPr/>
        </p:nvSpPr>
        <p:spPr>
          <a:xfrm rot="840714">
            <a:off x="8266481" y="-76513"/>
            <a:ext cx="4288610" cy="92333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VERSION ANONYMISEE: </a:t>
            </a:r>
          </a:p>
          <a:p>
            <a:r>
              <a:rPr lang="fr-FR" dirty="0">
                <a:solidFill>
                  <a:schemeClr val="bg1"/>
                </a:solidFill>
              </a:rPr>
              <a:t>COPIER SLIDE 2</a:t>
            </a:r>
          </a:p>
          <a:p>
            <a:r>
              <a:rPr lang="fr-FR" dirty="0">
                <a:solidFill>
                  <a:schemeClr val="bg1"/>
                </a:solidFill>
              </a:rPr>
              <a:t>INITIALES A LA PLACE DE L’IDENTITE</a:t>
            </a:r>
          </a:p>
        </p:txBody>
      </p:sp>
    </p:spTree>
    <p:extLst>
      <p:ext uri="{BB962C8B-B14F-4D97-AF65-F5344CB8AC3E}">
        <p14:creationId xmlns:p14="http://schemas.microsoft.com/office/powerpoint/2010/main" val="25276971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025 02_AMITA Conseil">
  <a:themeElements>
    <a:clrScheme name="AMITA 2">
      <a:dk1>
        <a:srgbClr val="353637"/>
      </a:dk1>
      <a:lt1>
        <a:sysClr val="window" lastClr="FFFFFF"/>
      </a:lt1>
      <a:dk2>
        <a:srgbClr val="43A2BF"/>
      </a:dk2>
      <a:lt2>
        <a:srgbClr val="F7F7F7"/>
      </a:lt2>
      <a:accent1>
        <a:srgbClr val="43A2BF"/>
      </a:accent1>
      <a:accent2>
        <a:srgbClr val="4D7480"/>
      </a:accent2>
      <a:accent3>
        <a:srgbClr val="B5E1EF"/>
      </a:accent3>
      <a:accent4>
        <a:srgbClr val="6AA6B7"/>
      </a:accent4>
      <a:accent5>
        <a:srgbClr val="FFAE19"/>
      </a:accent5>
      <a:accent6>
        <a:srgbClr val="FF6419"/>
      </a:accent6>
      <a:hlink>
        <a:srgbClr val="4D7480"/>
      </a:hlink>
      <a:folHlink>
        <a:srgbClr val="2E556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5 02_AMITA Conseil" id="{04D555FD-3CF6-4C09-9956-4D12109AF0E0}" vid="{1030E482-EE0D-43A8-A09B-A92D63339AC2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A5923CF42828478025696259AFA44C" ma:contentTypeVersion="13" ma:contentTypeDescription="Crée un document." ma:contentTypeScope="" ma:versionID="5e993e22e778ef09ecfb16d3fefdfc9f">
  <xsd:schema xmlns:xsd="http://www.w3.org/2001/XMLSchema" xmlns:xs="http://www.w3.org/2001/XMLSchema" xmlns:p="http://schemas.microsoft.com/office/2006/metadata/properties" xmlns:ns2="b662136d-f4c7-4ecd-aecf-392677ef4b39" xmlns:ns3="5438b2ed-c33a-4943-80d4-1eb1a51ca64d" targetNamespace="http://schemas.microsoft.com/office/2006/metadata/properties" ma:root="true" ma:fieldsID="c5619f54d5f07886a6273fdc4fba94ca" ns2:_="" ns3:_="">
    <xsd:import namespace="b662136d-f4c7-4ecd-aecf-392677ef4b39"/>
    <xsd:import namespace="5438b2ed-c33a-4943-80d4-1eb1a51ca6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62136d-f4c7-4ecd-aecf-392677ef4b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9c4cb228-3045-4ce0-a5ba-35060aea63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38b2ed-c33a-4943-80d4-1eb1a51ca64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c9b42586-e577-452a-859a-b23ae595a161}" ma:internalName="TaxCatchAll" ma:showField="CatchAllData" ma:web="5438b2ed-c33a-4943-80d4-1eb1a51ca6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662136d-f4c7-4ecd-aecf-392677ef4b39">
      <Terms xmlns="http://schemas.microsoft.com/office/infopath/2007/PartnerControls"/>
    </lcf76f155ced4ddcb4097134ff3c332f>
    <TaxCatchAll xmlns="5438b2ed-c33a-4943-80d4-1eb1a51ca64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E79DF9-C58F-4F32-98FC-7A5EE2CE32C6}">
  <ds:schemaRefs>
    <ds:schemaRef ds:uri="5438b2ed-c33a-4943-80d4-1eb1a51ca64d"/>
    <ds:schemaRef ds:uri="b662136d-f4c7-4ecd-aecf-392677ef4b3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AC34AAB-7852-4104-B684-4FE27329F849}">
  <ds:schemaRefs>
    <ds:schemaRef ds:uri="5438b2ed-c33a-4943-80d4-1eb1a51ca64d"/>
    <ds:schemaRef ds:uri="b662136d-f4c7-4ecd-aecf-392677ef4b3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99BB03B-02D8-4150-8B36-F9BD50D9F57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1014</Words>
  <Application>Microsoft Office PowerPoint</Application>
  <PresentationFormat>Grand écran</PresentationFormat>
  <Paragraphs>112</Paragraphs>
  <Slides>4</Slides>
  <Notes>2</Notes>
  <HiddenSlides>0</HiddenSlides>
  <MMClips>0</MMClips>
  <ScaleCrop>false</ScaleCrop>
  <HeadingPairs>
    <vt:vector size="8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1" baseType="lpstr">
      <vt:lpstr>Aptos</vt:lpstr>
      <vt:lpstr>Arial</vt:lpstr>
      <vt:lpstr>Calibri</vt:lpstr>
      <vt:lpstr>Now</vt:lpstr>
      <vt:lpstr>Raleway</vt:lpstr>
      <vt:lpstr>2025 02_AMITA Conseil</vt:lpstr>
      <vt:lpstr>Diapositive think-cell</vt:lpstr>
      <vt:lpstr>Présentation PowerPoint</vt:lpstr>
      <vt:lpstr>PAULIN VINOT PREFONTAINE </vt:lpstr>
      <vt:lpstr>Présentation PowerPoint</vt:lpstr>
      <vt:lpstr>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Aymeric Prat</dc:creator>
  <cp:lastModifiedBy>Grégoire Sourdel</cp:lastModifiedBy>
  <cp:revision>30</cp:revision>
  <dcterms:created xsi:type="dcterms:W3CDTF">2023-07-04T06:45:58Z</dcterms:created>
  <dcterms:modified xsi:type="dcterms:W3CDTF">2025-04-03T07:26:18Z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0x010100AEA5923CF42828478025696259AFA44C</vt:lpwstr>
  </property>
</Properties>
</file>