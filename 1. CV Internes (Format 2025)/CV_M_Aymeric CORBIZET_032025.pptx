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10"/>
  </p:notesMasterIdLst>
  <p:handoutMasterIdLst>
    <p:handoutMasterId r:id="rId11"/>
  </p:handoutMasterIdLst>
  <p:sldIdLst>
    <p:sldId id="2147473144" r:id="rId5"/>
    <p:sldId id="2147473142" r:id="rId6"/>
    <p:sldId id="2147473168" r:id="rId7"/>
    <p:sldId id="2147473166" r:id="rId8"/>
    <p:sldId id="2147473167"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8" autoAdjust="0"/>
    <p:restoredTop sz="94660"/>
  </p:normalViewPr>
  <p:slideViewPr>
    <p:cSldViewPr snapToGrid="0">
      <p:cViewPr varScale="1">
        <p:scale>
          <a:sx n="88" d="100"/>
          <a:sy n="88" d="100"/>
        </p:scale>
        <p:origin x="44" y="6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27/03/2025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‹N°›</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27/03/2025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‹N°›</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8BAF1-68AD-7E43-E6E5-4C2F1CE6D3E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02230A-4AF0-1CE7-B030-B93369A52E5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660155E-746F-07FD-00A5-C2D4132B689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C3030DA8-1B1A-8BB3-C5E9-4B070478916E}"/>
              </a:ext>
            </a:extLst>
          </p:cNvPr>
          <p:cNvSpPr>
            <a:spLocks noGrp="1"/>
          </p:cNvSpPr>
          <p:nvPr>
            <p:ph type="sldNum" sz="quarter" idx="5"/>
          </p:nvPr>
        </p:nvSpPr>
        <p:spPr/>
        <p:txBody>
          <a:bodyPr/>
          <a:lstStyle/>
          <a:p>
            <a:fld id="{E14CCBB6-FBCA-4E1B-8481-3CF74219937C}" type="slidenum">
              <a:rPr lang="fr-FR" smtClean="0"/>
              <a:pPr/>
              <a:t>3</a:t>
            </a:fld>
            <a:endParaRPr lang="fr-FR"/>
          </a:p>
        </p:txBody>
      </p:sp>
    </p:spTree>
    <p:extLst>
      <p:ext uri="{BB962C8B-B14F-4D97-AF65-F5344CB8AC3E}">
        <p14:creationId xmlns:p14="http://schemas.microsoft.com/office/powerpoint/2010/main" val="1965245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7D3B-D737-6FBF-D89E-5DB58BB6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D6A6E0-5CBA-9262-8D53-57F8CB86A3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B38C3-9AB6-D267-3C5F-F96E0C9291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186B97-1E7E-E3B3-35F8-8FFA5B125460}"/>
              </a:ext>
            </a:extLst>
          </p:cNvPr>
          <p:cNvSpPr>
            <a:spLocks noGrp="1"/>
          </p:cNvSpPr>
          <p:nvPr>
            <p:ph type="sldNum" sz="quarter" idx="5"/>
          </p:nvPr>
        </p:nvSpPr>
        <p:spPr/>
        <p:txBody>
          <a:bodyPr/>
          <a:lstStyle/>
          <a:p>
            <a:fld id="{E14CCBB6-FBCA-4E1B-8481-3CF74219937C}" type="slidenum">
              <a:rPr lang="fr-FR" smtClean="0"/>
              <a:pPr/>
              <a:t>5</a:t>
            </a:fld>
            <a:endParaRPr lang="fr-FR"/>
          </a:p>
        </p:txBody>
      </p:sp>
    </p:spTree>
    <p:extLst>
      <p:ext uri="{BB962C8B-B14F-4D97-AF65-F5344CB8AC3E}">
        <p14:creationId xmlns:p14="http://schemas.microsoft.com/office/powerpoint/2010/main" val="4120329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27/03/2025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27/03/2025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27/03/2025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27/03/2025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27/03/2025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27/03/2025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27/03/2025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27/03/2025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27/03/2025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‹N°›</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27/03/2025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17.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2.xml"/><Relationship Id="rId5" Type="http://schemas.openxmlformats.org/officeDocument/2006/relationships/image" Target="../media/image17.emf"/><Relationship Id="rId4" Type="http://schemas.openxmlformats.org/officeDocument/2006/relationships/oleObject" Target="../embeddings/oleObject2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24.xml"/><Relationship Id="rId5" Type="http://schemas.openxmlformats.org/officeDocument/2006/relationships/image" Target="../media/image17.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1215717"/>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Aymeric Corbizet</a:t>
            </a:r>
          </a:p>
          <a:p>
            <a:r>
              <a:rPr lang="fr-FR" sz="1600" b="1" dirty="0">
                <a:solidFill>
                  <a:schemeClr val="tx2"/>
                </a:solidFill>
                <a:latin typeface="+mj-lt"/>
              </a:rPr>
              <a:t>MANAGER</a:t>
            </a:r>
            <a:endParaRPr lang="fr-FR" sz="900" b="1" dirty="0">
              <a:solidFill>
                <a:schemeClr val="tx2"/>
              </a:solidFill>
              <a:latin typeface="+mj-lt"/>
            </a:endParaRPr>
          </a:p>
          <a:p>
            <a:r>
              <a:rPr lang="fr-FR" sz="900" b="1" dirty="0">
                <a:solidFill>
                  <a:schemeClr val="tx2"/>
                </a:solidFill>
                <a:latin typeface="+mj-lt"/>
              </a:rPr>
              <a:t>9 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127727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Aymeric bénéficie de 9 années d'expérience dans le secteur bancaire et est issu d’une formation en économie/finance. Il est intervenu sur de nombreuses missions de pilotage de projets de transformation majeurs, d’AMOA et d’amélioration continue des pratiques et des outils clients, notamment en matière de gestion de la donnée.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Dotée d’une grande autonomie, AC a fréquemment collaboré directement avec les Directeurs de projets et d'entité. Ses compétences s'étendent aux domaines techniques tels que les algorithmes et les chaînes d'information. Il a orchestré de nombreux projets, coordonnant des équipes multiples et diversifiées dans un contexte international.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Il enseigne au sein du CNAM un module sur la RSE et sur la finance durable.</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Master en Economie et Commerce International – Paris 1 Panthéon Sorbonne</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4634282"/>
          </a:xfrm>
          <a:prstGeom prst="rect">
            <a:avLst/>
          </a:prstGeom>
          <a:noFill/>
        </p:spPr>
        <p:txBody>
          <a:bodyPr wrap="square" rtlCol="0">
            <a:spAutoFit/>
          </a:bodyPr>
          <a:lstStyle/>
          <a:p>
            <a:r>
              <a:rPr lang="en-GB" sz="1000" b="1" dirty="0">
                <a:solidFill>
                  <a:schemeClr val="tx2"/>
                </a:solidFill>
              </a:rPr>
              <a:t>CLIENT – </a:t>
            </a:r>
            <a:r>
              <a:rPr lang="fr-FR" sz="1000" b="1" dirty="0">
                <a:solidFill>
                  <a:schemeClr val="tx2"/>
                </a:solidFill>
              </a:rPr>
              <a:t>PMO BUSINESS EXPERT (XX mois)</a:t>
            </a:r>
          </a:p>
          <a:p>
            <a:pPr marR="0" lvl="0" fontAlgn="base">
              <a:lnSpc>
                <a:spcPct val="110000"/>
              </a:lnSpc>
              <a:spcBef>
                <a:spcPct val="0"/>
              </a:spcBef>
              <a:spcAft>
                <a:spcPct val="0"/>
              </a:spcAft>
              <a:buClr>
                <a:schemeClr val="accent1"/>
              </a:buClr>
              <a:buSzPts val="1000"/>
              <a:tabLst/>
              <a:defRPr/>
            </a:pPr>
            <a:r>
              <a:rPr lang="fr-FR" sz="1000" dirty="0">
                <a:solidFill>
                  <a:schemeClr val="dk1"/>
                </a:solidFill>
                <a:cs typeface="Arial"/>
              </a:rPr>
              <a:t>Business Expert au sein du Programme Liquidité au service de la PMT pour la rationalisation des flux de production dans le cadre de la mise en qualité et accélération des métriques de pilotage liquidité Groupe (cadrage, études d’impacts, animation ateliers avec </a:t>
            </a:r>
            <a:r>
              <a:rPr lang="fr-FR" sz="1000" dirty="0" err="1">
                <a:solidFill>
                  <a:schemeClr val="dk1"/>
                </a:solidFill>
                <a:cs typeface="Arial"/>
              </a:rPr>
              <a:t>BUs</a:t>
            </a:r>
            <a:r>
              <a:rPr lang="fr-FR" sz="1000" dirty="0">
                <a:solidFill>
                  <a:schemeClr val="dk1"/>
                </a:solidFill>
                <a:cs typeface="Arial"/>
              </a:rPr>
              <a: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endParaRPr kumimoji="0" lang="fr-FR" sz="1000" b="1" i="0" u="none" strike="noStrike" kern="1200" cap="none" spc="0" normalizeH="0" baseline="0" noProof="0" dirty="0">
              <a:ln>
                <a:noFill/>
              </a:ln>
              <a:solidFill>
                <a:schemeClr val="dk1"/>
              </a:solidFill>
              <a:effectLst/>
              <a:uLnTx/>
              <a:uFillTx/>
              <a:latin typeface="Arial" panose="020B0604020202020204"/>
              <a:ea typeface="+mn-ea"/>
              <a:cs typeface="Arial"/>
              <a:sym typeface="Arial"/>
            </a:endParaRPr>
          </a:p>
          <a:p>
            <a:pPr marR="0" lvl="0" fontAlgn="base">
              <a:lnSpc>
                <a:spcPct val="110000"/>
              </a:lnSpc>
              <a:spcBef>
                <a:spcPct val="0"/>
              </a:spcBef>
              <a:spcAft>
                <a:spcPct val="0"/>
              </a:spcAft>
              <a:buClr>
                <a:schemeClr val="accent1"/>
              </a:buClr>
              <a:buSzPts val="1000"/>
              <a:tabLst/>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PMO (XX mois)</a:t>
            </a: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PMO au sein du département Projet / Finance pour l’amélioration du processus de production du rapport de résolution MREL (cadrage, proposition de solutions, clarification de la gouvernance) et en parallèle assistance opérationnelle à la production le temps du projet</a:t>
            </a: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Assistance méthodologique et production au sein du département Finance pour la rédaction du rapport de liquidité (ILAAP)</a:t>
            </a: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Assistance à la production de l’enquête auto-placement (ACPR) dans le département Finance</a:t>
            </a: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MOA au sein de l’ALM pour la mise en place de l’algorithme Groupe SPPI -remboursement du principal et des intérêts uniquement- (IFRS 9) pour les titres </a:t>
            </a:r>
            <a:r>
              <a:rPr lang="fr-FR" sz="1000" dirty="0" err="1">
                <a:solidFill>
                  <a:schemeClr val="dk1"/>
                </a:solidFill>
                <a:cs typeface="Arial"/>
                <a:sym typeface="Arial"/>
              </a:rPr>
              <a:t>fixed</a:t>
            </a:r>
            <a:r>
              <a:rPr lang="fr-FR" sz="1000" dirty="0">
                <a:solidFill>
                  <a:schemeClr val="dk1"/>
                </a:solidFill>
                <a:cs typeface="Arial"/>
                <a:sym typeface="Arial"/>
              </a:rPr>
              <a:t> </a:t>
            </a:r>
            <a:r>
              <a:rPr lang="fr-FR" sz="1000" dirty="0" err="1">
                <a:solidFill>
                  <a:schemeClr val="dk1"/>
                </a:solidFill>
                <a:cs typeface="Arial"/>
                <a:sym typeface="Arial"/>
              </a:rPr>
              <a:t>income</a:t>
            </a:r>
            <a:r>
              <a:rPr lang="fr-FR" sz="1000" dirty="0">
                <a:solidFill>
                  <a:schemeClr val="dk1"/>
                </a:solidFill>
                <a:cs typeface="Arial"/>
                <a:sym typeface="Arial"/>
              </a:rPr>
              <a:t> : définition des règles de calcul avec les équipes (normes, trésoriers, etc.), spécifications, coordination des travaux, recette métier</a:t>
            </a:r>
          </a:p>
          <a:p>
            <a:pPr fontAlgn="base">
              <a:lnSpc>
                <a:spcPct val="110000"/>
              </a:lnSpc>
              <a:spcBef>
                <a:spcPct val="0"/>
              </a:spcBef>
              <a:spcAft>
                <a:spcPct val="0"/>
              </a:spcAft>
              <a:buClr>
                <a:schemeClr val="accent1"/>
              </a:buClr>
              <a:buSzPts val="1000"/>
              <a:defRPr/>
            </a:pPr>
            <a:endPar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endParaRPr>
          </a:p>
          <a:p>
            <a:pPr fontAlgn="base">
              <a:lnSpc>
                <a:spcPct val="110000"/>
              </a:lnSpc>
              <a:spcBef>
                <a:spcPct val="0"/>
              </a:spcBef>
              <a:spcAft>
                <a:spcPct val="0"/>
              </a:spcAft>
              <a:buClr>
                <a:schemeClr val="accent1"/>
              </a:buClr>
              <a:buSzPts val="1000"/>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MOA (XX mois)</a:t>
            </a: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MOA au sein de l’ALM pour la gestion et l’amélioration de l’algorithme Groupe d’évaluation du niveau de liquidité (HQLA – Bâle III) des titres sur le référentiel </a:t>
            </a:r>
            <a:r>
              <a:rPr lang="fr-FR" sz="1000" dirty="0" err="1">
                <a:solidFill>
                  <a:schemeClr val="dk1"/>
                </a:solidFill>
                <a:cs typeface="Arial"/>
                <a:sym typeface="Arial"/>
              </a:rPr>
              <a:t>fixed</a:t>
            </a:r>
            <a:r>
              <a:rPr lang="fr-FR" sz="1000" dirty="0">
                <a:solidFill>
                  <a:schemeClr val="dk1"/>
                </a:solidFill>
                <a:cs typeface="Arial"/>
                <a:sym typeface="Arial"/>
              </a:rPr>
              <a:t> </a:t>
            </a:r>
            <a:r>
              <a:rPr lang="fr-FR" sz="1000" dirty="0" err="1">
                <a:solidFill>
                  <a:schemeClr val="dk1"/>
                </a:solidFill>
                <a:cs typeface="Arial"/>
                <a:sym typeface="Arial"/>
              </a:rPr>
              <a:t>income</a:t>
            </a:r>
            <a:endParaRPr lang="fr-FR" sz="1000" dirty="0">
              <a:solidFill>
                <a:schemeClr val="dk1"/>
              </a:solidFill>
              <a:cs typeface="Arial"/>
              <a:sym typeface="Arial"/>
            </a:endParaRPr>
          </a:p>
          <a:p>
            <a:pPr fontAlgn="base">
              <a:lnSpc>
                <a:spcPct val="110000"/>
              </a:lnSpc>
              <a:spcBef>
                <a:spcPct val="0"/>
              </a:spcBef>
              <a:spcAft>
                <a:spcPct val="0"/>
              </a:spcAft>
              <a:buClr>
                <a:schemeClr val="accent1"/>
              </a:buClr>
              <a:buSzPts val="1000"/>
              <a:defRPr/>
            </a:pPr>
            <a:endParaRPr lang="fr-FR" sz="1000" dirty="0">
              <a:solidFill>
                <a:schemeClr val="dk1"/>
              </a:solidFill>
              <a:cs typeface="Arial"/>
              <a:sym typeface="Arial"/>
            </a:endParaRPr>
          </a:p>
          <a:p>
            <a:pPr fontAlgn="base">
              <a:lnSpc>
                <a:spcPct val="110000"/>
              </a:lnSpc>
              <a:spcBef>
                <a:spcPct val="0"/>
              </a:spcBef>
              <a:spcAft>
                <a:spcPct val="0"/>
              </a:spcAft>
              <a:buClr>
                <a:schemeClr val="accent1"/>
              </a:buClr>
              <a:buSzPts val="1000"/>
              <a:defRPr/>
            </a:pPr>
            <a:r>
              <a:rPr kumimoji="0" lang="fr-FR" sz="1000" b="1" i="0" u="none" strike="noStrike" kern="1200" cap="none" spc="0" normalizeH="0" baseline="0" noProof="0" dirty="0">
                <a:ln>
                  <a:noFill/>
                </a:ln>
                <a:solidFill>
                  <a:srgbClr val="43A2BF"/>
                </a:solidFill>
                <a:effectLst/>
                <a:uLnTx/>
                <a:uFillTx/>
                <a:latin typeface="Arial" panose="020B0604020202020204"/>
                <a:ea typeface="+mn-ea"/>
                <a:cs typeface="+mn-cs"/>
                <a:sym typeface="Arial"/>
              </a:rPr>
              <a:t>CLIENT - PMO – Business Expert (XX mois)</a:t>
            </a:r>
            <a:endParaRPr lang="fr-FR" sz="1000" dirty="0">
              <a:solidFill>
                <a:schemeClr val="dk1"/>
              </a:solidFill>
              <a:cs typeface="Arial"/>
              <a:sym typeface="Arial"/>
            </a:endParaRP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PMO – Business Expert au sein de l’équipe Data-Leasing pour le déploiement d’une solution automatisée pour le </a:t>
            </a:r>
            <a:r>
              <a:rPr lang="fr-FR" sz="1000" dirty="0" err="1">
                <a:solidFill>
                  <a:schemeClr val="dk1"/>
                </a:solidFill>
                <a:cs typeface="Arial"/>
                <a:sym typeface="Arial"/>
              </a:rPr>
              <a:t>reporting</a:t>
            </a:r>
            <a:r>
              <a:rPr lang="fr-FR" sz="1000" dirty="0">
                <a:solidFill>
                  <a:schemeClr val="dk1"/>
                </a:solidFill>
                <a:cs typeface="Arial"/>
                <a:sym typeface="Arial"/>
              </a:rPr>
              <a:t> interne/externe : déf. du besoin, assistance au déploiement pour ~20 entités, </a:t>
            </a:r>
            <a:r>
              <a:rPr lang="fr-FR" sz="1000" dirty="0" err="1">
                <a:solidFill>
                  <a:schemeClr val="dk1"/>
                </a:solidFill>
                <a:cs typeface="Arial"/>
                <a:sym typeface="Arial"/>
              </a:rPr>
              <a:t>parrallel</a:t>
            </a:r>
            <a:r>
              <a:rPr lang="fr-FR" sz="1000" dirty="0">
                <a:solidFill>
                  <a:schemeClr val="dk1"/>
                </a:solidFill>
                <a:cs typeface="Arial"/>
                <a:sym typeface="Arial"/>
              </a:rPr>
              <a:t>-run avec l’existant, élaboration de la solution de restitution </a:t>
            </a:r>
          </a:p>
          <a:p>
            <a:pPr fontAlgn="base">
              <a:lnSpc>
                <a:spcPct val="110000"/>
              </a:lnSpc>
              <a:spcBef>
                <a:spcPct val="0"/>
              </a:spcBef>
              <a:spcAft>
                <a:spcPct val="0"/>
              </a:spcAft>
              <a:buClr>
                <a:schemeClr val="accent1"/>
              </a:buClr>
              <a:buSzPts val="1000"/>
              <a:defRPr/>
            </a:pPr>
            <a:endParaRPr lang="fr-FR" sz="1000" dirty="0">
              <a:solidFill>
                <a:schemeClr val="dk1"/>
              </a:solidFill>
              <a:cs typeface="Arial"/>
              <a:sym typeface="Arial"/>
            </a:endParaRPr>
          </a:p>
          <a:p>
            <a:pPr fontAlgn="base">
              <a:lnSpc>
                <a:spcPct val="110000"/>
              </a:lnSpc>
              <a:spcBef>
                <a:spcPct val="0"/>
              </a:spcBef>
              <a:spcAft>
                <a:spcPct val="0"/>
              </a:spcAft>
              <a:buClr>
                <a:schemeClr val="accent1"/>
              </a:buClr>
              <a:buSzPts val="1000"/>
              <a:defRPr/>
            </a:pPr>
            <a:r>
              <a:rPr lang="fr-FR" sz="1000" dirty="0">
                <a:solidFill>
                  <a:schemeClr val="dk1"/>
                </a:solidFill>
                <a:cs typeface="Arial"/>
                <a:sym typeface="Arial"/>
              </a:rPr>
              <a:t>Intervenant au CNAM sur un module de finance durable pour le master stratégie d'entreprise</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defRPr/>
            </a:pPr>
            <a:endParaRPr lang="fr-FR" sz="1000" dirty="0">
              <a:solidFill>
                <a:schemeClr val="dk1"/>
              </a:solidFill>
              <a:cs typeface="Arial"/>
            </a:endParaRP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31/03/2025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760698"/>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Processus de production des métriques règlementaire/pilotage à la fois sur la Liquidité, Taux et la Résolution</a:t>
            </a:r>
          </a:p>
          <a:p>
            <a:pPr marL="171450" indent="-171450">
              <a:buClr>
                <a:schemeClr val="tx2"/>
              </a:buClr>
              <a:buFont typeface="Arial" panose="020B0604020202020204" pitchFamily="34" charset="0"/>
              <a:buChar char="•"/>
            </a:pPr>
            <a:r>
              <a:rPr lang="fr-FR" sz="1000" dirty="0">
                <a:solidFill>
                  <a:schemeClr val="bg1"/>
                </a:solidFill>
              </a:rPr>
              <a:t>Gestion de projets complexes &amp; transformation (sur de nombreuses étapes de projet)</a:t>
            </a:r>
          </a:p>
          <a:p>
            <a:pPr marL="171450" indent="-171450">
              <a:buClr>
                <a:schemeClr val="tx2"/>
              </a:buClr>
              <a:buFont typeface="Arial" panose="020B0604020202020204" pitchFamily="34" charset="0"/>
              <a:buChar char="•"/>
            </a:pPr>
            <a:r>
              <a:rPr lang="fr-FR" sz="1000" dirty="0">
                <a:solidFill>
                  <a:schemeClr val="bg1"/>
                </a:solidFill>
              </a:rPr>
              <a:t>Coutumier des environnements internationaux</a:t>
            </a:r>
          </a:p>
          <a:p>
            <a:pPr marL="171450" indent="-171450">
              <a:buClr>
                <a:schemeClr val="tx2"/>
              </a:buClr>
              <a:buFont typeface="Arial" panose="020B0604020202020204" pitchFamily="34" charset="0"/>
              <a:buChar char="•"/>
            </a:pPr>
            <a:r>
              <a:rPr lang="fr-FR" sz="1000" dirty="0">
                <a:solidFill>
                  <a:schemeClr val="bg1"/>
                </a:solidFill>
              </a:rPr>
              <a:t>Bonne connaissance de l’organisation d’une banque</a:t>
            </a:r>
          </a:p>
          <a:p>
            <a:pPr marL="171450" indent="-171450">
              <a:buClr>
                <a:schemeClr val="tx2"/>
              </a:buClr>
              <a:buFont typeface="Arial" panose="020B0604020202020204" pitchFamily="34" charset="0"/>
              <a:buChar char="•"/>
            </a:pPr>
            <a:r>
              <a:rPr lang="fr-FR" sz="1000" dirty="0">
                <a:solidFill>
                  <a:schemeClr val="bg1"/>
                </a:solidFill>
              </a:rPr>
              <a:t>Bonne connaissance des SI / environnement Data</a:t>
            </a:r>
          </a:p>
          <a:p>
            <a:pPr marL="171450" indent="-171450">
              <a:buClr>
                <a:schemeClr val="tx2"/>
              </a:buClr>
              <a:buFont typeface="Arial" panose="020B0604020202020204" pitchFamily="34" charset="0"/>
              <a:buChar char="•"/>
            </a:pPr>
            <a:r>
              <a:rPr lang="fr-FR" sz="1000" dirty="0">
                <a:solidFill>
                  <a:schemeClr val="bg1"/>
                </a:solidFill>
              </a:rPr>
              <a:t>Amélioration &amp; automatisation de processus</a:t>
            </a:r>
          </a:p>
          <a:p>
            <a:pPr marL="171450" indent="-171450">
              <a:buClr>
                <a:schemeClr val="tx2"/>
              </a:buClr>
              <a:buFont typeface="Arial" panose="020B0604020202020204" pitchFamily="34" charset="0"/>
              <a:buChar char="•"/>
            </a:pPr>
            <a:r>
              <a:rPr lang="fr-FR" sz="1000" dirty="0">
                <a:solidFill>
                  <a:schemeClr val="bg1"/>
                </a:solidFill>
              </a:rPr>
              <a:t>Accompagnement méthodologique et opérationnel</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0DA58CDB-0089-2305-03DB-BCBFAB23D67A}"/>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Bonne connaissance Pack Office</a:t>
            </a:r>
          </a:p>
          <a:p>
            <a:pPr marL="171450" indent="-171450">
              <a:buClr>
                <a:schemeClr val="tx2"/>
              </a:buClr>
              <a:buFont typeface="Arial" panose="020B0604020202020204" pitchFamily="34" charset="0"/>
              <a:buChar char="•"/>
            </a:pPr>
            <a:r>
              <a:rPr lang="fr-FR" sz="1000" dirty="0">
                <a:solidFill>
                  <a:schemeClr val="bg1"/>
                </a:solidFill>
              </a:rPr>
              <a:t>Méthode Agile</a:t>
            </a:r>
          </a:p>
          <a:p>
            <a:pPr marL="171450" indent="-171450">
              <a:buClr>
                <a:schemeClr val="tx2"/>
              </a:buClr>
              <a:buFont typeface="Arial" panose="020B0604020202020204" pitchFamily="34" charset="0"/>
              <a:buChar char="•"/>
            </a:pPr>
            <a:r>
              <a:rPr lang="fr-FR" sz="1000" dirty="0">
                <a:solidFill>
                  <a:schemeClr val="bg1"/>
                </a:solidFill>
              </a:rPr>
              <a:t>Animation d’ateliers collaboratifs, conduite d’entretiens de recueil des besoins​</a:t>
            </a:r>
          </a:p>
          <a:p>
            <a:pPr marL="171450" indent="-171450">
              <a:buClr>
                <a:schemeClr val="tx2"/>
              </a:buClr>
              <a:buFont typeface="Arial" panose="020B0604020202020204" pitchFamily="34" charset="0"/>
              <a:buChar char="•"/>
            </a:pPr>
            <a:r>
              <a:rPr lang="fr-FR" sz="1000" dirty="0">
                <a:solidFill>
                  <a:schemeClr val="bg1"/>
                </a:solidFill>
              </a:rPr>
              <a:t>Synthèse analytique et production de </a:t>
            </a:r>
            <a:r>
              <a:rPr lang="fr-FR" sz="1000" dirty="0" err="1">
                <a:solidFill>
                  <a:schemeClr val="bg1"/>
                </a:solidFill>
              </a:rPr>
              <a:t>reportings</a:t>
            </a:r>
            <a:endParaRPr lang="fr-FR" sz="1000" dirty="0">
              <a:solidFill>
                <a:schemeClr val="bg1"/>
              </a:solidFill>
            </a:endParaRPr>
          </a:p>
        </p:txBody>
      </p:sp>
      <p:pic>
        <p:nvPicPr>
          <p:cNvPr id="45" name="Picture 2" descr="upload.wikimedia.org/wikipedia/commons/thumb/6/...">
            <a:extLst>
              <a:ext uri="{FF2B5EF4-FFF2-40B4-BE49-F238E27FC236}">
                <a16:creationId xmlns:a16="http://schemas.microsoft.com/office/drawing/2014/main" id="{CDE5EC60-6416-B2C6-CE0C-C103855E6B9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pic>
        <p:nvPicPr>
          <p:cNvPr id="47" name="Image 46" descr="Une image contenant personne, homme, mur, complet&#10;&#10;Description générée automatiquement">
            <a:extLst>
              <a:ext uri="{FF2B5EF4-FFF2-40B4-BE49-F238E27FC236}">
                <a16:creationId xmlns:a16="http://schemas.microsoft.com/office/drawing/2014/main" id="{7433AFBA-B87F-F7DE-43A6-400831E09E1D}"/>
              </a:ext>
            </a:extLst>
          </p:cNvPr>
          <p:cNvPicPr>
            <a:picLocks noChangeAspect="1"/>
          </p:cNvPicPr>
          <p:nvPr/>
        </p:nvPicPr>
        <p:blipFill rotWithShape="1">
          <a:blip r:embed="rId6"/>
          <a:srcRect l="10090" r="11331"/>
          <a:stretch/>
        </p:blipFill>
        <p:spPr>
          <a:xfrm>
            <a:off x="368572" y="557385"/>
            <a:ext cx="1069054" cy="1360476"/>
          </a:xfrm>
          <a:prstGeom prst="rect">
            <a:avLst/>
          </a:prstGeom>
        </p:spPr>
      </p:pic>
      <p:sp>
        <p:nvSpPr>
          <p:cNvPr id="48" name="ZoneTexte 47">
            <a:extLst>
              <a:ext uri="{FF2B5EF4-FFF2-40B4-BE49-F238E27FC236}">
                <a16:creationId xmlns:a16="http://schemas.microsoft.com/office/drawing/2014/main" id="{83D17651-3B3A-A8A5-DD90-007B18392C69}"/>
              </a:ext>
            </a:extLst>
          </p:cNvPr>
          <p:cNvSpPr txBox="1"/>
          <p:nvPr/>
        </p:nvSpPr>
        <p:spPr>
          <a:xfrm rot="840714">
            <a:off x="8760340" y="-76512"/>
            <a:ext cx="3300904" cy="923330"/>
          </a:xfrm>
          <a:prstGeom prst="rect">
            <a:avLst/>
          </a:prstGeom>
          <a:solidFill>
            <a:srgbClr val="C00000"/>
          </a:solidFill>
        </p:spPr>
        <p:txBody>
          <a:bodyPr wrap="none" rtlCol="0">
            <a:spAutoFit/>
          </a:bodyPr>
          <a:lstStyle/>
          <a:p>
            <a:r>
              <a:rPr lang="fr-FR" dirty="0">
                <a:solidFill>
                  <a:schemeClr val="bg1"/>
                </a:solidFill>
              </a:rPr>
              <a:t>Photo</a:t>
            </a:r>
          </a:p>
          <a:p>
            <a:r>
              <a:rPr lang="fr-FR" dirty="0">
                <a:solidFill>
                  <a:schemeClr val="bg1"/>
                </a:solidFill>
              </a:rPr>
              <a:t>Nom clients et </a:t>
            </a:r>
            <a:r>
              <a:rPr lang="fr-FR" dirty="0" err="1">
                <a:solidFill>
                  <a:schemeClr val="bg1"/>
                </a:solidFill>
              </a:rPr>
              <a:t>Duree</a:t>
            </a:r>
            <a:r>
              <a:rPr lang="fr-FR" dirty="0">
                <a:solidFill>
                  <a:schemeClr val="bg1"/>
                </a:solidFill>
              </a:rPr>
              <a:t> missions</a:t>
            </a:r>
          </a:p>
          <a:p>
            <a:r>
              <a:rPr lang="fr-FR" dirty="0">
                <a:solidFill>
                  <a:schemeClr val="bg1"/>
                </a:solidFill>
              </a:rPr>
              <a:t>Logo clients</a:t>
            </a:r>
          </a:p>
        </p:txBody>
      </p:sp>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3728553062"/>
              </p:ext>
            </p:extLst>
          </p:nvPr>
        </p:nvGraphicFramePr>
        <p:xfrm>
          <a:off x="370870" y="1984675"/>
          <a:ext cx="11430002" cy="417830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SOCIÉTÉ GÉNÉRALE</a:t>
                      </a:r>
                    </a:p>
                    <a:p>
                      <a:pPr marL="0" algn="l" defTabSz="557240" rtl="0" eaLnBrk="1" latinLnBrk="0" hangingPunct="1"/>
                      <a:r>
                        <a:rPr lang="fr-FR" sz="1000" b="0" i="1" kern="1200" noProof="0" dirty="0">
                          <a:solidFill>
                            <a:schemeClr val="tx1"/>
                          </a:solidFill>
                          <a:latin typeface="+mn-lt"/>
                          <a:ea typeface="+mn-ea"/>
                          <a:cs typeface="+mn-cs"/>
                        </a:rPr>
                        <a:t>Programme Liquidité</a:t>
                      </a:r>
                    </a:p>
                    <a:p>
                      <a:pPr marL="0" algn="l" defTabSz="557240" rtl="0" eaLnBrk="1" latinLnBrk="0" hangingPunct="1"/>
                      <a:endParaRPr lang="fr-FR" sz="1000" b="0" i="1" kern="1200" noProof="0" dirty="0">
                        <a:solidFill>
                          <a:schemeClr val="tx1"/>
                        </a:solidFill>
                        <a:latin typeface="+mn-lt"/>
                        <a:ea typeface="+mn-ea"/>
                        <a:cs typeface="+mn-cs"/>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b="1" i="1" kern="1200" noProof="0" dirty="0">
                          <a:solidFill>
                            <a:schemeClr val="accent3"/>
                          </a:solidFill>
                          <a:latin typeface="+mn-lt"/>
                          <a:ea typeface="+mn-ea"/>
                          <a:cs typeface="+mn-cs"/>
                        </a:rPr>
                        <a:t>Accélération d’une métrique liquidité de pilotage</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L'objectif était de chercher à améliorer la cohérence inter-métriques. Ainsi, le Groupe a entrepris d’harmoniser les assiettes utilisées pour le calcul des métriques de liquidité (mise en qualité générale), tout en accélérant au maximum la production des métriques de pilotage afin de les aligner sur la production des métriques réglementaire.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PMO + Business Expert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Cadrage du projet : élaboration et structuration des objectifs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Études d'impacts via extraction de données des outils Groupe, en assurant une compréhension approfondie des impacts financiers et opérationnels.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Préparation et animation des comités avec les Business </a:t>
                      </a:r>
                      <a:r>
                        <a:rPr lang="fr-FR" sz="1000" kern="1200" dirty="0" err="1">
                          <a:solidFill>
                            <a:schemeClr val="tx1"/>
                          </a:solidFill>
                          <a:latin typeface="+mn-lt"/>
                          <a:ea typeface="+mn-ea"/>
                          <a:cs typeface="+mn-cs"/>
                        </a:rPr>
                        <a:t>Units</a:t>
                      </a:r>
                      <a:r>
                        <a:rPr lang="fr-FR" sz="1000" kern="1200" dirty="0">
                          <a:solidFill>
                            <a:schemeClr val="tx1"/>
                          </a:solidFill>
                          <a:latin typeface="+mn-lt"/>
                          <a:ea typeface="+mn-ea"/>
                          <a:cs typeface="+mn-cs"/>
                        </a:rPr>
                        <a:t> (</a:t>
                      </a:r>
                      <a:r>
                        <a:rPr lang="fr-FR" sz="1000" kern="1200" dirty="0" err="1">
                          <a:solidFill>
                            <a:schemeClr val="tx1"/>
                          </a:solidFill>
                          <a:latin typeface="+mn-lt"/>
                          <a:ea typeface="+mn-ea"/>
                          <a:cs typeface="+mn-cs"/>
                        </a:rPr>
                        <a:t>BUs</a:t>
                      </a:r>
                      <a:r>
                        <a:rPr lang="fr-FR" sz="1000" kern="1200" dirty="0">
                          <a:solidFill>
                            <a:schemeClr val="tx1"/>
                          </a:solidFill>
                          <a:latin typeface="+mn-lt"/>
                          <a:ea typeface="+mn-ea"/>
                          <a:cs typeface="+mn-cs"/>
                        </a:rPr>
                        <a:t>) et les partenaires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CASA</a:t>
                      </a:r>
                      <a:r>
                        <a:rPr lang="fr-FR" sz="1050" b="0" kern="1200" noProof="0" dirty="0">
                          <a:solidFill>
                            <a:schemeClr val="tx1"/>
                          </a:solidFill>
                          <a:latin typeface="+mn-lt"/>
                          <a:ea typeface="+mn-ea"/>
                          <a:cs typeface="+mn-cs"/>
                        </a:rPr>
                        <a:t> </a:t>
                      </a:r>
                    </a:p>
                    <a:p>
                      <a:pPr marL="0" algn="l" defTabSz="557240" rtl="0" eaLnBrk="1" latinLnBrk="0" hangingPunct="1"/>
                      <a:r>
                        <a:rPr lang="fr-FR" sz="1000" b="0" i="1" kern="1200" noProof="0" dirty="0">
                          <a:solidFill>
                            <a:schemeClr val="tx1"/>
                          </a:solidFill>
                          <a:latin typeface="+mn-lt"/>
                          <a:ea typeface="+mn-ea"/>
                          <a:cs typeface="+mn-cs"/>
                        </a:rPr>
                        <a:t>Direction Projet</a:t>
                      </a:r>
                    </a:p>
                    <a:p>
                      <a:pPr marL="0" algn="l" defTabSz="557240" rtl="0" eaLnBrk="1" latinLnBrk="0" hangingPunct="1"/>
                      <a:endParaRPr lang="fr-FR" sz="1000" b="0" i="1" kern="1200" noProof="0" dirty="0">
                        <a:solidFill>
                          <a:schemeClr val="tx1"/>
                        </a:solidFill>
                        <a:latin typeface="+mn-lt"/>
                        <a:ea typeface="+mn-ea"/>
                        <a:cs typeface="+mn-cs"/>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b="1" i="1" kern="1200" noProof="0" dirty="0">
                          <a:solidFill>
                            <a:schemeClr val="accent3"/>
                          </a:solidFill>
                          <a:latin typeface="+mn-lt"/>
                          <a:ea typeface="+mn-ea"/>
                          <a:cs typeface="+mn-cs"/>
                        </a:rPr>
                        <a:t>Plan de remédiation</a:t>
                      </a: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uFill>
                            <a:solidFill>
                              <a:srgbClr val="FFFFFF"/>
                            </a:solidFill>
                          </a:uFill>
                        </a:rPr>
                        <a:t>À la suite d’un exercice de production du ratio MREL ayant mis en évidence des problématiques liées à la qualité des données, le Groupe a décidé de structurer et de mettre en œuvre un plan de remédiation.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r>
                        <a:rPr kumimoji="0" lang="fr-FR" sz="1050" b="1" i="0" u="none" strike="noStrike" kern="1200" cap="none" spc="0" normalizeH="0" baseline="0" noProof="0" dirty="0">
                          <a:ln>
                            <a:noFill/>
                          </a:ln>
                          <a:solidFill>
                            <a:srgbClr val="313F4F"/>
                          </a:solidFill>
                          <a:effectLst/>
                          <a:uLnTx/>
                          <a:uFillTx/>
                          <a:latin typeface="+mn-lt"/>
                          <a:ea typeface="+mn-ea"/>
                          <a:cs typeface="+mn-cs"/>
                        </a:rPr>
                        <a:t>PMO + assistance opérationnelle (XX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noProof="0" dirty="0">
                          <a:solidFill>
                            <a:schemeClr val="tx1"/>
                          </a:solidFill>
                          <a:latin typeface="+mn-lt"/>
                          <a:ea typeface="+mn-ea"/>
                          <a:cs typeface="+mn-cs"/>
                        </a:rPr>
                        <a:t>Diagnostic et analyse de la situation : analyse détaillée de la production du 31/12/2019</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noProof="0" dirty="0">
                          <a:solidFill>
                            <a:schemeClr val="tx1"/>
                          </a:solidFill>
                          <a:latin typeface="+mn-lt"/>
                          <a:ea typeface="+mn-ea"/>
                          <a:cs typeface="+mn-cs"/>
                        </a:rPr>
                        <a:t>Définition du plan de remédiation pour corriger les écarts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noProof="0" dirty="0">
                          <a:solidFill>
                            <a:schemeClr val="tx1"/>
                          </a:solidFill>
                          <a:latin typeface="+mn-lt"/>
                          <a:ea typeface="+mn-ea"/>
                          <a:cs typeface="+mn-cs"/>
                        </a:rPr>
                        <a:t>Coordination des travaux identifiés avec les départements (ALM, Compta, IT, Refinancement, etc.)</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noProof="0" dirty="0">
                          <a:solidFill>
                            <a:schemeClr val="tx1"/>
                          </a:solidFill>
                          <a:latin typeface="+mn-lt"/>
                          <a:ea typeface="+mn-ea"/>
                          <a:cs typeface="+mn-cs"/>
                        </a:rPr>
                        <a:t>Définition de la feuille de route 2021</a:t>
                      </a: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CASA</a:t>
                      </a:r>
                    </a:p>
                    <a:p>
                      <a:pPr marL="0" algn="l" defTabSz="557240" rtl="0" eaLnBrk="1" latinLnBrk="0" hangingPunct="1"/>
                      <a:r>
                        <a:rPr lang="fr-FR" sz="1000" b="0" i="1" kern="1200" noProof="0" dirty="0">
                          <a:solidFill>
                            <a:schemeClr val="tx1"/>
                          </a:solidFill>
                          <a:latin typeface="+mn-lt"/>
                          <a:ea typeface="+mn-ea"/>
                          <a:cs typeface="+mn-cs"/>
                        </a:rPr>
                        <a:t>Direction Finance</a:t>
                      </a:r>
                    </a:p>
                    <a:p>
                      <a:pPr marL="0" algn="l" defTabSz="557240" rtl="0" eaLnBrk="1" latinLnBrk="0" hangingPunct="1"/>
                      <a:endParaRPr lang="fr-FR" sz="1000" b="0" i="1" kern="1200" noProof="0" dirty="0">
                        <a:solidFill>
                          <a:schemeClr val="tx1"/>
                        </a:solidFill>
                        <a:latin typeface="+mn-lt"/>
                        <a:ea typeface="+mn-ea"/>
                        <a:cs typeface="+mn-cs"/>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b="1" i="1" kern="1200" noProof="0" dirty="0">
                          <a:solidFill>
                            <a:schemeClr val="accent3"/>
                          </a:solidFill>
                          <a:latin typeface="+mn-lt"/>
                          <a:ea typeface="+mn-ea"/>
                          <a:cs typeface="+mn-cs"/>
                        </a:rPr>
                        <a:t>ILAAP et auto-placement</a:t>
                      </a:r>
                      <a:endParaRPr lang="fr-FR" sz="1000" b="0" i="1"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uFill>
                            <a:solidFill>
                              <a:srgbClr val="FFFFFF"/>
                            </a:solidFill>
                          </a:uFill>
                        </a:rPr>
                        <a:t>Le Groupe a dû rédiger son rapport de liquidité (ILAAP), ainsi que répondre dans la foulée à l’enquête auto-placement, et a souhaité se faire accompagner dans la rédaction (pour respecter les délais et la qualité attendue).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dirty="0">
                          <a:solidFill>
                            <a:schemeClr val="tx1"/>
                          </a:solidFill>
                          <a:latin typeface="+mn-lt"/>
                          <a:ea typeface="+mn-ea"/>
                          <a:cs typeface="+mn-cs"/>
                        </a:rPr>
                        <a:t>Assistance méthodologique et de production (XX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Soutien au </a:t>
                      </a:r>
                      <a:r>
                        <a:rPr lang="fr-FR" sz="1000" kern="1200" dirty="0" err="1">
                          <a:solidFill>
                            <a:schemeClr val="tx1"/>
                          </a:solidFill>
                          <a:latin typeface="+mn-lt"/>
                          <a:ea typeface="+mn-ea"/>
                          <a:cs typeface="+mn-cs"/>
                        </a:rPr>
                        <a:t>Managing</a:t>
                      </a:r>
                      <a:r>
                        <a:rPr lang="fr-FR" sz="1000" kern="1200" dirty="0">
                          <a:solidFill>
                            <a:schemeClr val="tx1"/>
                          </a:solidFill>
                          <a:latin typeface="+mn-lt"/>
                          <a:ea typeface="+mn-ea"/>
                          <a:cs typeface="+mn-cs"/>
                        </a:rPr>
                        <a:t> </a:t>
                      </a:r>
                      <a:r>
                        <a:rPr lang="fr-FR" sz="1000" kern="1200" dirty="0" err="1">
                          <a:solidFill>
                            <a:schemeClr val="tx1"/>
                          </a:solidFill>
                          <a:latin typeface="+mn-lt"/>
                          <a:ea typeface="+mn-ea"/>
                          <a:cs typeface="+mn-cs"/>
                        </a:rPr>
                        <a:t>Director</a:t>
                      </a:r>
                      <a:r>
                        <a:rPr lang="fr-FR" sz="1000" kern="1200" dirty="0">
                          <a:solidFill>
                            <a:schemeClr val="tx1"/>
                          </a:solidFill>
                          <a:latin typeface="+mn-lt"/>
                          <a:ea typeface="+mn-ea"/>
                          <a:cs typeface="+mn-cs"/>
                        </a:rPr>
                        <a:t> dans la rédaction</a:t>
                      </a:r>
                    </a:p>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1"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r>
                        <a:rPr lang="fr-FR" sz="920" b="1" kern="1200" noProof="0" dirty="0">
                          <a:solidFill>
                            <a:schemeClr val="tx1"/>
                          </a:solidFill>
                          <a:latin typeface="+mn-lt"/>
                          <a:ea typeface="+mn-ea"/>
                          <a:cs typeface="+mn-cs"/>
                        </a:rPr>
                        <a:t>BNP PARIBAS</a:t>
                      </a:r>
                    </a:p>
                    <a:p>
                      <a:pPr marL="0" algn="l" defTabSz="557240" rtl="0" eaLnBrk="1" latinLnBrk="0" hangingPunct="1"/>
                      <a:r>
                        <a:rPr lang="fr-FR" sz="900" b="0" i="1" kern="1200" noProof="0" dirty="0">
                          <a:solidFill>
                            <a:schemeClr val="tx1"/>
                          </a:solidFill>
                          <a:latin typeface="+mn-lt"/>
                          <a:ea typeface="+mn-ea"/>
                          <a:cs typeface="+mn-cs"/>
                        </a:rPr>
                        <a:t>Direction ALMT</a:t>
                      </a:r>
                    </a:p>
                    <a:p>
                      <a:pPr marL="0" algn="l" defTabSz="557240" rtl="0" eaLnBrk="1" latinLnBrk="0" hangingPunct="1"/>
                      <a:endParaRPr lang="fr-FR" sz="900" b="0" i="1" kern="1200" noProof="0" dirty="0">
                        <a:solidFill>
                          <a:schemeClr val="tx1"/>
                        </a:solidFill>
                        <a:latin typeface="+mn-lt"/>
                        <a:ea typeface="+mn-ea"/>
                        <a:cs typeface="+mn-cs"/>
                      </a:endParaRPr>
                    </a:p>
                    <a:p>
                      <a:pPr marL="0" algn="l" defTabSz="557240" rtl="0" eaLnBrk="1" latinLnBrk="0" hangingPunct="1"/>
                      <a:r>
                        <a:rPr lang="fr-FR" sz="850" b="1" i="1" kern="1200" noProof="0" dirty="0">
                          <a:solidFill>
                            <a:schemeClr val="accent3"/>
                          </a:solidFill>
                          <a:latin typeface="+mn-lt"/>
                          <a:ea typeface="+mn-ea"/>
                          <a:cs typeface="+mn-cs"/>
                        </a:rPr>
                        <a:t>Mise à jour du flag HQLA et mise en place du flag SPPI</a:t>
                      </a:r>
                    </a:p>
                  </a:txBody>
                  <a:tcPr anchor="ct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000" kern="1200" spc="-1" noProof="0" dirty="0">
                          <a:solidFill>
                            <a:schemeClr val="tx1"/>
                          </a:solidFill>
                          <a:uFill>
                            <a:solidFill>
                              <a:srgbClr val="FFFFFF"/>
                            </a:solidFill>
                          </a:uFill>
                          <a:latin typeface="+mn-lt"/>
                          <a:ea typeface="+mn-ea"/>
                          <a:cs typeface="+mn-cs"/>
                        </a:rPr>
                        <a:t>L'ALMT est responsable de la mise en place et du bon fonctionnement des algorithmes appliqués au référentiel des titres à revenu fixe. Dans ce cadre, la mission consistait à assurer la mise à jour de l'algorithme HQLA (Bâle III – utilisé pour le calcul des ratios LCR et NSFR) et à déployer l'algorithme SPPI (IFRS 9 – utilisé pour classifier les titres en fonction de l'objectif de détention, avec un impact direct sur la comptabilité).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noProof="0" dirty="0">
                          <a:solidFill>
                            <a:schemeClr val="tx1"/>
                          </a:solidFill>
                          <a:latin typeface="+mn-lt"/>
                          <a:ea typeface="+mn-ea"/>
                          <a:cs typeface="+mn-cs"/>
                        </a:rPr>
                        <a:t>AMOA (XX mois)</a:t>
                      </a:r>
                    </a:p>
                    <a:p>
                      <a:pPr marL="0" marR="0" lvl="0" indent="-176213" algn="l" defTabSz="55724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b="0" kern="1200" dirty="0">
                          <a:solidFill>
                            <a:schemeClr val="tx1"/>
                          </a:solidFill>
                          <a:latin typeface="+mn-lt"/>
                          <a:ea typeface="+mn-ea"/>
                          <a:cs typeface="+mn-cs"/>
                        </a:rPr>
                        <a:t>Finalisation du cadrage, choix des champs cibles</a:t>
                      </a:r>
                    </a:p>
                    <a:p>
                      <a:pPr marL="0" marR="0" lvl="0" indent="-176213" algn="l" defTabSz="55724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b="0" kern="1200" dirty="0">
                          <a:solidFill>
                            <a:schemeClr val="tx1"/>
                          </a:solidFill>
                          <a:latin typeface="+mn-lt"/>
                          <a:ea typeface="+mn-ea"/>
                          <a:cs typeface="+mn-cs"/>
                        </a:rPr>
                        <a:t>Amélioration continue des algorithmes selon les normes et demandes métier</a:t>
                      </a:r>
                    </a:p>
                    <a:p>
                      <a:pPr marL="0" marR="0" lvl="0" indent="-176213" algn="l" defTabSz="55724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b="0" kern="1200" dirty="0">
                          <a:solidFill>
                            <a:schemeClr val="tx1"/>
                          </a:solidFill>
                          <a:latin typeface="+mn-lt"/>
                          <a:ea typeface="+mn-ea"/>
                          <a:cs typeface="+mn-cs"/>
                        </a:rPr>
                        <a:t>Points réguliers organisés avec les stakeholders (Finance Group, MOA, etc.) avec réalisation des supports</a:t>
                      </a:r>
                    </a:p>
                    <a:p>
                      <a:pPr marL="0" marR="0" lvl="0" indent="-176213" algn="l" defTabSz="55724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b="0" kern="1200" dirty="0">
                          <a:solidFill>
                            <a:schemeClr val="tx1"/>
                          </a:solidFill>
                          <a:latin typeface="+mn-lt"/>
                          <a:ea typeface="+mn-ea"/>
                          <a:cs typeface="+mn-cs"/>
                        </a:rPr>
                        <a:t>Réalisation des </a:t>
                      </a:r>
                      <a:r>
                        <a:rPr lang="fr-FR" sz="1000" b="0" kern="1200" dirty="0" err="1">
                          <a:solidFill>
                            <a:schemeClr val="tx1"/>
                          </a:solidFill>
                          <a:latin typeface="+mn-lt"/>
                          <a:ea typeface="+mn-ea"/>
                          <a:cs typeface="+mn-cs"/>
                        </a:rPr>
                        <a:t>specs</a:t>
                      </a:r>
                      <a:r>
                        <a:rPr lang="fr-FR" sz="1000" b="0" kern="1200" dirty="0">
                          <a:solidFill>
                            <a:schemeClr val="tx1"/>
                          </a:solidFill>
                          <a:latin typeface="+mn-lt"/>
                          <a:ea typeface="+mn-ea"/>
                          <a:cs typeface="+mn-cs"/>
                        </a:rPr>
                        <a:t> puis des </a:t>
                      </a:r>
                      <a:r>
                        <a:rPr lang="fr-FR" sz="1000" b="0" kern="1200" dirty="0" err="1">
                          <a:solidFill>
                            <a:schemeClr val="tx1"/>
                          </a:solidFill>
                          <a:latin typeface="+mn-lt"/>
                          <a:ea typeface="+mn-ea"/>
                          <a:cs typeface="+mn-cs"/>
                        </a:rPr>
                        <a:t>UATs</a:t>
                      </a:r>
                      <a:endParaRPr lang="fr-FR" sz="1000" b="0" kern="1200" dirty="0">
                        <a:solidFill>
                          <a:schemeClr val="tx1"/>
                        </a:solidFill>
                        <a:latin typeface="+mn-lt"/>
                        <a:ea typeface="+mn-ea"/>
                        <a:cs typeface="+mn-cs"/>
                      </a:endParaRPr>
                    </a:p>
                    <a:p>
                      <a:pPr marL="0" marR="0" lvl="0" indent="-176213" algn="l" defTabSz="55724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b="0" kern="1200" dirty="0">
                          <a:solidFill>
                            <a:schemeClr val="tx1"/>
                          </a:solidFill>
                          <a:latin typeface="+mn-lt"/>
                          <a:ea typeface="+mn-ea"/>
                          <a:cs typeface="+mn-cs"/>
                        </a:rPr>
                        <a:t>Documentation complète et accessible des algorithmes</a:t>
                      </a: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dirty="0"/>
              <a:t>AYMERIC CORBIZET</a:t>
            </a:r>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27/03/2025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EB874-4943-A22F-0A29-4540F3C24B5C}"/>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EEED2292-E55B-60C7-3EE3-46CD89AF95B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BAB23D93-7735-D6AA-CFA5-6501F5652E86}"/>
              </a:ext>
            </a:extLst>
          </p:cNvPr>
          <p:cNvGraphicFramePr>
            <a:graphicFrameLocks/>
          </p:cNvGraphicFramePr>
          <p:nvPr>
            <p:extLst>
              <p:ext uri="{D42A27DB-BD31-4B8C-83A1-F6EECF244321}">
                <p14:modId xmlns:p14="http://schemas.microsoft.com/office/powerpoint/2010/main" val="1184150457"/>
              </p:ext>
            </p:extLst>
          </p:nvPr>
        </p:nvGraphicFramePr>
        <p:xfrm>
          <a:off x="370870" y="1984675"/>
          <a:ext cx="11430002" cy="158496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SOCIETE GENERALE Equipement Finance</a:t>
                      </a:r>
                    </a:p>
                    <a:p>
                      <a:pPr marL="0" algn="l" defTabSz="557240" rtl="0" eaLnBrk="1" latinLnBrk="0" hangingPunct="1"/>
                      <a:r>
                        <a:rPr lang="fr-FR" sz="1000" b="0" i="1" kern="1200" noProof="0" dirty="0">
                          <a:solidFill>
                            <a:schemeClr val="tx1"/>
                          </a:solidFill>
                          <a:latin typeface="+mn-lt"/>
                          <a:ea typeface="+mn-ea"/>
                          <a:cs typeface="+mn-cs"/>
                        </a:rPr>
                        <a:t>Equipe projet de la direction commerciale</a:t>
                      </a:r>
                    </a:p>
                    <a:p>
                      <a:pPr marL="0" algn="l" defTabSz="557240" rtl="0" eaLnBrk="1" latinLnBrk="0" hangingPunct="1"/>
                      <a:endParaRPr lang="fr-FR" sz="1000" b="0" i="1" kern="1200" noProof="0" dirty="0">
                        <a:solidFill>
                          <a:schemeClr val="tx1"/>
                        </a:solidFill>
                        <a:latin typeface="+mn-lt"/>
                        <a:ea typeface="+mn-ea"/>
                        <a:cs typeface="+mn-cs"/>
                      </a:endParaRPr>
                    </a:p>
                    <a:p>
                      <a:pPr marL="0" algn="l" defTabSz="557240" rtl="0" eaLnBrk="1" latinLnBrk="0" hangingPunct="1"/>
                      <a:r>
                        <a:rPr lang="fr-FR" sz="1000" b="1" i="1" kern="1200" noProof="0" dirty="0">
                          <a:solidFill>
                            <a:schemeClr val="accent3"/>
                          </a:solidFill>
                          <a:latin typeface="+mn-lt"/>
                          <a:ea typeface="+mn-ea"/>
                          <a:cs typeface="+mn-cs"/>
                        </a:rPr>
                        <a:t>Industrialisation du </a:t>
                      </a:r>
                      <a:r>
                        <a:rPr lang="fr-FR" sz="1000" b="1" i="1" kern="1200" noProof="0" dirty="0" err="1">
                          <a:solidFill>
                            <a:schemeClr val="accent3"/>
                          </a:solidFill>
                          <a:latin typeface="+mn-lt"/>
                          <a:ea typeface="+mn-ea"/>
                          <a:cs typeface="+mn-cs"/>
                        </a:rPr>
                        <a:t>reporting</a:t>
                      </a:r>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SGEF a souhaité automatiser ses outils de reporting afin 1. d’améliorer la relation avec ses partenaires, en offrant un meilleur suivi des contrats, et 2. pour renforcer la qualité des reportings à des fins de pilotage interne. Jusqu’alors, ces reportings étaient effectués manuellement via Excel et e-mails. Le projet visait à migrer vers l’utilisation d’un entrepôt de données (datawarehouse) et d’un outil de visualisation pour une gestion plus efficace et automatisée.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PMO + Business </a:t>
                      </a:r>
                      <a:r>
                        <a:rPr lang="fr-FR" sz="1000" b="1" kern="1200" dirty="0" err="1">
                          <a:solidFill>
                            <a:schemeClr val="tx1"/>
                          </a:solidFill>
                          <a:latin typeface="Arial" panose="020B0604020202020204" pitchFamily="34" charset="0"/>
                          <a:ea typeface="+mn-ea"/>
                          <a:cs typeface="Arial" panose="020B0604020202020204" pitchFamily="34" charset="0"/>
                        </a:rPr>
                        <a:t>Analyst</a:t>
                      </a:r>
                      <a:r>
                        <a:rPr lang="fr-FR" sz="1000" b="1" kern="1200">
                          <a:solidFill>
                            <a:schemeClr val="tx1"/>
                          </a:solidFill>
                          <a:latin typeface="Arial" panose="020B0604020202020204" pitchFamily="34" charset="0"/>
                          <a:ea typeface="+mn-ea"/>
                          <a:cs typeface="Arial" panose="020B0604020202020204" pitchFamily="34" charset="0"/>
                        </a:rPr>
                        <a:t> (</a:t>
                      </a:r>
                      <a:r>
                        <a:rPr lang="fr-FR" sz="1000" b="1" kern="1200" dirty="0">
                          <a:solidFill>
                            <a:schemeClr val="tx1"/>
                          </a:solidFill>
                          <a:latin typeface="Arial" panose="020B0604020202020204" pitchFamily="34" charset="0"/>
                          <a:ea typeface="+mn-ea"/>
                          <a:cs typeface="Arial" panose="020B0604020202020204" pitchFamily="34" charset="0"/>
                        </a:rPr>
                        <a:t>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OPCO hebdomadaires avec les entités, IT, commerciaux, etc.</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Analyses de données (exemple : comparaison existant / cible)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Mise en place de </a:t>
                      </a:r>
                      <a:r>
                        <a:rPr lang="fr-FR" sz="1000" kern="1200" dirty="0" err="1">
                          <a:solidFill>
                            <a:schemeClr val="tx1"/>
                          </a:solidFill>
                          <a:latin typeface="+mn-lt"/>
                          <a:ea typeface="+mn-ea"/>
                          <a:cs typeface="+mn-cs"/>
                        </a:rPr>
                        <a:t>dashboards</a:t>
                      </a:r>
                      <a:r>
                        <a:rPr lang="fr-FR" sz="1000" kern="1200" dirty="0">
                          <a:solidFill>
                            <a:schemeClr val="tx1"/>
                          </a:solidFill>
                          <a:latin typeface="+mn-lt"/>
                          <a:ea typeface="+mn-ea"/>
                          <a:cs typeface="+mn-cs"/>
                        </a:rPr>
                        <a:t> via outils de visualisation (BO)</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Rédaction de la note opérationnelle pour l'utilisation correcte de l'outil</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bl>
          </a:graphicData>
        </a:graphic>
      </p:graphicFrame>
      <p:sp>
        <p:nvSpPr>
          <p:cNvPr id="2" name="Titre 1">
            <a:extLst>
              <a:ext uri="{FF2B5EF4-FFF2-40B4-BE49-F238E27FC236}">
                <a16:creationId xmlns:a16="http://schemas.microsoft.com/office/drawing/2014/main" id="{3E998C34-5F0A-EA3D-B449-58A47AA22942}"/>
              </a:ext>
            </a:extLst>
          </p:cNvPr>
          <p:cNvSpPr>
            <a:spLocks noGrp="1"/>
          </p:cNvSpPr>
          <p:nvPr>
            <p:ph type="title"/>
          </p:nvPr>
        </p:nvSpPr>
        <p:spPr/>
        <p:txBody>
          <a:bodyPr vert="horz"/>
          <a:lstStyle/>
          <a:p>
            <a:r>
              <a:rPr lang="fr-FR" noProof="0" dirty="0"/>
              <a:t>AYMERIC CORBIZET</a:t>
            </a:r>
          </a:p>
        </p:txBody>
      </p:sp>
      <p:sp>
        <p:nvSpPr>
          <p:cNvPr id="3" name="Espace réservé du numéro de diapositive 2">
            <a:extLst>
              <a:ext uri="{FF2B5EF4-FFF2-40B4-BE49-F238E27FC236}">
                <a16:creationId xmlns:a16="http://schemas.microsoft.com/office/drawing/2014/main" id="{990F9C6F-0DBA-2F4B-4291-D449F6D604EB}"/>
              </a:ext>
            </a:extLst>
          </p:cNvPr>
          <p:cNvSpPr>
            <a:spLocks noGrp="1"/>
          </p:cNvSpPr>
          <p:nvPr>
            <p:ph type="sldNum" sz="quarter" idx="11"/>
          </p:nvPr>
        </p:nvSpPr>
        <p:spPr/>
        <p:txBody>
          <a:bodyPr/>
          <a:lstStyle/>
          <a:p>
            <a:fld id="{BE9517EC-C298-4848-B090-11602D956FCE}" type="slidenum">
              <a:rPr lang="fr-FR" noProof="0" smtClean="0"/>
              <a:pPr/>
              <a:t>3</a:t>
            </a:fld>
            <a:endParaRPr lang="fr-FR" noProof="0"/>
          </a:p>
        </p:txBody>
      </p:sp>
      <p:sp>
        <p:nvSpPr>
          <p:cNvPr id="5" name="Espace réservé de la date 4">
            <a:extLst>
              <a:ext uri="{FF2B5EF4-FFF2-40B4-BE49-F238E27FC236}">
                <a16:creationId xmlns:a16="http://schemas.microsoft.com/office/drawing/2014/main" id="{7919CFE8-37DE-6F8A-11CD-2A28A5ED0F16}"/>
              </a:ext>
            </a:extLst>
          </p:cNvPr>
          <p:cNvSpPr>
            <a:spLocks noGrp="1"/>
          </p:cNvSpPr>
          <p:nvPr>
            <p:ph type="dt" sz="half" idx="2"/>
          </p:nvPr>
        </p:nvSpPr>
        <p:spPr/>
        <p:txBody>
          <a:bodyPr/>
          <a:lstStyle/>
          <a:p>
            <a:fld id="{05EECF77-BC25-41C0-A0EF-6A4B97F069C1}" type="datetime1">
              <a:rPr lang="fr-FR" noProof="0" smtClean="0"/>
              <a:t>03/04/2025</a:t>
            </a:fld>
            <a:endParaRPr lang="fr-FR" noProof="0"/>
          </a:p>
        </p:txBody>
      </p:sp>
      <p:sp>
        <p:nvSpPr>
          <p:cNvPr id="15" name="Forme libre : forme 14">
            <a:extLst>
              <a:ext uri="{FF2B5EF4-FFF2-40B4-BE49-F238E27FC236}">
                <a16:creationId xmlns:a16="http://schemas.microsoft.com/office/drawing/2014/main" id="{250EBCDA-6CF2-A975-1D1C-9E8A4CBF1432}"/>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449A3906-0274-09F6-40C4-CF6C09450FB3}"/>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2344B70A-7D33-5DCD-63F3-F2D08413A1F8}"/>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EF24F3F5-E88E-245A-8B22-5C3AB93D02B8}"/>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1215846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4E6-0FB2-A25B-B3EC-B23D8B666B8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813216-06A6-4E8A-62E2-800309429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4745F0F-6CC8-9EA2-44B3-613FFB4E16F4}"/>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B54734BF-408B-A5A6-8E53-D384E930AF6A}"/>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AN</a:t>
            </a:r>
          </a:p>
          <a:p>
            <a:r>
              <a:rPr lang="fr-FR" sz="1600" b="1" dirty="0">
                <a:solidFill>
                  <a:schemeClr val="tx2"/>
                </a:solidFill>
                <a:latin typeface="+mj-lt"/>
              </a:rPr>
              <a:t>CONSULTANT</a:t>
            </a:r>
            <a:endParaRPr lang="fr-FR" sz="900" b="1" dirty="0">
              <a:solidFill>
                <a:schemeClr val="tx2"/>
              </a:solidFill>
              <a:latin typeface="+mj-lt"/>
            </a:endParaRPr>
          </a:p>
          <a:p>
            <a:r>
              <a:rPr lang="fr-FR" sz="900" b="1" dirty="0">
                <a:solidFill>
                  <a:schemeClr val="tx2"/>
                </a:solidFill>
                <a:latin typeface="+mj-lt"/>
              </a:rPr>
              <a:t>2 ANS D’EXPÉRIENCE</a:t>
            </a:r>
          </a:p>
        </p:txBody>
      </p:sp>
      <p:sp>
        <p:nvSpPr>
          <p:cNvPr id="17" name="ZoneTexte 16">
            <a:extLst>
              <a:ext uri="{FF2B5EF4-FFF2-40B4-BE49-F238E27FC236}">
                <a16:creationId xmlns:a16="http://schemas.microsoft.com/office/drawing/2014/main" id="{2EF715D1-E2C0-623A-019B-795D0059A215}"/>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a:spcBef>
                <a:spcPts val="600"/>
              </a:spcBef>
              <a:spcAft>
                <a:spcPts val="400"/>
              </a:spcAft>
              <a:buClr>
                <a:schemeClr val="tx2"/>
              </a:buClr>
            </a:pPr>
            <a:r>
              <a:rPr lang="fr-FR" sz="1100" dirty="0"/>
              <a:t>AN est Data Consultant, avec 2 ans d’expérience dans le conseil. Rigoureux, il maîtrise l’analyse de données et la retranscription des besoins exprimés par les métiers en fonctionnalités adaptées, notamment en matière de data visualisation sous </a:t>
            </a:r>
            <a:r>
              <a:rPr lang="fr-FR" sz="1100" dirty="0" err="1"/>
              <a:t>PowerBI</a:t>
            </a:r>
            <a:r>
              <a:rPr lang="fr-FR" sz="1100" dirty="0"/>
              <a:t>. AN a pu participer sur un projet structurant de développement de modèles de données et de création  et déploiement de </a:t>
            </a:r>
            <a:r>
              <a:rPr lang="fr-FR" sz="1100" dirty="0" err="1"/>
              <a:t>dashboards</a:t>
            </a:r>
            <a:r>
              <a:rPr lang="fr-FR" sz="1100" dirty="0"/>
              <a:t> orientés vers différents besoins métiers de la </a:t>
            </a:r>
            <a:r>
              <a:rPr lang="fr-FR" sz="1100" dirty="0" err="1"/>
              <a:t>banque.Dynamique</a:t>
            </a:r>
            <a:r>
              <a:rPr lang="fr-FR" sz="1100" dirty="0"/>
              <a:t>, adaptable et professionnel, AN mènera à bien tous les projets qui lui seront confiés.</a:t>
            </a:r>
          </a:p>
        </p:txBody>
      </p:sp>
      <p:sp>
        <p:nvSpPr>
          <p:cNvPr id="19" name="Rectangle 18">
            <a:extLst>
              <a:ext uri="{FF2B5EF4-FFF2-40B4-BE49-F238E27FC236}">
                <a16:creationId xmlns:a16="http://schemas.microsoft.com/office/drawing/2014/main" id="{1D91A36C-F664-7314-031B-E426B422B119}"/>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39950EA-6B3B-EF94-950C-387E90D2E13F}"/>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2E3765A4-DBB1-ED99-E44D-40F01692E8A5}"/>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8A75365B-5E9A-F08F-0501-A1A11756CF58}"/>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A893A51-A485-502E-6066-B03D682B0809}"/>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MSc – Data Science &amp; Digital Marketing - </a:t>
            </a:r>
            <a:r>
              <a:rPr lang="en-GB" sz="1000" dirty="0" err="1">
                <a:solidFill>
                  <a:schemeClr val="bg1"/>
                </a:solidFill>
              </a:rPr>
              <a:t>EmLyon</a:t>
            </a:r>
            <a:r>
              <a:rPr lang="en-GB" sz="1000" dirty="0">
                <a:solidFill>
                  <a:schemeClr val="bg1"/>
                </a:solidFill>
              </a:rPr>
              <a:t> – Paris</a:t>
            </a:r>
          </a:p>
          <a:p>
            <a:pPr marL="171450" indent="-171450">
              <a:buClr>
                <a:schemeClr val="tx2"/>
              </a:buClr>
              <a:buFont typeface="Arial" panose="020B0604020202020204" pitchFamily="34" charset="0"/>
              <a:buChar char="•"/>
            </a:pPr>
            <a:r>
              <a:rPr lang="en-GB" sz="1000" dirty="0">
                <a:solidFill>
                  <a:schemeClr val="bg1"/>
                </a:solidFill>
              </a:rPr>
              <a:t>Bachelor - International Trade and Economics - Nanjing - Chine</a:t>
            </a:r>
          </a:p>
        </p:txBody>
      </p:sp>
      <p:sp>
        <p:nvSpPr>
          <p:cNvPr id="41" name="Forme libre : forme 40">
            <a:extLst>
              <a:ext uri="{FF2B5EF4-FFF2-40B4-BE49-F238E27FC236}">
                <a16:creationId xmlns:a16="http://schemas.microsoft.com/office/drawing/2014/main" id="{62FE87AB-0295-E546-D82C-79A14BB2D3D2}"/>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CDD217B2-CFF5-0725-8BF6-9E6EBB7F97D7}"/>
              </a:ext>
            </a:extLst>
          </p:cNvPr>
          <p:cNvSpPr txBox="1"/>
          <p:nvPr/>
        </p:nvSpPr>
        <p:spPr>
          <a:xfrm>
            <a:off x="4862670" y="2414547"/>
            <a:ext cx="6957855" cy="2572179"/>
          </a:xfrm>
          <a:prstGeom prst="rect">
            <a:avLst/>
          </a:prstGeom>
          <a:noFill/>
        </p:spPr>
        <p:txBody>
          <a:bodyPr wrap="square" rtlCol="0">
            <a:spAutoFit/>
          </a:bodyPr>
          <a:lstStyle/>
          <a:p>
            <a:r>
              <a:rPr lang="fr-FR" sz="1000" b="1" dirty="0">
                <a:solidFill>
                  <a:schemeClr val="tx2"/>
                </a:solidFill>
              </a:rPr>
              <a:t>BPCE : Analyste </a:t>
            </a:r>
            <a:r>
              <a:rPr lang="fr-FR" sz="1000" b="1" dirty="0" err="1">
                <a:solidFill>
                  <a:schemeClr val="tx2"/>
                </a:solidFill>
              </a:rPr>
              <a:t>Alteryx</a:t>
            </a:r>
            <a:r>
              <a:rPr lang="fr-FR" sz="1000" b="1" dirty="0">
                <a:solidFill>
                  <a:schemeClr val="tx2"/>
                </a:solidFill>
              </a:rPr>
              <a:t> dans le cadre d’une intégration de l’outil (XX mois)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Intégration d’</a:t>
            </a:r>
            <a:r>
              <a:rPr lang="fr-FR" altLang="fr-FR" sz="1000" dirty="0" err="1">
                <a:solidFill>
                  <a:schemeClr val="dk1"/>
                </a:solidFill>
                <a:cs typeface="Arial"/>
              </a:rPr>
              <a:t>Alteryx</a:t>
            </a:r>
            <a:r>
              <a:rPr lang="fr-FR" altLang="fr-FR" sz="1000" dirty="0">
                <a:solidFill>
                  <a:schemeClr val="dk1"/>
                </a:solidFill>
                <a:cs typeface="Arial"/>
              </a:rPr>
              <a:t> comme ETL de référence pour alimenter les rapports de différentes équipes métier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Développement et déploiement d’une quinzaine de rapports et tableaux de bord automatisés pour les métiers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Formation des utilisateurs et futurs propriétaires de produits sur les aspects techniques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altLang="fr-FR" sz="1000" dirty="0">
              <a:solidFill>
                <a:schemeClr val="dk1"/>
              </a:solidFill>
              <a:cs typeface="Arial"/>
            </a:endParaRPr>
          </a:p>
          <a:p>
            <a:r>
              <a:rPr lang="fr-FR" sz="1000" b="1" dirty="0">
                <a:solidFill>
                  <a:schemeClr val="tx2"/>
                </a:solidFill>
              </a:rPr>
              <a:t>Pernod-Ricard : Analyste contrôle de gestion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Analyste en contrôle au sein du département 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Gestion des scénarios dans le cadre de l’exercice budgétaires et production d’analyses et de rapports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Développement de nouveaux rapports dans Power BI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Automatisation de tâche lié à la manipulation de données pour le contrôle de gestion</a:t>
            </a:r>
          </a:p>
          <a:p>
            <a:endParaRPr lang="fr-FR" sz="1000" dirty="0"/>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sz="1000" dirty="0"/>
          </a:p>
        </p:txBody>
      </p:sp>
      <p:sp>
        <p:nvSpPr>
          <p:cNvPr id="2" name="Espace réservé de la date 1">
            <a:extLst>
              <a:ext uri="{FF2B5EF4-FFF2-40B4-BE49-F238E27FC236}">
                <a16:creationId xmlns:a16="http://schemas.microsoft.com/office/drawing/2014/main" id="{9D42D67A-EF25-6B3E-47BF-86B275CA964C}"/>
              </a:ext>
            </a:extLst>
          </p:cNvPr>
          <p:cNvSpPr>
            <a:spLocks noGrp="1"/>
          </p:cNvSpPr>
          <p:nvPr>
            <p:ph type="dt" sz="half" idx="2"/>
          </p:nvPr>
        </p:nvSpPr>
        <p:spPr/>
        <p:txBody>
          <a:bodyPr/>
          <a:lstStyle/>
          <a:p>
            <a:fld id="{A234AAA3-D3BD-4DCA-8674-DDCEC63B7531}" type="datetime1">
              <a:rPr lang="fr-FR" smtClean="0"/>
              <a:t>31/03/2025</a:t>
            </a:fld>
            <a:endParaRPr lang="fr-FR"/>
          </a:p>
        </p:txBody>
      </p:sp>
      <p:sp>
        <p:nvSpPr>
          <p:cNvPr id="4" name="Espace réservé du pied de page 3">
            <a:extLst>
              <a:ext uri="{FF2B5EF4-FFF2-40B4-BE49-F238E27FC236}">
                <a16:creationId xmlns:a16="http://schemas.microsoft.com/office/drawing/2014/main" id="{98D8F2F1-1E9A-7686-E86C-636938D6BB67}"/>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65816A9A-094B-B61E-2CA8-20F903273B11}"/>
              </a:ext>
            </a:extLst>
          </p:cNvPr>
          <p:cNvSpPr>
            <a:spLocks noGrp="1"/>
          </p:cNvSpPr>
          <p:nvPr>
            <p:ph type="sldNum" sz="quarter" idx="11"/>
          </p:nvPr>
        </p:nvSpPr>
        <p:spPr/>
        <p:txBody>
          <a:bodyPr/>
          <a:lstStyle/>
          <a:p>
            <a:fld id="{BD9892E7-E91F-405F-A6AB-FE5AB3285265}" type="slidenum">
              <a:rPr lang="fr-FR" smtClean="0"/>
              <a:pPr/>
              <a:t>4</a:t>
            </a:fld>
            <a:endParaRPr lang="fr-FR"/>
          </a:p>
        </p:txBody>
      </p:sp>
      <p:sp>
        <p:nvSpPr>
          <p:cNvPr id="18" name="Rectangle 17">
            <a:extLst>
              <a:ext uri="{FF2B5EF4-FFF2-40B4-BE49-F238E27FC236}">
                <a16:creationId xmlns:a16="http://schemas.microsoft.com/office/drawing/2014/main" id="{D051802A-5E9C-4914-902E-2690397A9806}"/>
              </a:ext>
            </a:extLst>
          </p:cNvPr>
          <p:cNvSpPr/>
          <p:nvPr/>
        </p:nvSpPr>
        <p:spPr>
          <a:xfrm>
            <a:off x="380995" y="376069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Gestion de projets; Animation des Comités Projet; Préparation des instances COPIL; Production notes/compte-rendu</a:t>
            </a:r>
          </a:p>
          <a:p>
            <a:pPr marL="171450" indent="-171450">
              <a:buClr>
                <a:schemeClr val="tx2"/>
              </a:buClr>
              <a:buFont typeface="Arial" panose="020B0604020202020204" pitchFamily="34" charset="0"/>
              <a:buChar char="•"/>
            </a:pPr>
            <a:r>
              <a:rPr lang="fr-FR" sz="1000" dirty="0">
                <a:solidFill>
                  <a:schemeClr val="bg1"/>
                </a:solidFill>
              </a:rPr>
              <a:t>Animation de formations; Data Science/BI; Conception et création de Dashboard; Automatisation de process</a:t>
            </a:r>
          </a:p>
          <a:p>
            <a:pPr marL="171450" indent="-171450">
              <a:buClr>
                <a:schemeClr val="tx2"/>
              </a:buClr>
              <a:buFont typeface="Arial" panose="020B0604020202020204" pitchFamily="34" charset="0"/>
              <a:buChar char="•"/>
            </a:pPr>
            <a:r>
              <a:rPr lang="fr-FR" sz="1000" dirty="0">
                <a:solidFill>
                  <a:schemeClr val="bg1"/>
                </a:solidFill>
              </a:rPr>
              <a:t>Conception et développement de solutions analytiques &amp; de modèles de données; Développement en Python et R pour l’analyse de données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D8AF452A-8677-DD91-548D-9B9D94BE65E2}"/>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7F6499D3-A4A4-BC89-9048-E665BCD8799B}"/>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Python: Pandas, </a:t>
            </a:r>
            <a:r>
              <a:rPr lang="fr-FR" sz="1000" dirty="0" err="1">
                <a:solidFill>
                  <a:schemeClr val="bg1"/>
                </a:solidFill>
              </a:rPr>
              <a:t>Matplotlib</a:t>
            </a:r>
            <a:r>
              <a:rPr lang="fr-FR" sz="1000" dirty="0">
                <a:solidFill>
                  <a:schemeClr val="bg1"/>
                </a:solidFill>
              </a:rPr>
              <a:t>, </a:t>
            </a:r>
            <a:r>
              <a:rPr lang="fr-FR" sz="1000" dirty="0" err="1">
                <a:solidFill>
                  <a:schemeClr val="bg1"/>
                </a:solidFill>
              </a:rPr>
              <a:t>Scikit-Learn</a:t>
            </a:r>
            <a:r>
              <a:rPr lang="fr-FR" sz="1000" dirty="0">
                <a:solidFill>
                  <a:schemeClr val="bg1"/>
                </a:solidFill>
              </a:rPr>
              <a:t>, </a:t>
            </a:r>
            <a:r>
              <a:rPr lang="fr-FR" sz="1000" dirty="0" err="1">
                <a:solidFill>
                  <a:schemeClr val="bg1"/>
                </a:solidFill>
              </a:rPr>
              <a:t>Numpy</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R </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Azure</a:t>
            </a:r>
          </a:p>
          <a:p>
            <a:pPr marL="171450" indent="-171450">
              <a:buClr>
                <a:schemeClr val="tx2"/>
              </a:buClr>
              <a:buFont typeface="Arial" panose="020B0604020202020204" pitchFamily="34" charset="0"/>
              <a:buChar char="•"/>
            </a:pPr>
            <a:r>
              <a:rPr lang="fr-FR" sz="1000" dirty="0">
                <a:solidFill>
                  <a:schemeClr val="bg1"/>
                </a:solidFill>
              </a:rPr>
              <a:t>Tableau</a:t>
            </a:r>
          </a:p>
          <a:p>
            <a:pPr marL="171450" indent="-171450">
              <a:buClr>
                <a:schemeClr val="tx2"/>
              </a:buClr>
              <a:buFont typeface="Arial" panose="020B0604020202020204" pitchFamily="34" charset="0"/>
              <a:buChar char="•"/>
            </a:pPr>
            <a:r>
              <a:rPr lang="fr-FR" sz="1000" dirty="0" err="1">
                <a:solidFill>
                  <a:schemeClr val="bg1"/>
                </a:solidFill>
              </a:rPr>
              <a:t>Alteryx</a:t>
            </a:r>
            <a:endParaRPr lang="fr-FR" sz="1000" dirty="0">
              <a:solidFill>
                <a:schemeClr val="bg1"/>
              </a:solidFill>
            </a:endParaRPr>
          </a:p>
        </p:txBody>
      </p:sp>
      <p:pic>
        <p:nvPicPr>
          <p:cNvPr id="44" name="Image 43">
            <a:extLst>
              <a:ext uri="{FF2B5EF4-FFF2-40B4-BE49-F238E27FC236}">
                <a16:creationId xmlns:a16="http://schemas.microsoft.com/office/drawing/2014/main" id="{BFD1D391-5867-DFE5-4AE6-50129F94D478}"/>
              </a:ext>
            </a:extLst>
          </p:cNvPr>
          <p:cNvPicPr>
            <a:picLocks noChangeAspect="1"/>
          </p:cNvPicPr>
          <p:nvPr/>
        </p:nvPicPr>
        <p:blipFill>
          <a:blip r:embed="rId5"/>
          <a:stretch>
            <a:fillRect/>
          </a:stretch>
        </p:blipFill>
        <p:spPr>
          <a:xfrm>
            <a:off x="4340560" y="3925419"/>
            <a:ext cx="420647" cy="412935"/>
          </a:xfrm>
          <a:prstGeom prst="rect">
            <a:avLst/>
          </a:prstGeom>
        </p:spPr>
      </p:pic>
      <p:pic>
        <p:nvPicPr>
          <p:cNvPr id="45" name="Picture 2" descr="upload.wikimedia.org/wikipedia/commons/thumb/6/...">
            <a:extLst>
              <a:ext uri="{FF2B5EF4-FFF2-40B4-BE49-F238E27FC236}">
                <a16:creationId xmlns:a16="http://schemas.microsoft.com/office/drawing/2014/main" id="{60AFC099-E065-4638-9D55-8F894C5D4F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9906332-9154-60F0-6764-E216855963E7}"/>
              </a:ext>
            </a:extLst>
          </p:cNvPr>
          <p:cNvSpPr txBox="1"/>
          <p:nvPr/>
        </p:nvSpPr>
        <p:spPr>
          <a:xfrm rot="840714">
            <a:off x="8266481" y="-215012"/>
            <a:ext cx="4288610" cy="1200329"/>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1</a:t>
            </a:r>
          </a:p>
          <a:p>
            <a:r>
              <a:rPr lang="fr-FR" dirty="0">
                <a:solidFill>
                  <a:schemeClr val="bg1"/>
                </a:solidFill>
              </a:rPr>
              <a:t>INITIALES A LA PLACE DE L’IDENTITE</a:t>
            </a:r>
          </a:p>
          <a:p>
            <a:r>
              <a:rPr lang="fr-FR" dirty="0">
                <a:solidFill>
                  <a:schemeClr val="bg1"/>
                </a:solidFill>
              </a:rPr>
              <a:t>ENLEVER LA PHOTO</a:t>
            </a:r>
          </a:p>
        </p:txBody>
      </p:sp>
    </p:spTree>
    <p:extLst>
      <p:ext uri="{BB962C8B-B14F-4D97-AF65-F5344CB8AC3E}">
        <p14:creationId xmlns:p14="http://schemas.microsoft.com/office/powerpoint/2010/main" val="1404383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A3CA-4CF7-DD9C-6FAF-9688C63274E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0C14E42-F304-CABA-980A-2F041D6B7C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78A35FA4-3707-532D-B454-B609EE7609B5}"/>
              </a:ext>
            </a:extLst>
          </p:cNvPr>
          <p:cNvGraphicFramePr>
            <a:graphicFrameLocks/>
          </p:cNvGraphicFramePr>
          <p:nvPr>
            <p:extLst>
              <p:ext uri="{D42A27DB-BD31-4B8C-83A1-F6EECF244321}">
                <p14:modId xmlns:p14="http://schemas.microsoft.com/office/powerpoint/2010/main" val="1106053257"/>
              </p:ext>
            </p:extLst>
          </p:nvPr>
        </p:nvGraphicFramePr>
        <p:xfrm>
          <a:off x="370870" y="1984675"/>
          <a:ext cx="11430002" cy="1954014"/>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lnSpc>
                          <a:spcPct val="100000"/>
                        </a:lnSpc>
                        <a:spcBef>
                          <a:spcPts val="0"/>
                        </a:spcBef>
                        <a:spcAft>
                          <a:spcPts val="0"/>
                        </a:spcAft>
                      </a:pPr>
                      <a:r>
                        <a:rPr lang="fr-FR" sz="1000" b="1" kern="1200" dirty="0">
                          <a:solidFill>
                            <a:schemeClr val="tx1"/>
                          </a:solidFill>
                          <a:latin typeface="+mn-lt"/>
                          <a:ea typeface="+mn-ea"/>
                          <a:cs typeface="+mn-cs"/>
                        </a:rPr>
                        <a:t>LA PORTE DU HAINAUT</a:t>
                      </a:r>
                    </a:p>
                    <a:p>
                      <a:pPr marL="0" algn="l" defTabSz="557240" rtl="0" eaLnBrk="1" latinLnBrk="0" hangingPunct="1">
                        <a:lnSpc>
                          <a:spcPct val="100000"/>
                        </a:lnSpc>
                        <a:spcBef>
                          <a:spcPts val="0"/>
                        </a:spcBef>
                        <a:spcAft>
                          <a:spcPts val="0"/>
                        </a:spcAft>
                      </a:pPr>
                      <a:r>
                        <a:rPr lang="fr-FR" sz="1000" b="0" i="1" u="none"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fr-FR" sz="1000" spc="-1" noProof="1">
                          <a:uFill>
                            <a:solidFill>
                              <a:srgbClr val="FFFFFF"/>
                            </a:solidFill>
                          </a:uFill>
                        </a:rPr>
                        <a:t>Mise en place de la cellule de pilotage du programme « habiter mieux » intégrant la mise en œuvre d’un outil de suivi des aides à la rénovation</a:t>
                      </a:r>
                    </a:p>
                    <a:p>
                      <a:endParaRPr lang="fr-FR" sz="1000" spc="-1" noProof="1">
                        <a:uFill>
                          <a:solidFill>
                            <a:srgbClr val="FFFFFF"/>
                          </a:solidFill>
                        </a:uFill>
                      </a:endParaRPr>
                    </a:p>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2"/>
                          </a:solidFill>
                          <a:latin typeface="Arial" panose="020B0604020202020204" pitchFamily="34" charset="0"/>
                          <a:ea typeface="+mn-ea"/>
                          <a:cs typeface="Arial" panose="020B0604020202020204" pitchFamily="34" charset="0"/>
                        </a:rPr>
                        <a:t>TITRE DU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Coordination du projet, suivis, </a:t>
                      </a:r>
                      <a:r>
                        <a:rPr lang="fr-FR" sz="1000" kern="1200" dirty="0" err="1">
                          <a:solidFill>
                            <a:schemeClr val="tx1"/>
                          </a:solidFill>
                          <a:latin typeface="+mn-lt"/>
                          <a:ea typeface="+mn-ea"/>
                          <a:cs typeface="+mn-cs"/>
                        </a:rPr>
                        <a:t>reportings</a:t>
                      </a:r>
                      <a:r>
                        <a:rPr lang="fr-FR" sz="1000" kern="1200" dirty="0">
                          <a:solidFill>
                            <a:schemeClr val="tx1"/>
                          </a:solidFill>
                          <a:latin typeface="+mn-lt"/>
                          <a:ea typeface="+mn-ea"/>
                          <a:cs typeface="+mn-cs"/>
                        </a:rPr>
                        <a:t>, animation des comités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Redéfinition des processus de travail et production du livret des procédures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Production du cahier des charges de l’outil de suivi du dispositif et suivi de son développement (intégrant les tableaux de bord de suivi-évaluation)</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Construction d’un plan de formation, et sécurisation de la dispense des formations à l’outil</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Animation du processus de co-construction du plan de communication externe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Suivi du projet (budget, planning, risques…)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lnSpc>
                          <a:spcPct val="100000"/>
                        </a:lnSpc>
                        <a:spcBef>
                          <a:spcPts val="0"/>
                        </a:spcBef>
                        <a:spcAft>
                          <a:spcPts val="0"/>
                        </a:spcAft>
                      </a:pPr>
                      <a:endParaRPr lang="fr-FR" sz="1000" b="0" i="1" u="none"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316132774"/>
                  </a:ext>
                </a:extLst>
              </a:tr>
            </a:tbl>
          </a:graphicData>
        </a:graphic>
      </p:graphicFrame>
      <p:sp>
        <p:nvSpPr>
          <p:cNvPr id="2" name="Titre 1">
            <a:extLst>
              <a:ext uri="{FF2B5EF4-FFF2-40B4-BE49-F238E27FC236}">
                <a16:creationId xmlns:a16="http://schemas.microsoft.com/office/drawing/2014/main" id="{1AF9BF3B-533F-D2F2-0578-1AFB451ED9EF}"/>
              </a:ext>
            </a:extLst>
          </p:cNvPr>
          <p:cNvSpPr>
            <a:spLocks noGrp="1"/>
          </p:cNvSpPr>
          <p:nvPr>
            <p:ph type="title"/>
          </p:nvPr>
        </p:nvSpPr>
        <p:spPr/>
        <p:txBody>
          <a:bodyPr vert="horz"/>
          <a:lstStyle/>
          <a:p>
            <a:r>
              <a:rPr lang="fr-FR" noProof="0" dirty="0"/>
              <a:t>AN</a:t>
            </a:r>
          </a:p>
        </p:txBody>
      </p:sp>
      <p:sp>
        <p:nvSpPr>
          <p:cNvPr id="3" name="Espace réservé du numéro de diapositive 2">
            <a:extLst>
              <a:ext uri="{FF2B5EF4-FFF2-40B4-BE49-F238E27FC236}">
                <a16:creationId xmlns:a16="http://schemas.microsoft.com/office/drawing/2014/main" id="{AD3E12AD-161A-772A-ACED-43BD23AEE0E1}"/>
              </a:ext>
            </a:extLst>
          </p:cNvPr>
          <p:cNvSpPr>
            <a:spLocks noGrp="1"/>
          </p:cNvSpPr>
          <p:nvPr>
            <p:ph type="sldNum" sz="quarter" idx="11"/>
          </p:nvPr>
        </p:nvSpPr>
        <p:spPr/>
        <p:txBody>
          <a:bodyPr/>
          <a:lstStyle/>
          <a:p>
            <a:fld id="{BE9517EC-C298-4848-B090-11602D956FCE}" type="slidenum">
              <a:rPr lang="fr-FR" noProof="0" smtClean="0"/>
              <a:pPr/>
              <a:t>5</a:t>
            </a:fld>
            <a:endParaRPr lang="fr-FR" noProof="0"/>
          </a:p>
        </p:txBody>
      </p:sp>
      <p:sp>
        <p:nvSpPr>
          <p:cNvPr id="5" name="Espace réservé de la date 4">
            <a:extLst>
              <a:ext uri="{FF2B5EF4-FFF2-40B4-BE49-F238E27FC236}">
                <a16:creationId xmlns:a16="http://schemas.microsoft.com/office/drawing/2014/main" id="{A42E0615-C44C-11AA-6D65-67512BB8C8D6}"/>
              </a:ext>
            </a:extLst>
          </p:cNvPr>
          <p:cNvSpPr>
            <a:spLocks noGrp="1"/>
          </p:cNvSpPr>
          <p:nvPr>
            <p:ph type="dt" sz="half" idx="2"/>
          </p:nvPr>
        </p:nvSpPr>
        <p:spPr/>
        <p:txBody>
          <a:bodyPr/>
          <a:lstStyle/>
          <a:p>
            <a:fld id="{05EECF77-BC25-41C0-A0EF-6A4B97F069C1}" type="datetime1">
              <a:rPr lang="fr-FR" noProof="0" smtClean="0"/>
              <a:t>31/03/2025</a:t>
            </a:fld>
            <a:endParaRPr lang="fr-FR" noProof="0"/>
          </a:p>
        </p:txBody>
      </p:sp>
      <p:sp>
        <p:nvSpPr>
          <p:cNvPr id="15" name="Forme libre : forme 14">
            <a:extLst>
              <a:ext uri="{FF2B5EF4-FFF2-40B4-BE49-F238E27FC236}">
                <a16:creationId xmlns:a16="http://schemas.microsoft.com/office/drawing/2014/main" id="{52449045-C9B8-3FEB-2A96-1F669FA3171C}"/>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B2CF22EF-85E8-C348-F0EE-1B5112C6D60B}"/>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52BB5303-F825-175A-0443-8E489E423F47}"/>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90665A96-11D6-39DC-EF44-C0EE8C546CBB}"/>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912A5A97-5686-5F8A-D147-69E15A4BE02A}"/>
              </a:ext>
            </a:extLst>
          </p:cNvPr>
          <p:cNvSpPr txBox="1"/>
          <p:nvPr/>
        </p:nvSpPr>
        <p:spPr>
          <a:xfrm rot="840714">
            <a:off x="8266481" y="-76513"/>
            <a:ext cx="4288610" cy="923330"/>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2</a:t>
            </a:r>
          </a:p>
          <a:p>
            <a:r>
              <a:rPr lang="fr-FR" dirty="0">
                <a:solidFill>
                  <a:schemeClr val="bg1"/>
                </a:solidFill>
              </a:rPr>
              <a:t>INITIALES A LA PLACE DE L’IDENTITE</a:t>
            </a:r>
          </a:p>
        </p:txBody>
      </p:sp>
    </p:spTree>
    <p:extLst>
      <p:ext uri="{BB962C8B-B14F-4D97-AF65-F5344CB8AC3E}">
        <p14:creationId xmlns:p14="http://schemas.microsoft.com/office/powerpoint/2010/main" val="2527697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BB03B-02D8-4150-8B36-F9BD50D9F5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1747</Words>
  <Application>Microsoft Office PowerPoint</Application>
  <PresentationFormat>Grand écran</PresentationFormat>
  <Paragraphs>174</Paragraphs>
  <Slides>5</Slides>
  <Notes>3</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5</vt:i4>
      </vt:variant>
    </vt:vector>
  </HeadingPairs>
  <TitlesOfParts>
    <vt:vector size="12" baseType="lpstr">
      <vt:lpstr>Aptos</vt:lpstr>
      <vt:lpstr>Arial</vt:lpstr>
      <vt:lpstr>Calibri</vt:lpstr>
      <vt:lpstr>Now</vt:lpstr>
      <vt:lpstr>Raleway</vt:lpstr>
      <vt:lpstr>2025 02_AMITA Conseil</vt:lpstr>
      <vt:lpstr>Diapositive think-cell</vt:lpstr>
      <vt:lpstr>Présentation PowerPoint</vt:lpstr>
      <vt:lpstr>AYMERIC CORBIZET</vt:lpstr>
      <vt:lpstr>AYMERIC CORBIZET</vt:lpstr>
      <vt:lpstr>Présentation PowerPoint</vt:lpstr>
      <vt:lpst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lastModifiedBy>Grégoire Sourdel</cp:lastModifiedBy>
  <cp:revision>33</cp:revision>
  <dcterms:created xsi:type="dcterms:W3CDTF">2023-07-04T06:45:58Z</dcterms:created>
  <dcterms:modified xsi:type="dcterms:W3CDTF">2025-04-03T08:04:27Z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