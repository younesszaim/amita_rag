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</p:sldMasterIdLst>
  <p:notesMasterIdLst>
    <p:notesMasterId r:id="rId9"/>
  </p:notesMasterIdLst>
  <p:handoutMasterIdLst>
    <p:handoutMasterId r:id="rId10"/>
  </p:handoutMasterIdLst>
  <p:sldIdLst>
    <p:sldId id="2147473144" r:id="rId5"/>
    <p:sldId id="2147473142" r:id="rId6"/>
    <p:sldId id="2147473166" r:id="rId7"/>
    <p:sldId id="2147473167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480"/>
    <a:srgbClr val="FA803D"/>
    <a:srgbClr val="353637"/>
    <a:srgbClr val="43A2BF"/>
    <a:srgbClr val="FFFFFF"/>
    <a:srgbClr val="B5E1EF"/>
    <a:srgbClr val="6AA6B7"/>
    <a:srgbClr val="AEC4DA"/>
    <a:srgbClr val="C9D7E7"/>
    <a:srgbClr val="161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B24B2C0-44A7-E859-F0F5-248C134869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95FBEB-AFF2-385C-9860-DC3C5A10E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ED521-90D3-4786-B7B2-29257DB33A99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C2FB3E-C108-C16D-1C58-DFC3617648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8B3C60-4ADE-17B5-A9E7-ED077B292D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D0581-994E-4E23-BE9A-FBA5982806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04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3FFD9-8027-4C6C-B719-3E33B2AEFA5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D49A-1064-457F-9288-ED9170BDB4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6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958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7D3B-D737-6FBF-D89E-5DB58BB6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D6A6E0-5CBA-9262-8D53-57F8CB86A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FB38C3-9AB6-D267-3C5F-F96E0C92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186B97-1E7E-E3B3-35F8-8FFA5B125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2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6170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8" name="Picture Placeholder 4">
            <a:extLst>
              <a:ext uri="{FF2B5EF4-FFF2-40B4-BE49-F238E27FC236}">
                <a16:creationId xmlns:a16="http://schemas.microsoft.com/office/drawing/2014/main" id="{0DABC13F-E722-938B-B2A7-E7F0C453039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6232126"/>
            <a:ext cx="3398399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3" name="Espace réservé du contenu 14">
            <a:extLst>
              <a:ext uri="{FF2B5EF4-FFF2-40B4-BE49-F238E27FC236}">
                <a16:creationId xmlns:a16="http://schemas.microsoft.com/office/drawing/2014/main" id="{E148F707-7F4A-452A-957D-A68A3040F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D6CB2A-A13C-0602-09B6-D12BA3E91498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A52835-DD73-95D3-1FCA-BEC25C36E413}"/>
              </a:ext>
            </a:extLst>
          </p:cNvPr>
          <p:cNvSpPr txBox="1"/>
          <p:nvPr/>
        </p:nvSpPr>
        <p:spPr>
          <a:xfrm>
            <a:off x="-1307963" y="1880092"/>
            <a:ext cx="1157769" cy="238102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Trois images de couverture personnalisées existent pour les bureaux de Paris, Niort et Nantes.</a:t>
            </a:r>
          </a:p>
          <a:p>
            <a:pPr rtl="0">
              <a:spcBef>
                <a:spcPts val="600"/>
              </a:spcBef>
            </a:pPr>
            <a:endParaRPr lang="fr-FR" sz="1000" b="0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dans un espace vide de la diapositive, puis sur </a:t>
            </a:r>
            <a:r>
              <a:rPr lang="fr-FR" sz="1000" b="1" spc="0" baseline="0" noProof="0">
                <a:latin typeface="+mn-lt"/>
              </a:rPr>
              <a:t>Diapositive de </a:t>
            </a:r>
            <a:r>
              <a:rPr lang="fr-FR" sz="1000" b="1" spc="0" baseline="0" noProof="0" err="1">
                <a:latin typeface="+mn-lt"/>
              </a:rPr>
              <a:t>titre_Personnalisable</a:t>
            </a:r>
            <a:endParaRPr lang="fr-FR" sz="1000" b="1" spc="0" baseline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6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170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254" y="1606555"/>
            <a:ext cx="7850745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7C0864-7829-C799-8722-32EE68C777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11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5589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1" y="2702734"/>
            <a:ext cx="5536800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62CB8C63-10F4-D080-DEBB-D6D14DB08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1" y="4171763"/>
            <a:ext cx="5536800" cy="615553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700" b="0" kern="1200" cap="none" baseline="0" dirty="0">
                <a:solidFill>
                  <a:srgbClr val="43A2B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Sous-titre de la présentation</a:t>
            </a:r>
          </a:p>
        </p:txBody>
      </p:sp>
      <p:pic>
        <p:nvPicPr>
          <p:cNvPr id="22" name="Espace réservé du contenu 14" descr="Une image contenant Police, Graphique, graphisme, capture d’écran&#10;&#10;Description générée automatiquement">
            <a:extLst>
              <a:ext uri="{FF2B5EF4-FFF2-40B4-BE49-F238E27FC236}">
                <a16:creationId xmlns:a16="http://schemas.microsoft.com/office/drawing/2014/main" id="{361737A8-8A52-2A97-77F8-8D7DBF70D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516" y="518616"/>
            <a:ext cx="3398244" cy="1533566"/>
          </a:xfrm>
          <a:prstGeom prst="rect">
            <a:avLst/>
          </a:prstGeom>
        </p:spPr>
      </p:pic>
      <p:sp>
        <p:nvSpPr>
          <p:cNvPr id="23" name="Espace réservé du pied de page 2">
            <a:extLst>
              <a:ext uri="{FF2B5EF4-FFF2-40B4-BE49-F238E27FC236}">
                <a16:creationId xmlns:a16="http://schemas.microsoft.com/office/drawing/2014/main" id="{0D4F6383-6F22-24BA-EB2D-43D439F7C189}"/>
              </a:ext>
            </a:extLst>
          </p:cNvPr>
          <p:cNvSpPr txBox="1">
            <a:spLocks/>
          </p:cNvSpPr>
          <p:nvPr/>
        </p:nvSpPr>
        <p:spPr>
          <a:xfrm>
            <a:off x="405392" y="6232126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27" name="Espace réservé du texte 13">
            <a:extLst>
              <a:ext uri="{FF2B5EF4-FFF2-40B4-BE49-F238E27FC236}">
                <a16:creationId xmlns:a16="http://schemas.microsoft.com/office/drawing/2014/main" id="{82948179-F907-438B-6216-BE02362C5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5306443"/>
            <a:ext cx="3398400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+mj-lt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B024DAB-970A-A95E-B527-DDAAC1E66A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748005A-86AE-5AF9-54E1-49B6AA7560A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5E5415-A25C-1D04-E049-BFFD02009B61}"/>
              </a:ext>
            </a:extLst>
          </p:cNvPr>
          <p:cNvSpPr txBox="1"/>
          <p:nvPr/>
        </p:nvSpPr>
        <p:spPr>
          <a:xfrm>
            <a:off x="-1307963" y="0"/>
            <a:ext cx="1157769" cy="468935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modifier l’image de couverture (à droite)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Insérer l’image souhaitée sur une autre diapositive.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Sélectionner l’image de couverture puis cliquer sur </a:t>
            </a:r>
            <a:r>
              <a:rPr lang="fr-FR" sz="1000" b="1" spc="0" baseline="0" noProof="0">
                <a:latin typeface="+mn-lt"/>
              </a:rPr>
              <a:t>Reproduire la mise en forme (CTRL+SHIFT+C)</a:t>
            </a:r>
            <a:r>
              <a:rPr lang="fr-FR" sz="1000" spc="0" baseline="0" noProof="0">
                <a:latin typeface="+mn-lt"/>
              </a:rPr>
              <a:t> 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Se rendre sur l’autre diapositive, </a:t>
            </a:r>
            <a:r>
              <a:rPr lang="fr-FR" sz="1000" b="1" spc="0" baseline="0" noProof="0">
                <a:latin typeface="+mn-lt"/>
              </a:rPr>
              <a:t>Reproduire la mise en forme (CTRL+SHIFT+V)</a:t>
            </a:r>
            <a:r>
              <a:rPr lang="fr-FR" sz="1000" spc="0" baseline="0" noProof="0">
                <a:latin typeface="+mn-lt"/>
              </a:rPr>
              <a:t> sur l’image souhaitée, puis cliquer sur </a:t>
            </a:r>
            <a:r>
              <a:rPr lang="fr-FR" sz="1000" b="1" spc="0" baseline="0" noProof="0">
                <a:latin typeface="+mn-lt"/>
              </a:rPr>
              <a:t>Copier</a:t>
            </a:r>
            <a:r>
              <a:rPr lang="fr-FR" sz="1000" spc="0" baseline="0" noProof="0">
                <a:latin typeface="+mn-lt"/>
              </a:rPr>
              <a:t>.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sur l’image de couverture puis </a:t>
            </a:r>
            <a:r>
              <a:rPr lang="fr-FR" sz="1000" b="1" spc="0" baseline="0" noProof="0">
                <a:latin typeface="+mn-lt"/>
              </a:rPr>
              <a:t>: changer d’image &gt; À partir du presse papier </a:t>
            </a:r>
          </a:p>
        </p:txBody>
      </p:sp>
    </p:spTree>
    <p:extLst>
      <p:ext uri="{BB962C8B-B14F-4D97-AF65-F5344CB8AC3E}">
        <p14:creationId xmlns:p14="http://schemas.microsoft.com/office/powerpoint/2010/main" val="25038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Personnali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8683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3" y="6232126"/>
            <a:ext cx="3398400" cy="365125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1050" b="0" cap="none" baseline="0" dirty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ts val="1000"/>
              </a:spcBef>
              <a:buFont typeface="+mj-lt"/>
              <a:buNone/>
            </a:pPr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13" name="Espace réservé du contenu 14">
            <a:extLst>
              <a:ext uri="{FF2B5EF4-FFF2-40B4-BE49-F238E27FC236}">
                <a16:creationId xmlns:a16="http://schemas.microsoft.com/office/drawing/2014/main" id="{A662533E-9044-50F4-6124-A854428AB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7587D82-E432-0963-A697-4CFE56F47A5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10" name="Espace réservé pour une image  8">
            <a:extLst>
              <a:ext uri="{FF2B5EF4-FFF2-40B4-BE49-F238E27FC236}">
                <a16:creationId xmlns:a16="http://schemas.microsoft.com/office/drawing/2014/main" id="{87E1669B-0B26-BB47-9924-6E636B429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5996" y="152400"/>
            <a:ext cx="5940424" cy="65532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637B34E-105B-3E7F-55FE-DC172C64C96F}"/>
              </a:ext>
            </a:extLst>
          </p:cNvPr>
          <p:cNvSpPr txBox="1"/>
          <p:nvPr/>
        </p:nvSpPr>
        <p:spPr>
          <a:xfrm>
            <a:off x="-1307963" y="1880092"/>
            <a:ext cx="1157769" cy="276574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Cliquez sur l’icone pour ajouter l’image de couverture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Dans l’explorateur de fichiers, rendez-vous dans </a:t>
            </a:r>
            <a:r>
              <a:rPr lang="fr-FR" sz="1000" b="1" spc="0" baseline="0" noProof="0">
                <a:latin typeface="+mn-lt"/>
              </a:rPr>
              <a:t>01_Essentiels &gt; 03 Thèmes et </a:t>
            </a:r>
            <a:r>
              <a:rPr lang="fr-FR" sz="1000" b="1" spc="0" baseline="0" noProof="0" err="1">
                <a:latin typeface="+mn-lt"/>
              </a:rPr>
              <a:t>templates</a:t>
            </a: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Choisissez parmi les images prédéfinies celle qui convient à votre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24495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0382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5234F8-94D3-C165-62E6-663182F5CF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28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9266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67A15B-ADFE-E002-39C3-0831F89573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77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758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D8198-8C95-89E2-D4DD-26835884EF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16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267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BD0B84-28D6-D743-1B40-DAC84CEB1E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92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035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31EDE-55F1-3AAA-3114-F0C522F81D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91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1210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85692"/>
            <a:ext cx="11430000" cy="695155"/>
          </a:xfrm>
        </p:spPr>
        <p:txBody>
          <a:bodyPr vert="horz" anchor="ctr"/>
          <a:lstStyle>
            <a:lvl1pPr rtl="0"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4917"/>
            <a:ext cx="11430003" cy="419204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9154"/>
            <a:ext cx="11430003" cy="626469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90000"/>
              </a:lnSpc>
            </a:pPr>
            <a:r>
              <a:rPr lang="fr-FR"/>
              <a:t>Sous titre</a:t>
            </a:r>
          </a:p>
        </p:txBody>
      </p:sp>
      <p:sp>
        <p:nvSpPr>
          <p:cNvPr id="5" name="Espace réservé de la date 10">
            <a:extLst>
              <a:ext uri="{FF2B5EF4-FFF2-40B4-BE49-F238E27FC236}">
                <a16:creationId xmlns:a16="http://schemas.microsoft.com/office/drawing/2014/main" id="{22AE12D9-7C4B-4DE4-134B-9CC71CD32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8871C8A-9DB9-41A2-9AC6-C4B190C41F7B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04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846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10">
            <a:extLst>
              <a:ext uri="{FF2B5EF4-FFF2-40B4-BE49-F238E27FC236}">
                <a16:creationId xmlns:a16="http://schemas.microsoft.com/office/drawing/2014/main" id="{7FD1B616-4341-3030-BFB9-20475C170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65BCA2E0-0322-4472-BF8D-C1C07EBADC96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022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2090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98800"/>
            <a:ext cx="7569001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983600"/>
            <a:ext cx="7569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DC7A2E00-9D9B-8C17-9A7A-C75861A07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BD07436-52DC-4409-8EE3-6E2A87171B43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6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466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7641002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3600"/>
            <a:ext cx="7641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98800"/>
            <a:ext cx="3708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983600"/>
            <a:ext cx="3708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C863AA0D-DCE2-4840-B50F-1FB5566C3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38DB7FC-3A29-4747-A142-8001527C812B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18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582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B65B5D9E-220C-683A-78B0-95CF6CB26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E5FB0A7-7F23-4E6A-9795-4773C0DDFEEE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0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2117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1143000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7" name="Espace réservé de la date 10">
            <a:extLst>
              <a:ext uri="{FF2B5EF4-FFF2-40B4-BE49-F238E27FC236}">
                <a16:creationId xmlns:a16="http://schemas.microsoft.com/office/drawing/2014/main" id="{B2FC24D8-9A98-BB5B-8D7A-C1EFA24C4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21D2C54-CCAC-40AD-839B-4B97D69A549F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266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18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14BD427-C85E-7FF3-5ADB-6C9695765641}"/>
              </a:ext>
            </a:extLst>
          </p:cNvPr>
          <p:cNvSpPr/>
          <p:nvPr/>
        </p:nvSpPr>
        <p:spPr>
          <a:xfrm>
            <a:off x="9003891" y="6179574"/>
            <a:ext cx="3188110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70424" y="6340476"/>
            <a:ext cx="7852526" cy="360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904195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9041952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CC38F476-59DD-8511-7A29-8B342AED4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9772" y="286503"/>
            <a:ext cx="1901366" cy="855370"/>
          </a:xfrm>
          <a:prstGeom prst="rect">
            <a:avLst/>
          </a:prstGeom>
        </p:spPr>
      </p:pic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33736BB2-04AE-E18A-6F46-42CC1E8C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54E723-D22E-4F2F-BAD1-AC559C1EE34F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43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s contacts :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4016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5179120-2B8B-CC53-5EDD-380030E693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3CC61307-6F61-6888-EB92-0346D43A9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5865"/>
          <a:stretch/>
        </p:blipFill>
        <p:spPr>
          <a:xfrm>
            <a:off x="8537849" y="0"/>
            <a:ext cx="3654151" cy="685800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A0F06A95-1F27-C760-E36A-1E7C78DB119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4B611569-DFE4-D6E5-DB01-4C76E792C0A3}"/>
              </a:ext>
            </a:extLst>
          </p:cNvPr>
          <p:cNvSpPr txBox="1">
            <a:spLocks/>
          </p:cNvSpPr>
          <p:nvPr/>
        </p:nvSpPr>
        <p:spPr>
          <a:xfrm>
            <a:off x="1844085" y="5754279"/>
            <a:ext cx="1907299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01449EC0-C12F-909D-CCF8-4E3EC34AC0D1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78D9D22-B0BB-0150-4C7A-378FDD57CE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194" y="4436165"/>
            <a:ext cx="3408898" cy="1533566"/>
          </a:xfrm>
          <a:prstGeom prst="rect">
            <a:avLst/>
          </a:prstGeom>
        </p:spPr>
      </p:pic>
      <p:sp>
        <p:nvSpPr>
          <p:cNvPr id="11" name="Espace réservé du pied de page 2">
            <a:extLst>
              <a:ext uri="{FF2B5EF4-FFF2-40B4-BE49-F238E27FC236}">
                <a16:creationId xmlns:a16="http://schemas.microsoft.com/office/drawing/2014/main" id="{C0E44361-FF10-EE71-96BF-F11A48AB21CC}"/>
              </a:ext>
            </a:extLst>
          </p:cNvPr>
          <p:cNvSpPr txBox="1">
            <a:spLocks/>
          </p:cNvSpPr>
          <p:nvPr/>
        </p:nvSpPr>
        <p:spPr>
          <a:xfrm>
            <a:off x="986193" y="483782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8040899B-70BA-C98E-7243-581C3AFDF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122" y="485693"/>
            <a:ext cx="11287754" cy="694800"/>
          </a:xfrm>
        </p:spPr>
        <p:txBody>
          <a:bodyPr vert="horz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0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Vos contacts :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90ED69B-CFD3-33C1-D2C1-407CB94812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0409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116FACC4-F6A3-FD48-56DA-A346E2EFB4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09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84F2AACE-BBE0-973B-70C7-EB949A19C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409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29" name="Espace réservé pour une image  27">
            <a:extLst>
              <a:ext uri="{FF2B5EF4-FFF2-40B4-BE49-F238E27FC236}">
                <a16:creationId xmlns:a16="http://schemas.microsoft.com/office/drawing/2014/main" id="{95AD02E2-678F-BA98-98BE-FDF0E1027D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2AB991A5-B28D-31D4-7C2A-ABCE44AF2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1576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3D1E0C0A-2EDD-3661-A430-C375B328B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1576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2" name="Espace réservé du texte 22">
            <a:extLst>
              <a:ext uri="{FF2B5EF4-FFF2-40B4-BE49-F238E27FC236}">
                <a16:creationId xmlns:a16="http://schemas.microsoft.com/office/drawing/2014/main" id="{3848698C-2799-1BF7-AD01-97F06EB07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51576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3" name="Espace réservé pour une image  27">
            <a:extLst>
              <a:ext uri="{FF2B5EF4-FFF2-40B4-BE49-F238E27FC236}">
                <a16:creationId xmlns:a16="http://schemas.microsoft.com/office/drawing/2014/main" id="{16715DB2-ED35-33DC-09EB-AC0D37CEC9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29330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7FEC946C-C2D2-6CC0-77AD-1693A19C14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42744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FE760D77-8599-8105-839E-878F4499C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2744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A6EAC7CD-F8DB-F29A-2F2D-FC53CE6A20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2744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7" name="Espace réservé pour une image  27">
            <a:extLst>
              <a:ext uri="{FF2B5EF4-FFF2-40B4-BE49-F238E27FC236}">
                <a16:creationId xmlns:a16="http://schemas.microsoft.com/office/drawing/2014/main" id="{54C671B2-E4BB-899F-47E7-0FD66FC415A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20498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372B1A6C-DE96-53D9-9A8B-A3554B85A8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33911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2C8BC5F1-B79C-A9E8-15B3-D563C87E53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33911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2EA75BB-74DC-4842-9BB2-48D0B73E0A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3911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1" name="Espace réservé pour une image  27">
            <a:extLst>
              <a:ext uri="{FF2B5EF4-FFF2-40B4-BE49-F238E27FC236}">
                <a16:creationId xmlns:a16="http://schemas.microsoft.com/office/drawing/2014/main" id="{7C952499-A464-4FAB-658D-BD08D4B2E3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11665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2" name="Espace réservé du texte 22">
            <a:extLst>
              <a:ext uri="{FF2B5EF4-FFF2-40B4-BE49-F238E27FC236}">
                <a16:creationId xmlns:a16="http://schemas.microsoft.com/office/drawing/2014/main" id="{05FB3A31-8B0E-76A4-B340-CE70CEF56B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24855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3A7CA541-6CC3-5B2B-5137-23CE7AC338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4855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4" name="Espace réservé du texte 22">
            <a:extLst>
              <a:ext uri="{FF2B5EF4-FFF2-40B4-BE49-F238E27FC236}">
                <a16:creationId xmlns:a16="http://schemas.microsoft.com/office/drawing/2014/main" id="{5BB26FB2-E7B0-9BF9-45BF-1AB5DD2A06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24855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5" name="Espace réservé pour une image  27">
            <a:extLst>
              <a:ext uri="{FF2B5EF4-FFF2-40B4-BE49-F238E27FC236}">
                <a16:creationId xmlns:a16="http://schemas.microsoft.com/office/drawing/2014/main" id="{E87B8E6C-BC45-A6D3-096D-B1798940D4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02609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1" name="Espace réservé du pied de page 50">
            <a:extLst>
              <a:ext uri="{FF2B5EF4-FFF2-40B4-BE49-F238E27FC236}">
                <a16:creationId xmlns:a16="http://schemas.microsoft.com/office/drawing/2014/main" id="{2BB51DBB-F4DD-F2BF-774A-D3D25DA76D5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A8C689-FE8E-03D2-D8C2-6C480215F59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25D12BC-F052-8411-1AF2-EA3837DBFB46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2291CCAE-FFC5-414F-E449-E46E9E9C6E50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e la date 10">
            <a:extLst>
              <a:ext uri="{FF2B5EF4-FFF2-40B4-BE49-F238E27FC236}">
                <a16:creationId xmlns:a16="http://schemas.microsoft.com/office/drawing/2014/main" id="{C7F826E3-2192-51E8-5AB6-6F6EC9785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0AF42E2-021C-4F41-8104-619F63EC6722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85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t de la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068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B4917B4-5954-0D76-BAA0-1A3698D526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0DF46767-FF2E-A311-5FC8-FC3CCA853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370"/>
          <a:stretch/>
        </p:blipFill>
        <p:spPr>
          <a:xfrm>
            <a:off x="0" y="846925"/>
            <a:ext cx="12192000" cy="5676112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D93F71-C400-BDD2-7DE6-C958FFFC38C7}"/>
              </a:ext>
            </a:extLst>
          </p:cNvPr>
          <p:cNvSpPr txBox="1">
            <a:spLocks/>
          </p:cNvSpPr>
          <p:nvPr/>
        </p:nvSpPr>
        <p:spPr>
          <a:xfrm>
            <a:off x="986193" y="525338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1DFA8C9F-5730-AE6C-7035-33A8BDB2571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296D9A24-28BA-F170-CE5D-7A98005351F0}"/>
              </a:ext>
            </a:extLst>
          </p:cNvPr>
          <p:cNvSpPr txBox="1">
            <a:spLocks/>
          </p:cNvSpPr>
          <p:nvPr/>
        </p:nvSpPr>
        <p:spPr>
          <a:xfrm>
            <a:off x="1844086" y="5754279"/>
            <a:ext cx="1847062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4F19F6FB-6C20-D474-9918-2BEDD82D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2473965"/>
            <a:ext cx="11430002" cy="694800"/>
          </a:xfrm>
        </p:spPr>
        <p:txBody>
          <a:bodyPr vert="horz"/>
          <a:lstStyle>
            <a:lvl1pPr marL="0" algn="ctr" defTabSz="914400" rtl="0" eaLnBrk="1" latinLnBrk="0" hangingPunct="1">
              <a:defRPr lang="fr-F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50">
            <a:extLst>
              <a:ext uri="{FF2B5EF4-FFF2-40B4-BE49-F238E27FC236}">
                <a16:creationId xmlns:a16="http://schemas.microsoft.com/office/drawing/2014/main" id="{733E0ACB-D5D5-59BF-42BE-57346077065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4015D164-67AF-110B-1EB8-478D066B7517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8ADC259-7B80-9FBE-FD57-958EB94EE659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0C088F5-249F-102E-09F8-5FB90B2D71BA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9E4CC770-9A02-5703-AA66-43EAB8B3510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e la date 10">
            <a:extLst>
              <a:ext uri="{FF2B5EF4-FFF2-40B4-BE49-F238E27FC236}">
                <a16:creationId xmlns:a16="http://schemas.microsoft.com/office/drawing/2014/main" id="{1F098B08-9DB9-0E9F-0651-539F4FE4C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3A00B2B-991D-40B7-9911-432FF4699D27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927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499218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1" imgW="359" imgH="360" progId="TCLayout.ActiveDocument.1">
                  <p:embed/>
                </p:oleObj>
              </mc:Choice>
              <mc:Fallback>
                <p:oleObj name="Diapositive think-cell" r:id="rId21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85693"/>
            <a:ext cx="11430002" cy="69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983600"/>
            <a:ext cx="11430003" cy="419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0426" y="6340475"/>
            <a:ext cx="76690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0997" y="6340475"/>
            <a:ext cx="3620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700" b="0" i="0" u="none" strike="noStrike" kern="1200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775F55-D649-105E-BB88-44CDE1F10776}"/>
              </a:ext>
            </a:extLst>
          </p:cNvPr>
          <p:cNvSpPr txBox="1"/>
          <p:nvPr/>
        </p:nvSpPr>
        <p:spPr>
          <a:xfrm>
            <a:off x="9239464" y="6340476"/>
            <a:ext cx="1382110" cy="36512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rtl="0"/>
            <a:r>
              <a:rPr lang="fr-FR" sz="700">
                <a:solidFill>
                  <a:schemeClr val="bg1">
                    <a:lumMod val="50000"/>
                  </a:schemeClr>
                </a:solidFill>
                <a:latin typeface="+mn-lt"/>
              </a:rPr>
              <a:t>DOCUMENT CONFIDENTIEL</a:t>
            </a:r>
          </a:p>
        </p:txBody>
      </p:sp>
      <p:pic>
        <p:nvPicPr>
          <p:cNvPr id="10" name="Espace réservé du contenu 19">
            <a:extLst>
              <a:ext uri="{FF2B5EF4-FFF2-40B4-BE49-F238E27FC236}">
                <a16:creationId xmlns:a16="http://schemas.microsoft.com/office/drawing/2014/main" id="{21E15E84-437F-13B1-07E8-D06B251E45C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70881" y="6251120"/>
            <a:ext cx="1346895" cy="605929"/>
          </a:xfrm>
          <a:prstGeom prst="rect">
            <a:avLst/>
          </a:prstGeom>
        </p:spPr>
      </p:pic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89A10469-81FC-EB5E-ED6E-7AE4FBED36E8}"/>
              </a:ext>
            </a:extLst>
          </p:cNvPr>
          <p:cNvSpPr/>
          <p:nvPr/>
        </p:nvSpPr>
        <p:spPr>
          <a:xfrm rot="15131171">
            <a:off x="75423" y="142623"/>
            <a:ext cx="378055" cy="325910"/>
          </a:xfrm>
          <a:prstGeom prst="triangle">
            <a:avLst/>
          </a:prstGeom>
          <a:solidFill>
            <a:srgbClr val="1A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0C7D9D68-6C57-3DD6-C000-3F9EEBEA0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9CA19EF-D4BE-4F92-9509-E047DF919FAE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7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fr-FR" sz="2400" kern="1200" cap="all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SzPct val="110000"/>
        <a:buFont typeface="Arial" panose="020B0604020202020204" pitchFamily="34" charset="0"/>
        <a:buChar char="•"/>
        <a:defRPr lang="fr-FR" sz="11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969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16205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065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orient="horz" pos="754">
          <p15:clr>
            <a:srgbClr val="F26B43"/>
          </p15:clr>
        </p15:guide>
        <p15:guide id="9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emf"/><Relationship Id="rId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1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3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E516-6B7A-5752-0AEC-0378A617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4401277-41B0-E171-2C86-3D0217B774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401277-41B0-E171-2C86-3D0217B77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FCB08978-F8BB-5DFA-35F2-E62FA5CE133B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0076D4-B819-417A-BFE5-4D16BA421578}"/>
              </a:ext>
            </a:extLst>
          </p:cNvPr>
          <p:cNvSpPr txBox="1"/>
          <p:nvPr/>
        </p:nvSpPr>
        <p:spPr>
          <a:xfrm>
            <a:off x="1363319" y="705962"/>
            <a:ext cx="268996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Yassine NIKES </a:t>
            </a:r>
          </a:p>
          <a:p>
            <a:r>
              <a:rPr lang="fr-FR" sz="1600" b="1" dirty="0">
                <a:solidFill>
                  <a:schemeClr val="tx2"/>
                </a:solidFill>
                <a:latin typeface="+mj-lt"/>
              </a:rPr>
              <a:t>CONSULTANT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>
                <a:solidFill>
                  <a:schemeClr val="tx2"/>
                </a:solidFill>
                <a:latin typeface="+mj-lt"/>
              </a:rPr>
              <a:t>X</a:t>
            </a:r>
            <a:r>
              <a:rPr lang="fr-FR" sz="900" b="1" dirty="0">
                <a:solidFill>
                  <a:schemeClr val="tx2"/>
                </a:solidFill>
                <a:latin typeface="+mj-lt"/>
              </a:rPr>
              <a:t>X</a:t>
            </a:r>
            <a:r>
              <a:rPr lang="fr-FR" sz="900" b="1">
                <a:solidFill>
                  <a:schemeClr val="tx2"/>
                </a:solidFill>
                <a:latin typeface="+mj-lt"/>
              </a:rPr>
              <a:t> </a:t>
            </a:r>
            <a:r>
              <a:rPr lang="fr-FR" sz="900" b="1" dirty="0">
                <a:solidFill>
                  <a:schemeClr val="tx2"/>
                </a:solidFill>
                <a:latin typeface="+mj-lt"/>
              </a:rPr>
              <a:t>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C348E1F-4DDB-78C8-F542-3EB2401B4404}"/>
              </a:ext>
            </a:extLst>
          </p:cNvPr>
          <p:cNvSpPr txBox="1"/>
          <p:nvPr/>
        </p:nvSpPr>
        <p:spPr>
          <a:xfrm>
            <a:off x="4239096" y="705962"/>
            <a:ext cx="7571902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Diplômé de </a:t>
            </a:r>
            <a:r>
              <a:rPr kumimoji="0" lang="fr-F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Neoma</a:t>
            </a: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Business </a:t>
            </a:r>
            <a:r>
              <a:rPr kumimoji="0" lang="fr-F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School</a:t>
            </a: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avec un master en finance, Yassine a eu l’occasion d’élargir son panel de compétences notamment grâce à la diversité des missions auxquelles il a participé. Il a acquit de solides connaissances métier mais aussi des connaissances fonctionnelles sur les outils et méthodologies. Yassine allie aisance relationnelle, autonomie et rigueur, garantissant des résultats d'excellence grâce à sa capacité décisionnelle affirmée.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6FA32E-C5A3-B19F-C571-95B23C95E72A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47DF1DD-5EA8-9D5D-5FF5-BF836C5928B4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A19E5D6-F0C9-EC32-8538-B362197DD5BE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CD85422A-72EF-8255-566D-9A13957F2B94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61FC5B-F15E-D548-7B04-4D512A40AAF3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Master en finance – </a:t>
            </a:r>
            <a:r>
              <a:rPr lang="fr-FR" sz="1000" dirty="0" err="1">
                <a:solidFill>
                  <a:schemeClr val="bg1"/>
                </a:solidFill>
              </a:rPr>
              <a:t>Neoma</a:t>
            </a:r>
            <a:r>
              <a:rPr lang="fr-FR" sz="1000" dirty="0">
                <a:solidFill>
                  <a:schemeClr val="bg1"/>
                </a:solidFill>
              </a:rPr>
              <a:t> Business </a:t>
            </a:r>
            <a:r>
              <a:rPr lang="fr-FR" sz="1000" dirty="0" err="1">
                <a:solidFill>
                  <a:schemeClr val="bg1"/>
                </a:solidFill>
              </a:rPr>
              <a:t>School</a:t>
            </a:r>
            <a:r>
              <a:rPr lang="fr-FR" sz="1000" dirty="0">
                <a:solidFill>
                  <a:schemeClr val="bg1"/>
                </a:solidFill>
              </a:rPr>
              <a:t> (Programme Grande Ecole)</a:t>
            </a:r>
          </a:p>
          <a:p>
            <a:pPr>
              <a:buClr>
                <a:schemeClr val="tx2"/>
              </a:buClr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5968A43C-85F7-8947-A6AC-F0FB7939257E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374B764-4A1F-3B82-6EFD-6F08A0BA92C7}"/>
              </a:ext>
            </a:extLst>
          </p:cNvPr>
          <p:cNvSpPr txBox="1"/>
          <p:nvPr/>
        </p:nvSpPr>
        <p:spPr>
          <a:xfrm>
            <a:off x="4862670" y="2414547"/>
            <a:ext cx="6957855" cy="3233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Caisse </a:t>
            </a:r>
            <a:r>
              <a:rPr lang="en-GB" sz="1000" b="1" i="0" u="none" strike="noStrike" kern="1200" cap="none" spc="0" baseline="0" dirty="0" err="1">
                <a:solidFill>
                  <a:srgbClr val="43A2BF"/>
                </a:solidFill>
                <a:uFillTx/>
                <a:latin typeface="Arial"/>
              </a:rPr>
              <a:t>d’Epargne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, Formation </a:t>
            </a:r>
            <a:r>
              <a:rPr lang="en-GB" sz="1000" b="1" i="0" u="none" strike="noStrike" kern="1200" cap="none" spc="0" baseline="0" dirty="0" err="1">
                <a:solidFill>
                  <a:srgbClr val="43A2BF"/>
                </a:solidFill>
                <a:uFillTx/>
                <a:latin typeface="Arial"/>
              </a:rPr>
              <a:t>Déontologie</a:t>
            </a:r>
            <a:r>
              <a:rPr lang="en-GB" sz="1000" b="1" dirty="0">
                <a:solidFill>
                  <a:srgbClr val="43A2BF"/>
                </a:solidFill>
                <a:latin typeface="Arial"/>
              </a:rPr>
              <a:t> 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–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Intitulé du poste (</a:t>
            </a:r>
            <a:r>
              <a:rPr lang="fr-FR" sz="1000" b="1" dirty="0">
                <a:solidFill>
                  <a:srgbClr val="43A2BF"/>
                </a:solidFill>
                <a:latin typeface="Arial"/>
              </a:rPr>
              <a:t>XX mois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)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cs typeface="Arial"/>
                <a:sym typeface="Arial"/>
              </a:rPr>
              <a:t>Mise-en-place d’une formation déontologie sur les bonnes et mauvaises pratiques en banque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cs typeface="Arial"/>
                <a:sym typeface="Arial"/>
              </a:rPr>
              <a:t>Réalisation de l’ingénierie pédagogique : déroulé détaillé et matériel pédagogique pour une formation en présentiel et en ligne</a:t>
            </a:r>
          </a:p>
          <a:p>
            <a:pPr>
              <a:lnSpc>
                <a:spcPct val="110000"/>
              </a:lnSpc>
              <a:buClr>
                <a:schemeClr val="accent1"/>
              </a:buClr>
              <a:buSzPts val="1000"/>
            </a:pPr>
            <a:endParaRPr lang="fr-FR" sz="1000" dirty="0">
              <a:cs typeface="Arial"/>
              <a:sym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Crédit Agricole CIB, Transaction Banking Operations  –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Intitulé du poste (</a:t>
            </a:r>
            <a:r>
              <a:rPr lang="fr-FR" sz="1000" b="1" dirty="0">
                <a:solidFill>
                  <a:srgbClr val="43A2BF"/>
                </a:solidFill>
                <a:latin typeface="Arial"/>
              </a:rPr>
              <a:t>XX mois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)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0D0D0D"/>
                </a:solidFill>
                <a:effectLst/>
              </a:rPr>
              <a:t>Participation à une </a:t>
            </a:r>
            <a:r>
              <a:rPr lang="fr-FR" sz="1000" b="0" i="0" dirty="0" err="1">
                <a:solidFill>
                  <a:srgbClr val="0D0D0D"/>
                </a:solidFill>
                <a:effectLst/>
              </a:rPr>
              <a:t>task</a:t>
            </a:r>
            <a:r>
              <a:rPr lang="fr-FR" sz="1000" b="0" i="0" dirty="0">
                <a:solidFill>
                  <a:srgbClr val="0D0D0D"/>
                </a:solidFill>
                <a:effectLst/>
              </a:rPr>
              <a:t> force de 13 consultants pour le service client correspondent </a:t>
            </a:r>
            <a:r>
              <a:rPr lang="fr-FR" sz="1000" b="0" i="0" dirty="0" err="1">
                <a:solidFill>
                  <a:srgbClr val="0D0D0D"/>
                </a:solidFill>
                <a:effectLst/>
              </a:rPr>
              <a:t>banking</a:t>
            </a:r>
            <a:r>
              <a:rPr lang="fr-FR" sz="1000" b="0" i="0" dirty="0">
                <a:solidFill>
                  <a:srgbClr val="0D0D0D"/>
                </a:solidFill>
                <a:effectLst/>
              </a:rPr>
              <a:t> / cash management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0D0D0D"/>
                </a:solidFill>
                <a:effectLst/>
              </a:rPr>
              <a:t>Construction d’un dossier de recommandation d’amélioration (outil, pilotage/organisation, processus)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b="1" i="0" u="none" strike="noStrike" kern="1200" cap="none" spc="0" baseline="0" dirty="0">
              <a:solidFill>
                <a:srgbClr val="43A2BF"/>
              </a:solidFill>
              <a:uFillTx/>
              <a:latin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BPCE Assurances, Direction des Prestations Externalisées Assurance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 –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Intitulé du poste (</a:t>
            </a:r>
            <a:r>
              <a:rPr lang="fr-FR" sz="1000" b="1" dirty="0">
                <a:solidFill>
                  <a:srgbClr val="43A2BF"/>
                </a:solidFill>
                <a:latin typeface="Arial"/>
              </a:rPr>
              <a:t>XX mois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)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Accompagnement de l’équipe DPEA dans le cadre d’un chantier de transformation du modèle de partenariat d’un prestataire externe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Apport d’aide opérationnelle afin d’assister l’équipe DPEA dans le cadre de 2 chantiers : 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construction d’un modèle de dimensionnement et appui aux travaux de refonte contractuelle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Pilotage, organisation et préparation des réunions d’échanges entre les différentes instances internes et les partenaires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Contribution et construction des livrables et des modèles d’analyse</a:t>
            </a:r>
          </a:p>
          <a:p>
            <a:pPr>
              <a:lnSpc>
                <a:spcPct val="110000"/>
              </a:lnSpc>
              <a:buClr>
                <a:schemeClr val="accent1"/>
              </a:buClr>
              <a:buSzPts val="1000"/>
            </a:pPr>
            <a:endParaRPr lang="fr-FR" sz="1000" b="0" i="0" u="none" strike="noStrike" kern="1200" cap="none" spc="0" baseline="0" dirty="0">
              <a:solidFill>
                <a:srgbClr val="353637"/>
              </a:solidFill>
              <a:uFillTx/>
              <a:latin typeface="Arial"/>
            </a:endParaRP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0D0D0D"/>
              </a:solidFill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3BFF34-2FDE-0F16-0FA0-99D7DCAAD6B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8E6C44-B8B2-DFBE-F6FF-27BC0098D5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EC5BE4-9D85-8589-7F81-D639F76A0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0ED7D2-0817-34E4-AA65-28CAB2ADE35A}"/>
              </a:ext>
            </a:extLst>
          </p:cNvPr>
          <p:cNvSpPr/>
          <p:nvPr/>
        </p:nvSpPr>
        <p:spPr>
          <a:xfrm>
            <a:off x="380995" y="3760698"/>
            <a:ext cx="3579429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Pilotage de projets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Cadrage et pilotage de projets et programmes de transformation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Suivi d’avancement / KPI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Gestion des risques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016A55-C40C-4303-7391-582EC3D279B8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58CDB-0089-2305-03DB-BCBFAB23D67A}"/>
              </a:ext>
            </a:extLst>
          </p:cNvPr>
          <p:cNvSpPr/>
          <p:nvPr/>
        </p:nvSpPr>
        <p:spPr>
          <a:xfrm>
            <a:off x="368572" y="5206378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Maitrise du pack Office : Word, Power Point, Excel</a:t>
            </a:r>
          </a:p>
        </p:txBody>
      </p:sp>
      <p:pic>
        <p:nvPicPr>
          <p:cNvPr id="47" name="Image 46" descr="Une image contenant personne, homme, mur, complet&#10;&#10;Description générée automatiquement">
            <a:extLst>
              <a:ext uri="{FF2B5EF4-FFF2-40B4-BE49-F238E27FC236}">
                <a16:creationId xmlns:a16="http://schemas.microsoft.com/office/drawing/2014/main" id="{7433AFBA-B87F-F7DE-43A6-400831E09E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090" r="11331"/>
          <a:stretch/>
        </p:blipFill>
        <p:spPr>
          <a:xfrm>
            <a:off x="368572" y="557385"/>
            <a:ext cx="1069054" cy="1360476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83D17651-3B3A-A8A5-DD90-007B18392C69}"/>
              </a:ext>
            </a:extLst>
          </p:cNvPr>
          <p:cNvSpPr txBox="1"/>
          <p:nvPr/>
        </p:nvSpPr>
        <p:spPr>
          <a:xfrm rot="840714">
            <a:off x="8330738" y="61988"/>
            <a:ext cx="4160113" cy="64633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Photo</a:t>
            </a:r>
          </a:p>
          <a:p>
            <a:r>
              <a:rPr lang="fr-FR" dirty="0">
                <a:solidFill>
                  <a:schemeClr val="bg1"/>
                </a:solidFill>
              </a:rPr>
              <a:t>DUREE </a:t>
            </a:r>
            <a:r>
              <a:rPr lang="fr-FR" dirty="0" err="1">
                <a:solidFill>
                  <a:schemeClr val="bg1"/>
                </a:solidFill>
              </a:rPr>
              <a:t>MISSION+logo</a:t>
            </a:r>
            <a:r>
              <a:rPr lang="fr-FR" dirty="0">
                <a:solidFill>
                  <a:schemeClr val="bg1"/>
                </a:solidFill>
              </a:rPr>
              <a:t>+ intitulé poste </a:t>
            </a:r>
          </a:p>
        </p:txBody>
      </p:sp>
      <p:pic>
        <p:nvPicPr>
          <p:cNvPr id="49" name="Picture 2" descr="Profile for Crédit Agricole Corporate &amp; Investment Bank (Crédit Agricole  CIB)">
            <a:extLst>
              <a:ext uri="{FF2B5EF4-FFF2-40B4-BE49-F238E27FC236}">
                <a16:creationId xmlns:a16="http://schemas.microsoft.com/office/drawing/2014/main" id="{A5F3F60B-6441-3E33-7E86-7A2E1E6A8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808" y="2379506"/>
            <a:ext cx="591033" cy="59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Arkea - ND">
            <a:extLst>
              <a:ext uri="{FF2B5EF4-FFF2-40B4-BE49-F238E27FC236}">
                <a16:creationId xmlns:a16="http://schemas.microsoft.com/office/drawing/2014/main" id="{55F4E361-1742-C80B-6BAF-DD42EC615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84" y="3408048"/>
            <a:ext cx="469949" cy="46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Natixis rejoint le projet R3 - bitcoin.fr">
            <a:extLst>
              <a:ext uri="{FF2B5EF4-FFF2-40B4-BE49-F238E27FC236}">
                <a16:creationId xmlns:a16="http://schemas.microsoft.com/office/drawing/2014/main" id="{B05E1526-8E40-E1D3-778A-F30C46A76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440" y="4212317"/>
            <a:ext cx="464593" cy="46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6" descr="Société Générale - France Active">
            <a:extLst>
              <a:ext uri="{FF2B5EF4-FFF2-40B4-BE49-F238E27FC236}">
                <a16:creationId xmlns:a16="http://schemas.microsoft.com/office/drawing/2014/main" id="{F037F5CB-6AB3-EE2C-A758-79443E942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256" y="5370519"/>
            <a:ext cx="562513" cy="28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8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56EC-8377-DD3B-7366-E6774F80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466083A-4698-69D3-71D1-586ACEB72B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1494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6083A-4698-69D3-71D1-586ACEB72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A3A19647-FD7D-E123-3162-76D42B52E8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902364"/>
              </p:ext>
            </p:extLst>
          </p:nvPr>
        </p:nvGraphicFramePr>
        <p:xfrm>
          <a:off x="370870" y="1984675"/>
          <a:ext cx="11430002" cy="1930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r>
                        <a:rPr lang="fr-FR" sz="105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</a:p>
                    <a:p>
                      <a:pPr marL="0" algn="l" defTabSz="557240" rtl="0" eaLnBrk="1" latinLnBrk="0" hangingPunct="1"/>
                      <a:r>
                        <a:rPr lang="fr-FR" sz="1000" b="0" i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latin typeface="+mn-lt"/>
                        </a:rPr>
                        <a:t>XX</a:t>
                      </a:r>
                    </a:p>
                    <a:p>
                      <a:endParaRPr lang="fr-FR" sz="1000" b="0" spc="-1" noProof="1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INTITULE POSTE </a:t>
                      </a: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1000" b="1" i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b="0" spc="-1" noProof="1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fr-FR" sz="10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82527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10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b="0" spc="-1" noProof="1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08799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850" b="1" i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kern="1200" spc="-1" noProof="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134674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B6399308-A61A-08DD-CE08-E7F6C1E3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 dirty="0"/>
              <a:t>Yassine NIKES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296820-E9A1-5D9A-A12E-A64B0EF80F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2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384F8A-E0B2-68D9-E963-C05500981B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27/03/2025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7011D353-CB76-5330-72E0-1640B4E140BF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D709F-5F89-99E7-FF88-A8501EB5827E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C75D43-1D3B-B588-BA43-FE74C18EAF1C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90C2F6B-CD06-D986-FF18-237658CD3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</p:spTree>
    <p:extLst>
      <p:ext uri="{BB962C8B-B14F-4D97-AF65-F5344CB8AC3E}">
        <p14:creationId xmlns:p14="http://schemas.microsoft.com/office/powerpoint/2010/main" val="287642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E4E6-0FB2-A25B-B3EC-B23D8B66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6813216-06A6-4E8A-62E2-8003094294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401277-41B0-E171-2C86-3D0217B77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24745F0F-6CC8-9EA2-44B3-613FFB4E16F4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4734BF-408B-A5A6-8E53-D384E930AF6A}"/>
              </a:ext>
            </a:extLst>
          </p:cNvPr>
          <p:cNvSpPr txBox="1"/>
          <p:nvPr/>
        </p:nvSpPr>
        <p:spPr>
          <a:xfrm>
            <a:off x="1363319" y="705962"/>
            <a:ext cx="268996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</a:t>
            </a:r>
          </a:p>
          <a:p>
            <a:r>
              <a:rPr lang="fr-FR" sz="1600" b="1" dirty="0">
                <a:solidFill>
                  <a:schemeClr val="tx2"/>
                </a:solidFill>
                <a:latin typeface="+mj-lt"/>
              </a:rPr>
              <a:t>CONSULTANT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 dirty="0">
                <a:solidFill>
                  <a:schemeClr val="tx2"/>
                </a:solidFill>
                <a:latin typeface="+mj-lt"/>
              </a:rPr>
              <a:t>2 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EF715D1-E2C0-623A-019B-795D0059A215}"/>
              </a:ext>
            </a:extLst>
          </p:cNvPr>
          <p:cNvSpPr txBox="1"/>
          <p:nvPr/>
        </p:nvSpPr>
        <p:spPr>
          <a:xfrm>
            <a:off x="4239096" y="705962"/>
            <a:ext cx="7571902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</a:pPr>
            <a:r>
              <a:rPr lang="fr-FR" sz="1100" dirty="0"/>
              <a:t>AN est Data Consultant, avec 2 ans d’expérience dans le conseil. Rigoureux, il maîtrise l’analyse de données et la retranscription des besoins exprimés par les métiers en fonctionnalités adaptées, notamment en matière de data visualisation sous </a:t>
            </a:r>
            <a:r>
              <a:rPr lang="fr-FR" sz="1100" dirty="0" err="1"/>
              <a:t>PowerBI</a:t>
            </a:r>
            <a:r>
              <a:rPr lang="fr-FR" sz="1100" dirty="0"/>
              <a:t>. AN a pu participer sur un projet structurant de développement de modèles de données et de création  et déploiement de </a:t>
            </a:r>
            <a:r>
              <a:rPr lang="fr-FR" sz="1100" dirty="0" err="1"/>
              <a:t>dashboards</a:t>
            </a:r>
            <a:r>
              <a:rPr lang="fr-FR" sz="1100" dirty="0"/>
              <a:t> orientés vers différents besoins métiers de la </a:t>
            </a:r>
            <a:r>
              <a:rPr lang="fr-FR" sz="1100" dirty="0" err="1"/>
              <a:t>banque.Dynamique</a:t>
            </a:r>
            <a:r>
              <a:rPr lang="fr-FR" sz="1100" dirty="0"/>
              <a:t>, adaptable et professionnel, AN mènera à bien tous les projets qui lui seront confiés.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1A36C-F664-7314-031B-E426B422B119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39950EA-6B3B-EF94-950C-387E90D2E13F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2E3765A4-DBB1-ED99-E44D-40F01692E8A5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8A75365B-5E9A-F08F-0501-A1A11756CF58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93A51-A485-502E-6066-B03D682B0809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MSc – Data Science &amp; Digital Marketing - </a:t>
            </a:r>
            <a:r>
              <a:rPr lang="en-GB" sz="1000" dirty="0" err="1">
                <a:solidFill>
                  <a:schemeClr val="bg1"/>
                </a:solidFill>
              </a:rPr>
              <a:t>EmLyon</a:t>
            </a:r>
            <a:r>
              <a:rPr lang="en-GB" sz="1000" dirty="0">
                <a:solidFill>
                  <a:schemeClr val="bg1"/>
                </a:solidFill>
              </a:rPr>
              <a:t> – Paris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Bachelor - International Trade and Economics - Nanjing - Chine</a:t>
            </a: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62FE87AB-0295-E546-D82C-79A14BB2D3D2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DD217B2-CFF5-0725-8BF6-9E6EBB7F97D7}"/>
              </a:ext>
            </a:extLst>
          </p:cNvPr>
          <p:cNvSpPr txBox="1"/>
          <p:nvPr/>
        </p:nvSpPr>
        <p:spPr>
          <a:xfrm>
            <a:off x="4862670" y="2414547"/>
            <a:ext cx="6957855" cy="25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BPCE : Analyste </a:t>
            </a:r>
            <a:r>
              <a:rPr lang="fr-FR" sz="1000" b="1" dirty="0" err="1">
                <a:solidFill>
                  <a:schemeClr val="tx2"/>
                </a:solidFill>
              </a:rPr>
              <a:t>Alteryx</a:t>
            </a:r>
            <a:r>
              <a:rPr lang="fr-FR" sz="1000" b="1" dirty="0">
                <a:solidFill>
                  <a:schemeClr val="tx2"/>
                </a:solidFill>
              </a:rPr>
              <a:t> dans le cadre d’une intégration de l’outil (XX mois)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Intégration d’</a:t>
            </a:r>
            <a:r>
              <a:rPr lang="fr-FR" altLang="fr-FR" sz="1000" dirty="0" err="1">
                <a:solidFill>
                  <a:schemeClr val="dk1"/>
                </a:solidFill>
                <a:cs typeface="Arial"/>
              </a:rPr>
              <a:t>Alteryx</a:t>
            </a:r>
            <a:r>
              <a:rPr lang="fr-FR" altLang="fr-FR" sz="1000" dirty="0">
                <a:solidFill>
                  <a:schemeClr val="dk1"/>
                </a:solidFill>
                <a:cs typeface="Arial"/>
              </a:rPr>
              <a:t> comme ETL de référence pour alimenter les rapports de différentes équipes métier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Développement et déploiement d’une quinzaine de rapports et tableaux de bord automatisés pour les métiers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Formation des utilisateurs et futurs propriétaires de produits sur les aspects techniques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altLang="fr-FR" sz="1000" dirty="0">
              <a:solidFill>
                <a:schemeClr val="dk1"/>
              </a:solidFill>
              <a:cs typeface="Arial"/>
            </a:endParaRPr>
          </a:p>
          <a:p>
            <a:r>
              <a:rPr lang="fr-FR" sz="1000" b="1" dirty="0">
                <a:solidFill>
                  <a:schemeClr val="tx2"/>
                </a:solidFill>
              </a:rPr>
              <a:t>Pernod-Ricard : Analyste contrôle de gestion (XX mois)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Analyste en contrôle au sein du département IT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Gestion des scénarios dans le cadre de l’exercice budgétaires et production d’analyses et de rapports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Développement de nouveaux rapports dans Power BI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Automatisation de tâche lié à la manipulation de données pour le contrôle de gestion</a:t>
            </a:r>
          </a:p>
          <a:p>
            <a:endParaRPr lang="fr-FR" sz="1000" dirty="0"/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42D67A-EF25-6B3E-47BF-86B275CA96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31/03/2025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8D8F2F1-1E9A-7686-E86C-636938D6BB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816A9A-094B-B61E-2CA8-20F903273B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51802A-5E9C-4914-902E-2690397A9806}"/>
              </a:ext>
            </a:extLst>
          </p:cNvPr>
          <p:cNvSpPr/>
          <p:nvPr/>
        </p:nvSpPr>
        <p:spPr>
          <a:xfrm>
            <a:off x="380995" y="3760698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Gestion de projets; Animation des Comités Projet; Préparation des instances COPIL; Production notes/compte-rendu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Animation de formations; Data Science/BI; Conception et création de Dashboard; Automatisation de process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Conception et développement de solutions analytiques &amp; de modèles de données; Développement en Python et R pour l’analyse de données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8AF452A-8677-DD91-548D-9B9D94BE65E2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6499D3-A4A4-BC89-9048-E665BCD8799B}"/>
              </a:ext>
            </a:extLst>
          </p:cNvPr>
          <p:cNvSpPr/>
          <p:nvPr/>
        </p:nvSpPr>
        <p:spPr>
          <a:xfrm>
            <a:off x="368572" y="5295569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Python: Pandas, </a:t>
            </a:r>
            <a:r>
              <a:rPr lang="fr-FR" sz="1000" dirty="0" err="1">
                <a:solidFill>
                  <a:schemeClr val="bg1"/>
                </a:solidFill>
              </a:rPr>
              <a:t>Matplotlib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Scikit-Learn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Numpy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SQL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R 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PowerBI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Azure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Tableau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Alteryx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BFD1D391-5867-DFE5-4AE6-50129F94D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560" y="3925419"/>
            <a:ext cx="420647" cy="412935"/>
          </a:xfrm>
          <a:prstGeom prst="rect">
            <a:avLst/>
          </a:prstGeom>
        </p:spPr>
      </p:pic>
      <p:pic>
        <p:nvPicPr>
          <p:cNvPr id="45" name="Picture 2" descr="upload.wikimedia.org/wikipedia/commons/thumb/6/...">
            <a:extLst>
              <a:ext uri="{FF2B5EF4-FFF2-40B4-BE49-F238E27FC236}">
                <a16:creationId xmlns:a16="http://schemas.microsoft.com/office/drawing/2014/main" id="{60AFC099-E065-4638-9D55-8F894C5D4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096" y="2438177"/>
            <a:ext cx="635469" cy="2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9906332-9154-60F0-6764-E216855963E7}"/>
              </a:ext>
            </a:extLst>
          </p:cNvPr>
          <p:cNvSpPr txBox="1"/>
          <p:nvPr/>
        </p:nvSpPr>
        <p:spPr>
          <a:xfrm rot="840714">
            <a:off x="8266481" y="-215012"/>
            <a:ext cx="4288610" cy="1200329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1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  <a:p>
            <a:r>
              <a:rPr lang="fr-FR" dirty="0">
                <a:solidFill>
                  <a:schemeClr val="bg1"/>
                </a:solidFill>
              </a:rPr>
              <a:t>ENLEVER LA PHOTO</a:t>
            </a:r>
          </a:p>
        </p:txBody>
      </p:sp>
    </p:spTree>
    <p:extLst>
      <p:ext uri="{BB962C8B-B14F-4D97-AF65-F5344CB8AC3E}">
        <p14:creationId xmlns:p14="http://schemas.microsoft.com/office/powerpoint/2010/main" val="140438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A3CA-4CF7-DD9C-6FAF-9688C632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0C14E42-F304-CABA-980A-2F041D6B7C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6083A-4698-69D3-71D1-586ACEB72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78A35FA4-3707-532D-B454-B609EE7609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053257"/>
              </p:ext>
            </p:extLst>
          </p:nvPr>
        </p:nvGraphicFramePr>
        <p:xfrm>
          <a:off x="370870" y="1984675"/>
          <a:ext cx="11430002" cy="1954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 PORTE DU HAINAUT</a:t>
                      </a:r>
                    </a:p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0" i="1" u="non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pc="-1" noProof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Mise en place de la cellule de pilotage du programme « habiter mieux » intégrant la mise en œuvre d’un outil de suivi des aides à la rénovation</a:t>
                      </a: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b="1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TITRE DU POSTE 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Coordination du projet, suivis, </a:t>
                      </a:r>
                      <a:r>
                        <a:rPr lang="fr-FR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reportings</a:t>
                      </a: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animation des comités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Redéfinition des processus de travail et production du livret des procédures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du cahier des charges de l’outil de suivi du dispositif et suivi de son développement (intégrant les tableaux de bord de suivi-évaluation)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Construction d’un plan de formation, et sécurisation de la dispense des formations à l’outil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Animation du processus de co-construction du plan de communication externe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du projet (budget, planning, risques…)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000" b="0" i="1" u="non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132774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AF9BF3B-533F-D2F2-0578-1AFB451E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 dirty="0"/>
              <a:t>AN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3E12AD-161A-772A-ACED-43BD23AEE0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4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2E0615-C44C-11AA-6D65-67512BB8C8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31/03/2025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52449045-C9B8-3FEB-2A96-1F669FA3171C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F22EF-85E8-C348-F0EE-1B5112C6D60B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B5303-F825-175A-0443-8E489E423F47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90665A96-11D6-39DC-EF44-C0EE8C546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12A5A97-5686-5F8A-D147-69E15A4BE02A}"/>
              </a:ext>
            </a:extLst>
          </p:cNvPr>
          <p:cNvSpPr txBox="1"/>
          <p:nvPr/>
        </p:nvSpPr>
        <p:spPr>
          <a:xfrm rot="840714">
            <a:off x="8266481" y="-76513"/>
            <a:ext cx="4288610" cy="92333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2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</p:txBody>
      </p:sp>
    </p:spTree>
    <p:extLst>
      <p:ext uri="{BB962C8B-B14F-4D97-AF65-F5344CB8AC3E}">
        <p14:creationId xmlns:p14="http://schemas.microsoft.com/office/powerpoint/2010/main" val="2527697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5 02_AMITA Conseil">
  <a:themeElements>
    <a:clrScheme name="AMITA 2">
      <a:dk1>
        <a:srgbClr val="353637"/>
      </a:dk1>
      <a:lt1>
        <a:sysClr val="window" lastClr="FFFFFF"/>
      </a:lt1>
      <a:dk2>
        <a:srgbClr val="43A2BF"/>
      </a:dk2>
      <a:lt2>
        <a:srgbClr val="F7F7F7"/>
      </a:lt2>
      <a:accent1>
        <a:srgbClr val="43A2BF"/>
      </a:accent1>
      <a:accent2>
        <a:srgbClr val="4D7480"/>
      </a:accent2>
      <a:accent3>
        <a:srgbClr val="B5E1EF"/>
      </a:accent3>
      <a:accent4>
        <a:srgbClr val="6AA6B7"/>
      </a:accent4>
      <a:accent5>
        <a:srgbClr val="FFAE19"/>
      </a:accent5>
      <a:accent6>
        <a:srgbClr val="FF6419"/>
      </a:accent6>
      <a:hlink>
        <a:srgbClr val="4D7480"/>
      </a:hlink>
      <a:folHlink>
        <a:srgbClr val="2E556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 02_AMITA Conseil" id="{04D555FD-3CF6-4C09-9956-4D12109AF0E0}" vid="{1030E482-EE0D-43A8-A09B-A92D63339AC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E79DF9-C58F-4F32-98FC-7A5EE2CE32C6}">
  <ds:schemaRefs>
    <ds:schemaRef ds:uri="5438b2ed-c33a-4943-80d4-1eb1a51ca64d"/>
    <ds:schemaRef ds:uri="b662136d-f4c7-4ecd-aecf-392677ef4b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AC34AAB-7852-4104-B684-4FE27329F849}">
  <ds:schemaRefs>
    <ds:schemaRef ds:uri="5438b2ed-c33a-4943-80d4-1eb1a51ca64d"/>
    <ds:schemaRef ds:uri="b662136d-f4c7-4ecd-aecf-392677ef4b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BB03B-02D8-4150-8B36-F9BD50D9F5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</Words>
  <Application>Microsoft Office PowerPoint</Application>
  <PresentationFormat>Grand écran</PresentationFormat>
  <Paragraphs>110</Paragraphs>
  <Slides>4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Now</vt:lpstr>
      <vt:lpstr>Raleway</vt:lpstr>
      <vt:lpstr>2025 02_AMITA Conseil</vt:lpstr>
      <vt:lpstr>Diapositive think-cell</vt:lpstr>
      <vt:lpstr>Présentation PowerPoint</vt:lpstr>
      <vt:lpstr>Yassine NIKES</vt:lpstr>
      <vt:lpstr>Présentation PowerPoint</vt:lpstr>
      <vt:lpstr>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Aymeric Prat</dc:creator>
  <cp:lastModifiedBy>Grégoire Sourdel</cp:lastModifiedBy>
  <cp:revision>41</cp:revision>
  <dcterms:created xsi:type="dcterms:W3CDTF">2023-07-04T06:45:58Z</dcterms:created>
  <dcterms:modified xsi:type="dcterms:W3CDTF">2025-04-03T13:53:13Z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</Properties>
</file>