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notesSlides/notesSlide1.xml" ContentType="application/vnd.openxmlformats-officedocument.presentationml.notesSlide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8" r:id="rId4"/>
  </p:sldMasterIdLst>
  <p:notesMasterIdLst>
    <p:notesMasterId r:id="rId9"/>
  </p:notesMasterIdLst>
  <p:handoutMasterIdLst>
    <p:handoutMasterId r:id="rId10"/>
  </p:handoutMasterIdLst>
  <p:sldIdLst>
    <p:sldId id="2147473144" r:id="rId5"/>
    <p:sldId id="2147473142" r:id="rId6"/>
    <p:sldId id="2147473166" r:id="rId7"/>
    <p:sldId id="2147473167" r:id="rId8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D7480"/>
    <a:srgbClr val="FA803D"/>
    <a:srgbClr val="353637"/>
    <a:srgbClr val="43A2BF"/>
    <a:srgbClr val="FFFFFF"/>
    <a:srgbClr val="B5E1EF"/>
    <a:srgbClr val="6AA6B7"/>
    <a:srgbClr val="AEC4DA"/>
    <a:srgbClr val="C9D7E7"/>
    <a:srgbClr val="16141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58" autoAdjust="0"/>
    <p:restoredTop sz="94660"/>
  </p:normalViewPr>
  <p:slideViewPr>
    <p:cSldViewPr snapToGrid="0">
      <p:cViewPr varScale="1">
        <p:scale>
          <a:sx n="90" d="100"/>
          <a:sy n="90" d="100"/>
        </p:scale>
        <p:origin x="23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FB24B2C0-44A7-E859-F0F5-248C134869D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B195FBEB-AFF2-385C-9860-DC3C5A10E13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3ED521-90D3-4786-B7B2-29257DB33A99}" type="datetimeFigureOut">
              <a:rPr lang="fr-FR" smtClean="0"/>
              <a:t>27/03/2025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8BC2FB3E-C108-C16D-1C58-DFC36176488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98B3C60-4ADE-17B5-A9E7-ED077B292D6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AD0581-994E-4E23-BE9A-FBA5982806C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6960473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43FFD9-8027-4C6C-B719-3E33B2AEFA5C}" type="datetimeFigureOut">
              <a:rPr lang="fr-FR" smtClean="0"/>
              <a:t>27/03/2025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CCD49A-1064-457F-9288-ED9170BDB4C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671616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4CCBB6-FBCA-4E1B-8481-3CF74219937C}" type="slidenum">
              <a:rPr lang="fr-FR" smtClean="0"/>
              <a:pPr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449581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C07D3B-D737-6FBF-D89E-5DB58BB689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80D6A6E0-5CBA-9262-8D53-57F8CB86A3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16FB38C3-9AB6-D267-3C5F-F96E0C9291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3186B97-1E7E-E3B3-35F8-8FFA5B1254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4CCBB6-FBCA-4E1B-8481-3CF74219937C}" type="slidenum">
              <a:rPr lang="fr-FR" smtClean="0"/>
              <a:pPr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203298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7" Type="http://schemas.openxmlformats.org/officeDocument/2006/relationships/image" Target="../media/image3.sv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Relationship Id="rId6" Type="http://schemas.openxmlformats.org/officeDocument/2006/relationships/image" Target="../media/image2.png"/><Relationship Id="rId5" Type="http://schemas.openxmlformats.org/officeDocument/2006/relationships/image" Target="../media/image5.jpeg"/><Relationship Id="rId4" Type="http://schemas.openxmlformats.org/officeDocument/2006/relationships/image" Target="../media/image4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4" Type="http://schemas.openxmlformats.org/officeDocument/2006/relationships/image" Target="../media/image1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6" Type="http://schemas.openxmlformats.org/officeDocument/2006/relationships/image" Target="../media/image5.jpeg"/><Relationship Id="rId5" Type="http://schemas.openxmlformats.org/officeDocument/2006/relationships/image" Target="../media/image6.png"/><Relationship Id="rId4" Type="http://schemas.openxmlformats.org/officeDocument/2006/relationships/image" Target="../media/image4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image" Target="../media/image4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4" Type="http://schemas.openxmlformats.org/officeDocument/2006/relationships/image" Target="../media/image1.emf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4" Type="http://schemas.openxmlformats.org/officeDocument/2006/relationships/image" Target="../media/image1.em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Relationship Id="rId4" Type="http://schemas.openxmlformats.org/officeDocument/2006/relationships/image" Target="../media/image1.emf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Relationship Id="rId4" Type="http://schemas.openxmlformats.org/officeDocument/2006/relationships/image" Target="../media/image1.emf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Relationship Id="rId4" Type="http://schemas.openxmlformats.org/officeDocument/2006/relationships/image" Target="../media/image1.emf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Relationship Id="rId4" Type="http://schemas.openxmlformats.org/officeDocument/2006/relationships/image" Target="../media/image1.emf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Relationship Id="rId4" Type="http://schemas.openxmlformats.org/officeDocument/2006/relationships/image" Target="../media/image1.em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Relationship Id="rId4" Type="http://schemas.openxmlformats.org/officeDocument/2006/relationships/image" Target="../media/image1.emf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4.xml"/><Relationship Id="rId4" Type="http://schemas.openxmlformats.org/officeDocument/2006/relationships/image" Target="../media/image1.emf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5.xml"/><Relationship Id="rId4" Type="http://schemas.openxmlformats.org/officeDocument/2006/relationships/image" Target="../media/image1.emf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6.xml"/><Relationship Id="rId4" Type="http://schemas.openxmlformats.org/officeDocument/2006/relationships/image" Target="../media/image1.emf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7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1.emf"/></Relationships>
</file>

<file path=ppt/slideLayouts/_rels/slideLayout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oleObject" Target="../embeddings/oleObject18.bin"/><Relationship Id="rId7" Type="http://schemas.openxmlformats.org/officeDocument/2006/relationships/image" Target="../media/image1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8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1.emf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9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e de titre_Exter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 1" hidden="1">
            <a:extLst>
              <a:ext uri="{FF2B5EF4-FFF2-40B4-BE49-F238E27FC236}">
                <a16:creationId xmlns:a16="http://schemas.microsoft.com/office/drawing/2014/main" id="{E0B0A3D8-21A4-F5D5-5B3B-C72A37F17A2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7617058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3" imgW="500" imgH="501" progId="TCLayout.ActiveDocument.1">
                  <p:embed/>
                </p:oleObj>
              </mc:Choice>
              <mc:Fallback>
                <p:oleObj name="Diapositive think-cell" r:id="rId3" imgW="500" imgH="501" progId="TCLayout.ActiveDocument.1">
                  <p:embed/>
                  <p:pic>
                    <p:nvPicPr>
                      <p:cNvPr id="2" name="Objet 1" hidden="1">
                        <a:extLst>
                          <a:ext uri="{FF2B5EF4-FFF2-40B4-BE49-F238E27FC236}">
                            <a16:creationId xmlns:a16="http://schemas.microsoft.com/office/drawing/2014/main" id="{E0B0A3D8-21A4-F5D5-5B3B-C72A37F17A2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2ACAC907-7AE2-D996-69FC-C62EA15EA5AE}"/>
              </a:ext>
            </a:extLst>
          </p:cNvPr>
          <p:cNvSpPr/>
          <p:nvPr/>
        </p:nvSpPr>
        <p:spPr>
          <a:xfrm>
            <a:off x="0" y="6356350"/>
            <a:ext cx="12192000" cy="5016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52E298E-8483-7123-962E-65C2DC20D95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/>
          </a:p>
        </p:txBody>
      </p:sp>
      <p:pic>
        <p:nvPicPr>
          <p:cNvPr id="8" name="Picture Placeholder 4">
            <a:extLst>
              <a:ext uri="{FF2B5EF4-FFF2-40B4-BE49-F238E27FC236}">
                <a16:creationId xmlns:a16="http://schemas.microsoft.com/office/drawing/2014/main" id="{0DABC13F-E722-938B-B2A7-E7F0C4530395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alphaModFix amt="8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095999" y="152400"/>
            <a:ext cx="5940426" cy="6553200"/>
          </a:xfrm>
          <a:prstGeom prst="rect">
            <a:avLst/>
          </a:prstGeom>
        </p:spPr>
      </p:pic>
      <p:sp>
        <p:nvSpPr>
          <p:cNvPr id="12" name="Titre 2">
            <a:extLst>
              <a:ext uri="{FF2B5EF4-FFF2-40B4-BE49-F238E27FC236}">
                <a16:creationId xmlns:a16="http://schemas.microsoft.com/office/drawing/2014/main" id="{DFB0E0C3-CAA0-E2E5-7CC7-EDF73E786F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5392" y="2702734"/>
            <a:ext cx="5535032" cy="1200330"/>
          </a:xfrm>
        </p:spPr>
        <p:txBody>
          <a:bodyPr vert="horz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fr-FR" sz="3500" b="1" i="0" kern="1200" spc="-20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14" name="Espace réservé du texte 13">
            <a:extLst>
              <a:ext uri="{FF2B5EF4-FFF2-40B4-BE49-F238E27FC236}">
                <a16:creationId xmlns:a16="http://schemas.microsoft.com/office/drawing/2014/main" id="{2323AF6C-B7BC-FD33-DE02-26729638674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5392" y="4171763"/>
            <a:ext cx="5535032" cy="615553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 rtl="0">
              <a:buFont typeface="Arial" panose="020B0604020202020204" pitchFamily="34" charset="0"/>
              <a:buNone/>
              <a:defRPr lang="fr-FR" sz="1700" b="0" cap="none" baseline="0">
                <a:solidFill>
                  <a:srgbClr val="43A2BF"/>
                </a:solidFill>
                <a:latin typeface="+mj-lt"/>
              </a:defRPr>
            </a:lvl1pPr>
          </a:lstStyle>
          <a:p>
            <a:pPr marL="171450" lvl="0" indent="-171450">
              <a:spcBef>
                <a:spcPts val="0"/>
              </a:spcBef>
              <a:spcAft>
                <a:spcPts val="0"/>
              </a:spcAft>
            </a:pPr>
            <a:r>
              <a:rPr lang="fr-FR"/>
              <a:t>À l’attention de :</a:t>
            </a:r>
          </a:p>
        </p:txBody>
      </p:sp>
      <p:sp>
        <p:nvSpPr>
          <p:cNvPr id="16" name="Espace réservé du pied de page 2">
            <a:extLst>
              <a:ext uri="{FF2B5EF4-FFF2-40B4-BE49-F238E27FC236}">
                <a16:creationId xmlns:a16="http://schemas.microsoft.com/office/drawing/2014/main" id="{2B167ED6-AE00-F126-CF4A-009DB87FCB0D}"/>
              </a:ext>
            </a:extLst>
          </p:cNvPr>
          <p:cNvSpPr txBox="1">
            <a:spLocks/>
          </p:cNvSpPr>
          <p:nvPr/>
        </p:nvSpPr>
        <p:spPr>
          <a:xfrm>
            <a:off x="405392" y="1869619"/>
            <a:ext cx="3826799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ctr" defTabSz="914400" rtl="0" eaLnBrk="1" latinLnBrk="0" hangingPunct="1">
              <a:defRPr kumimoji="0" lang="fr-FR" sz="900" b="0" i="0" u="none" strike="noStrike" kern="1200" cap="none" spc="0" normalizeH="0" baseline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rtl="0"/>
            <a:r>
              <a:rPr lang="fr-FR" sz="850" b="1">
                <a:solidFill>
                  <a:srgbClr val="353637"/>
                </a:solidFill>
                <a:latin typeface="Now" panose="00000800000000000000" pitchFamily="50" charset="0"/>
              </a:rPr>
              <a:t>CABINET DE CONSEIL EN TRANSFORMATION</a:t>
            </a:r>
          </a:p>
          <a:p>
            <a:pPr algn="l" rtl="0"/>
            <a:r>
              <a:rPr lang="fr-FR" sz="700" b="1">
                <a:solidFill>
                  <a:srgbClr val="43A2BF"/>
                </a:solidFill>
                <a:latin typeface="Now" panose="00000800000000000000" pitchFamily="50" charset="0"/>
              </a:rPr>
              <a:t>PARIS – NANTES - NIORT</a:t>
            </a:r>
          </a:p>
        </p:txBody>
      </p:sp>
      <p:sp>
        <p:nvSpPr>
          <p:cNvPr id="17" name="Espace réservé du texte 13">
            <a:extLst>
              <a:ext uri="{FF2B5EF4-FFF2-40B4-BE49-F238E27FC236}">
                <a16:creationId xmlns:a16="http://schemas.microsoft.com/office/drawing/2014/main" id="{BAEA509A-536B-37D9-7FBF-76A40D60B19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5392" y="6232126"/>
            <a:ext cx="3398399" cy="365125"/>
          </a:xfrm>
        </p:spPr>
        <p:txBody>
          <a:bodyPr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None/>
              <a:defRPr lang="fr-FR" sz="1050" b="0" kern="1200" cap="none" baseline="0" dirty="0">
                <a:solidFill>
                  <a:schemeClr val="bg1">
                    <a:lumMod val="50000"/>
                  </a:schemeClr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fr-FR"/>
              <a:t>Date</a:t>
            </a:r>
          </a:p>
        </p:txBody>
      </p:sp>
      <p:sp>
        <p:nvSpPr>
          <p:cNvPr id="6" name="Espace réservé pour une image  5">
            <a:extLst>
              <a:ext uri="{FF2B5EF4-FFF2-40B4-BE49-F238E27FC236}">
                <a16:creationId xmlns:a16="http://schemas.microsoft.com/office/drawing/2014/main" id="{AFCADCEA-D7EF-4A23-BEC7-7D6DFD55D920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405392" y="4977908"/>
            <a:ext cx="3398400" cy="1063625"/>
          </a:xfrm>
        </p:spPr>
        <p:txBody>
          <a:bodyPr/>
          <a:lstStyle>
            <a:lvl1pPr marL="0" indent="0" rtl="0">
              <a:buNone/>
              <a:defRPr sz="16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fr-FR"/>
              <a:t>Insérer le logo client</a:t>
            </a:r>
          </a:p>
        </p:txBody>
      </p:sp>
      <p:pic>
        <p:nvPicPr>
          <p:cNvPr id="3" name="Espace réservé du contenu 14">
            <a:extLst>
              <a:ext uri="{FF2B5EF4-FFF2-40B4-BE49-F238E27FC236}">
                <a16:creationId xmlns:a16="http://schemas.microsoft.com/office/drawing/2014/main" id="{E148F707-7F4A-452A-957D-A68A3040F28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269516" y="521012"/>
            <a:ext cx="3398244" cy="1528773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C6D6CB2A-A13C-0602-09B6-D12BA3E91498}"/>
              </a:ext>
            </a:extLst>
          </p:cNvPr>
          <p:cNvSpPr txBox="1"/>
          <p:nvPr/>
        </p:nvSpPr>
        <p:spPr>
          <a:xfrm>
            <a:off x="-1307963" y="4977908"/>
            <a:ext cx="1157769" cy="1611586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rtl="0">
              <a:spcBef>
                <a:spcPts val="600"/>
              </a:spcBef>
            </a:pPr>
            <a:r>
              <a:rPr lang="fr-FR" sz="1000" spc="0" baseline="0" noProof="0">
                <a:latin typeface="+mn-lt"/>
              </a:rPr>
              <a:t>Pour insérer le logo client :</a:t>
            </a:r>
          </a:p>
          <a:p>
            <a:pPr rtl="0">
              <a:spcBef>
                <a:spcPts val="600"/>
              </a:spcBef>
            </a:pPr>
            <a:r>
              <a:rPr lang="fr-FR" sz="1000" spc="0" baseline="0" noProof="0">
                <a:latin typeface="+mn-lt"/>
              </a:rPr>
              <a:t>Cliquer sur l’icône au centre de la zone pour insérer la nouvelle image.</a:t>
            </a:r>
          </a:p>
          <a:p>
            <a:pPr rtl="0">
              <a:spcBef>
                <a:spcPts val="600"/>
              </a:spcBef>
            </a:pPr>
            <a:r>
              <a:rPr lang="fr-FR" sz="1000" spc="0" baseline="0" noProof="0">
                <a:latin typeface="+mn-lt"/>
              </a:rPr>
              <a:t>Ajuster le cadrage avec l’outil : </a:t>
            </a:r>
            <a:r>
              <a:rPr lang="fr-FR" sz="1000" b="1" spc="0" baseline="0" noProof="0">
                <a:latin typeface="+mn-lt"/>
              </a:rPr>
              <a:t>Rogner &gt; Ajuster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22A52835-DD73-95D3-1FCA-BEC25C36E413}"/>
              </a:ext>
            </a:extLst>
          </p:cNvPr>
          <p:cNvSpPr txBox="1"/>
          <p:nvPr/>
        </p:nvSpPr>
        <p:spPr>
          <a:xfrm>
            <a:off x="-1307963" y="1880092"/>
            <a:ext cx="1157769" cy="2381027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rtl="0">
              <a:spcBef>
                <a:spcPts val="600"/>
              </a:spcBef>
            </a:pPr>
            <a:r>
              <a:rPr lang="fr-FR" sz="1000" b="0" spc="0" baseline="0" noProof="0">
                <a:latin typeface="+mn-lt"/>
              </a:rPr>
              <a:t>Trois images de couverture personnalisées existent pour les bureaux de Paris, Niort et Nantes.</a:t>
            </a:r>
          </a:p>
          <a:p>
            <a:pPr rtl="0">
              <a:spcBef>
                <a:spcPts val="600"/>
              </a:spcBef>
            </a:pPr>
            <a:endParaRPr lang="fr-FR" sz="1000" b="0" spc="0" baseline="0" noProof="0">
              <a:latin typeface="+mn-lt"/>
            </a:endParaRPr>
          </a:p>
          <a:p>
            <a:pPr rtl="0">
              <a:spcBef>
                <a:spcPts val="600"/>
              </a:spcBef>
            </a:pPr>
            <a:r>
              <a:rPr lang="fr-FR" sz="1000" b="0" spc="0" baseline="0" noProof="0">
                <a:latin typeface="+mn-lt"/>
              </a:rPr>
              <a:t>Faire un clic droit dans un espace vide de la diapositive, puis sur </a:t>
            </a:r>
            <a:r>
              <a:rPr lang="fr-FR" sz="1000" b="1" spc="0" baseline="0" noProof="0">
                <a:latin typeface="+mn-lt"/>
              </a:rPr>
              <a:t>Diapositive de </a:t>
            </a:r>
            <a:r>
              <a:rPr lang="fr-FR" sz="1000" b="1" spc="0" baseline="0" noProof="0" err="1">
                <a:latin typeface="+mn-lt"/>
              </a:rPr>
              <a:t>titre_Personnalisable</a:t>
            </a:r>
            <a:endParaRPr lang="fr-FR" sz="1000" b="1" spc="0" baseline="0" noProof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4366949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mmair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t 6" hidden="1">
            <a:extLst>
              <a:ext uri="{FF2B5EF4-FFF2-40B4-BE49-F238E27FC236}">
                <a16:creationId xmlns:a16="http://schemas.microsoft.com/office/drawing/2014/main" id="{4C55C73E-1F28-FCD2-3F36-BA93C1A8013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2517052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3" imgW="359" imgH="360" progId="TCLayout.ActiveDocument.1">
                  <p:embed/>
                </p:oleObj>
              </mc:Choice>
              <mc:Fallback>
                <p:oleObj name="Diapositive think-cell" r:id="rId3" imgW="359" imgH="360" progId="TCLayout.ActiveDocument.1">
                  <p:embed/>
                  <p:pic>
                    <p:nvPicPr>
                      <p:cNvPr id="7" name="Objet 6" hidden="1">
                        <a:extLst>
                          <a:ext uri="{FF2B5EF4-FFF2-40B4-BE49-F238E27FC236}">
                            <a16:creationId xmlns:a16="http://schemas.microsoft.com/office/drawing/2014/main" id="{4C55C73E-1F28-FCD2-3F36-BA93C1A8013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AAD0EBE0-0B87-812D-1291-1E909F85EFE3}"/>
              </a:ext>
            </a:extLst>
          </p:cNvPr>
          <p:cNvSpPr/>
          <p:nvPr/>
        </p:nvSpPr>
        <p:spPr>
          <a:xfrm>
            <a:off x="0" y="0"/>
            <a:ext cx="742453" cy="6784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sz="1400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A1E45E4-ED9E-3103-5D51-2EACB99B9A04}"/>
              </a:ext>
            </a:extLst>
          </p:cNvPr>
          <p:cNvSpPr/>
          <p:nvPr/>
        </p:nvSpPr>
        <p:spPr>
          <a:xfrm>
            <a:off x="155574" y="152399"/>
            <a:ext cx="3240000" cy="65532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>
              <a:latin typeface="+mj-lt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34001D4-DA23-4BD4-5445-0413E39D08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7794" y="1606555"/>
            <a:ext cx="2855561" cy="742451"/>
          </a:xfrm>
        </p:spPr>
        <p:txBody>
          <a:bodyPr vert="horz" lIns="91440" tIns="45720" rIns="91440" bIns="45720" rtlCol="0" anchor="t">
            <a:noAutofit/>
          </a:bodyPr>
          <a:lstStyle>
            <a:lvl1pPr rtl="0">
              <a:defRPr lang="fr-FR" sz="2400" b="1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Titre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25F0B61A-F63C-180C-875F-BF2F8EE1C53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543300" y="6339417"/>
            <a:ext cx="5714999" cy="365125"/>
          </a:xfrm>
        </p:spPr>
        <p:txBody>
          <a:bodyPr/>
          <a:lstStyle>
            <a:lvl1pPr rtl="0">
              <a:defRPr/>
            </a:lvl1pPr>
          </a:lstStyle>
          <a:p>
            <a:r>
              <a:rPr lang="fr-FR"/>
              <a:t>AMITA CONSEIL</a:t>
            </a:r>
          </a:p>
        </p:txBody>
      </p:sp>
      <p:sp>
        <p:nvSpPr>
          <p:cNvPr id="10" name="Espace réservé du contenu 11">
            <a:extLst>
              <a:ext uri="{FF2B5EF4-FFF2-40B4-BE49-F238E27FC236}">
                <a16:creationId xmlns:a16="http://schemas.microsoft.com/office/drawing/2014/main" id="{4C4BA35F-4E6C-F444-2E60-7BFAA60BC23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960254" y="1606555"/>
            <a:ext cx="7850745" cy="4570406"/>
          </a:xfrm>
        </p:spPr>
        <p:txBody>
          <a:bodyPr/>
          <a:lstStyle>
            <a:lvl1pPr marL="342900" indent="-3429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 sz="1800" b="1"/>
            </a:lvl1pPr>
            <a:lvl2pPr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600"/>
            </a:lvl2pPr>
            <a:lvl3pPr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400"/>
            </a:lvl3pPr>
            <a:lvl4pPr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200"/>
            </a:lvl4pPr>
            <a:lvl5pPr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1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87C0864-7829-C799-8722-32EE68C7772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55574" y="6340475"/>
            <a:ext cx="362084" cy="365125"/>
          </a:xfrm>
        </p:spPr>
        <p:txBody>
          <a:bodyPr/>
          <a:lstStyle>
            <a:lvl1pPr rtl="0">
              <a:defRPr>
                <a:solidFill>
                  <a:schemeClr val="bg1"/>
                </a:solidFill>
              </a:defRPr>
            </a:lvl1pPr>
          </a:lstStyle>
          <a:p>
            <a:fld id="{BE9517EC-C298-4848-B090-11602D956FCE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361161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e de titre_Inter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 1" hidden="1">
            <a:extLst>
              <a:ext uri="{FF2B5EF4-FFF2-40B4-BE49-F238E27FC236}">
                <a16:creationId xmlns:a16="http://schemas.microsoft.com/office/drawing/2014/main" id="{E0B0A3D8-21A4-F5D5-5B3B-C72A37F17A2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3558918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3" imgW="500" imgH="501" progId="TCLayout.ActiveDocument.1">
                  <p:embed/>
                </p:oleObj>
              </mc:Choice>
              <mc:Fallback>
                <p:oleObj name="Diapositive think-cell" r:id="rId3" imgW="500" imgH="501" progId="TCLayout.ActiveDocument.1">
                  <p:embed/>
                  <p:pic>
                    <p:nvPicPr>
                      <p:cNvPr id="2" name="Objet 1" hidden="1">
                        <a:extLst>
                          <a:ext uri="{FF2B5EF4-FFF2-40B4-BE49-F238E27FC236}">
                            <a16:creationId xmlns:a16="http://schemas.microsoft.com/office/drawing/2014/main" id="{E0B0A3D8-21A4-F5D5-5B3B-C72A37F17A2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2ACAC907-7AE2-D996-69FC-C62EA15EA5A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77144D3E-4538-47FE-9291-A9AD3DA2C7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5391" y="2702734"/>
            <a:ext cx="5536800" cy="1200330"/>
          </a:xfrm>
        </p:spPr>
        <p:txBody>
          <a:bodyPr vert="horz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fr-FR" sz="3500" b="1" i="0" kern="1200" spc="-20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18" name="Espace réservé du texte 13">
            <a:extLst>
              <a:ext uri="{FF2B5EF4-FFF2-40B4-BE49-F238E27FC236}">
                <a16:creationId xmlns:a16="http://schemas.microsoft.com/office/drawing/2014/main" id="{62CB8C63-10F4-D080-DEBB-D6D14DB08D2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5391" y="4171763"/>
            <a:ext cx="5536800" cy="615553"/>
          </a:xfrm>
        </p:spPr>
        <p:txBody>
          <a:bodyPr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None/>
              <a:defRPr lang="fr-FR" sz="1700" b="0" kern="1200" cap="none" baseline="0" dirty="0">
                <a:solidFill>
                  <a:srgbClr val="43A2BF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fr-FR"/>
              <a:t>Sous-titre de la présentation</a:t>
            </a:r>
          </a:p>
        </p:txBody>
      </p:sp>
      <p:pic>
        <p:nvPicPr>
          <p:cNvPr id="22" name="Espace réservé du contenu 14" descr="Une image contenant Police, Graphique, graphisme, capture d’écran&#10;&#10;Description générée automatiquement">
            <a:extLst>
              <a:ext uri="{FF2B5EF4-FFF2-40B4-BE49-F238E27FC236}">
                <a16:creationId xmlns:a16="http://schemas.microsoft.com/office/drawing/2014/main" id="{361737A8-8A52-2A97-77F8-8D7DBF70DB2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9516" y="518616"/>
            <a:ext cx="3398244" cy="1533566"/>
          </a:xfrm>
          <a:prstGeom prst="rect">
            <a:avLst/>
          </a:prstGeom>
        </p:spPr>
      </p:pic>
      <p:sp>
        <p:nvSpPr>
          <p:cNvPr id="23" name="Espace réservé du pied de page 2">
            <a:extLst>
              <a:ext uri="{FF2B5EF4-FFF2-40B4-BE49-F238E27FC236}">
                <a16:creationId xmlns:a16="http://schemas.microsoft.com/office/drawing/2014/main" id="{0D4F6383-6F22-24BA-EB2D-43D439F7C189}"/>
              </a:ext>
            </a:extLst>
          </p:cNvPr>
          <p:cNvSpPr txBox="1">
            <a:spLocks/>
          </p:cNvSpPr>
          <p:nvPr/>
        </p:nvSpPr>
        <p:spPr>
          <a:xfrm>
            <a:off x="405392" y="6232126"/>
            <a:ext cx="3826799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ctr" defTabSz="914400" rtl="0" eaLnBrk="1" latinLnBrk="0" hangingPunct="1">
              <a:defRPr kumimoji="0" lang="fr-FR" sz="900" b="0" i="0" u="none" strike="noStrike" kern="1200" cap="none" spc="0" normalizeH="0" baseline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rtl="0"/>
            <a:r>
              <a:rPr lang="fr-FR" sz="850" b="1">
                <a:solidFill>
                  <a:srgbClr val="353637"/>
                </a:solidFill>
                <a:latin typeface="Now" panose="00000800000000000000" pitchFamily="50" charset="0"/>
              </a:rPr>
              <a:t>CABINET DE CONSEIL EN TRANSFORMATION</a:t>
            </a:r>
          </a:p>
          <a:p>
            <a:pPr algn="l" rtl="0"/>
            <a:r>
              <a:rPr lang="fr-FR" sz="700" b="1">
                <a:solidFill>
                  <a:srgbClr val="43A2BF"/>
                </a:solidFill>
                <a:latin typeface="Now" panose="00000800000000000000" pitchFamily="50" charset="0"/>
              </a:rPr>
              <a:t>PARIS – NANTES - NIORT</a:t>
            </a:r>
          </a:p>
        </p:txBody>
      </p:sp>
      <p:sp>
        <p:nvSpPr>
          <p:cNvPr id="27" name="Espace réservé du texte 13">
            <a:extLst>
              <a:ext uri="{FF2B5EF4-FFF2-40B4-BE49-F238E27FC236}">
                <a16:creationId xmlns:a16="http://schemas.microsoft.com/office/drawing/2014/main" id="{82948179-F907-438B-6216-BE02362C576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5392" y="5306443"/>
            <a:ext cx="3398400" cy="365125"/>
          </a:xfrm>
        </p:spPr>
        <p:txBody>
          <a:bodyPr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  <a:buFont typeface="+mj-lt"/>
              <a:buNone/>
              <a:defRPr lang="fr-FR" sz="1050" b="0" kern="1200" cap="none" baseline="0" dirty="0">
                <a:solidFill>
                  <a:schemeClr val="bg1">
                    <a:lumMod val="50000"/>
                  </a:schemeClr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fr-FR"/>
              <a:t>Date</a:t>
            </a:r>
          </a:p>
        </p:txBody>
      </p:sp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4B024DAB-970A-A95E-B527-DDAAC1E66A7D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alphaModFix amt="8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095999" y="152400"/>
            <a:ext cx="5940426" cy="6553200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E748005A-86AE-5AF9-54E1-49B6AA7560AB}"/>
              </a:ext>
            </a:extLst>
          </p:cNvPr>
          <p:cNvSpPr txBox="1"/>
          <p:nvPr/>
        </p:nvSpPr>
        <p:spPr>
          <a:xfrm>
            <a:off x="-1307963" y="4977908"/>
            <a:ext cx="1157769" cy="1611586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rtl="0">
              <a:spcBef>
                <a:spcPts val="600"/>
              </a:spcBef>
            </a:pPr>
            <a:r>
              <a:rPr lang="fr-FR" sz="1000" spc="0" baseline="0" noProof="0">
                <a:latin typeface="+mn-lt"/>
              </a:rPr>
              <a:t>Pour insérer le logo client :</a:t>
            </a:r>
          </a:p>
          <a:p>
            <a:pPr rtl="0">
              <a:spcBef>
                <a:spcPts val="600"/>
              </a:spcBef>
            </a:pPr>
            <a:r>
              <a:rPr lang="fr-FR" sz="1000" spc="0" baseline="0" noProof="0">
                <a:latin typeface="+mn-lt"/>
              </a:rPr>
              <a:t>Cliquer sur l’icône au centre de la zone pour insérer la nouvelle image.</a:t>
            </a:r>
          </a:p>
          <a:p>
            <a:pPr rtl="0">
              <a:spcBef>
                <a:spcPts val="600"/>
              </a:spcBef>
            </a:pPr>
            <a:r>
              <a:rPr lang="fr-FR" sz="1000" spc="0" baseline="0" noProof="0">
                <a:latin typeface="+mn-lt"/>
              </a:rPr>
              <a:t>Ajuster le cadrage avec l’outil : </a:t>
            </a:r>
            <a:r>
              <a:rPr lang="fr-FR" sz="1000" b="1" spc="0" baseline="0" noProof="0">
                <a:latin typeface="+mn-lt"/>
              </a:rPr>
              <a:t>Rogner &gt; Ajuster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445E5415-A25C-1D04-E049-BFFD02009B61}"/>
              </a:ext>
            </a:extLst>
          </p:cNvPr>
          <p:cNvSpPr txBox="1"/>
          <p:nvPr/>
        </p:nvSpPr>
        <p:spPr>
          <a:xfrm>
            <a:off x="-1307963" y="0"/>
            <a:ext cx="1157769" cy="4689352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rtl="0">
              <a:spcBef>
                <a:spcPts val="600"/>
              </a:spcBef>
            </a:pPr>
            <a:r>
              <a:rPr lang="fr-FR" sz="1000" spc="0" baseline="0" noProof="0">
                <a:latin typeface="+mn-lt"/>
              </a:rPr>
              <a:t>Pour modifier l’image de couverture (à droite) :</a:t>
            </a:r>
          </a:p>
          <a:p>
            <a:pPr rtl="0">
              <a:spcBef>
                <a:spcPts val="600"/>
              </a:spcBef>
            </a:pPr>
            <a:r>
              <a:rPr lang="fr-FR" sz="1000" spc="0" baseline="0" noProof="0">
                <a:latin typeface="+mn-lt"/>
              </a:rPr>
              <a:t>Insérer l’image souhaitée sur une autre diapositive.</a:t>
            </a:r>
          </a:p>
          <a:p>
            <a:pPr rtl="0">
              <a:spcBef>
                <a:spcPts val="600"/>
              </a:spcBef>
            </a:pPr>
            <a:r>
              <a:rPr lang="fr-FR" sz="1000" spc="0" baseline="0" noProof="0">
                <a:latin typeface="+mn-lt"/>
              </a:rPr>
              <a:t>Sélectionner l’image de couverture puis cliquer sur </a:t>
            </a:r>
            <a:r>
              <a:rPr lang="fr-FR" sz="1000" b="1" spc="0" baseline="0" noProof="0">
                <a:latin typeface="+mn-lt"/>
              </a:rPr>
              <a:t>Reproduire la mise en forme (CTRL+SHIFT+C)</a:t>
            </a:r>
            <a:r>
              <a:rPr lang="fr-FR" sz="1000" spc="0" baseline="0" noProof="0">
                <a:latin typeface="+mn-lt"/>
              </a:rPr>
              <a:t> </a:t>
            </a:r>
          </a:p>
          <a:p>
            <a:pPr rtl="0">
              <a:spcBef>
                <a:spcPts val="600"/>
              </a:spcBef>
            </a:pPr>
            <a:r>
              <a:rPr lang="fr-FR" sz="1000" spc="0" baseline="0" noProof="0">
                <a:latin typeface="+mn-lt"/>
              </a:rPr>
              <a:t>Se rendre sur l’autre diapositive, </a:t>
            </a:r>
            <a:r>
              <a:rPr lang="fr-FR" sz="1000" b="1" spc="0" baseline="0" noProof="0">
                <a:latin typeface="+mn-lt"/>
              </a:rPr>
              <a:t>Reproduire la mise en forme (CTRL+SHIFT+V)</a:t>
            </a:r>
            <a:r>
              <a:rPr lang="fr-FR" sz="1000" spc="0" baseline="0" noProof="0">
                <a:latin typeface="+mn-lt"/>
              </a:rPr>
              <a:t> sur l’image souhaitée, puis cliquer sur </a:t>
            </a:r>
            <a:r>
              <a:rPr lang="fr-FR" sz="1000" b="1" spc="0" baseline="0" noProof="0">
                <a:latin typeface="+mn-lt"/>
              </a:rPr>
              <a:t>Copier</a:t>
            </a:r>
            <a:r>
              <a:rPr lang="fr-FR" sz="1000" spc="0" baseline="0" noProof="0">
                <a:latin typeface="+mn-lt"/>
              </a:rPr>
              <a:t>.</a:t>
            </a:r>
          </a:p>
          <a:p>
            <a:pPr rtl="0">
              <a:spcBef>
                <a:spcPts val="600"/>
              </a:spcBef>
            </a:pPr>
            <a:r>
              <a:rPr lang="fr-FR" sz="1000" b="0" spc="0" baseline="0" noProof="0">
                <a:latin typeface="+mn-lt"/>
              </a:rPr>
              <a:t>Faire un clic droit sur l’image de couverture puis </a:t>
            </a:r>
            <a:r>
              <a:rPr lang="fr-FR" sz="1000" b="1" spc="0" baseline="0" noProof="0">
                <a:latin typeface="+mn-lt"/>
              </a:rPr>
              <a:t>: changer d’image &gt; À partir du presse papier </a:t>
            </a:r>
          </a:p>
        </p:txBody>
      </p:sp>
    </p:spTree>
    <p:extLst>
      <p:ext uri="{BB962C8B-B14F-4D97-AF65-F5344CB8AC3E}">
        <p14:creationId xmlns:p14="http://schemas.microsoft.com/office/powerpoint/2010/main" val="2503839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e de titre_Personnalis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 1" hidden="1">
            <a:extLst>
              <a:ext uri="{FF2B5EF4-FFF2-40B4-BE49-F238E27FC236}">
                <a16:creationId xmlns:a16="http://schemas.microsoft.com/office/drawing/2014/main" id="{E0B0A3D8-21A4-F5D5-5B3B-C72A37F17A2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4868315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3" imgW="500" imgH="501" progId="TCLayout.ActiveDocument.1">
                  <p:embed/>
                </p:oleObj>
              </mc:Choice>
              <mc:Fallback>
                <p:oleObj name="Diapositive think-cell" r:id="rId3" imgW="500" imgH="501" progId="TCLayout.ActiveDocument.1">
                  <p:embed/>
                  <p:pic>
                    <p:nvPicPr>
                      <p:cNvPr id="2" name="Objet 1" hidden="1">
                        <a:extLst>
                          <a:ext uri="{FF2B5EF4-FFF2-40B4-BE49-F238E27FC236}">
                            <a16:creationId xmlns:a16="http://schemas.microsoft.com/office/drawing/2014/main" id="{E0B0A3D8-21A4-F5D5-5B3B-C72A37F17A2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A52E298E-8483-7123-962E-65C2DC20D95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ACAC907-7AE2-D996-69FC-C62EA15EA5AE}"/>
              </a:ext>
            </a:extLst>
          </p:cNvPr>
          <p:cNvSpPr/>
          <p:nvPr/>
        </p:nvSpPr>
        <p:spPr>
          <a:xfrm>
            <a:off x="0" y="6356350"/>
            <a:ext cx="12192000" cy="5016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/>
          </a:p>
        </p:txBody>
      </p:sp>
      <p:sp>
        <p:nvSpPr>
          <p:cNvPr id="12" name="Titre 2">
            <a:extLst>
              <a:ext uri="{FF2B5EF4-FFF2-40B4-BE49-F238E27FC236}">
                <a16:creationId xmlns:a16="http://schemas.microsoft.com/office/drawing/2014/main" id="{DFB0E0C3-CAA0-E2E5-7CC7-EDF73E786F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5392" y="2702734"/>
            <a:ext cx="5535032" cy="1200330"/>
          </a:xfrm>
        </p:spPr>
        <p:txBody>
          <a:bodyPr vert="horz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fr-FR" sz="3500" b="1" i="0" kern="1200" spc="-20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14" name="Espace réservé du texte 13">
            <a:extLst>
              <a:ext uri="{FF2B5EF4-FFF2-40B4-BE49-F238E27FC236}">
                <a16:creationId xmlns:a16="http://schemas.microsoft.com/office/drawing/2014/main" id="{2323AF6C-B7BC-FD33-DE02-26729638674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5392" y="4171763"/>
            <a:ext cx="5535032" cy="615553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 rtl="0">
              <a:buFont typeface="Arial" panose="020B0604020202020204" pitchFamily="34" charset="0"/>
              <a:buNone/>
              <a:defRPr lang="fr-FR" sz="1700" b="0" cap="none" baseline="0">
                <a:solidFill>
                  <a:srgbClr val="43A2BF"/>
                </a:solidFill>
                <a:latin typeface="+mj-lt"/>
              </a:defRPr>
            </a:lvl1pPr>
          </a:lstStyle>
          <a:p>
            <a:pPr marL="171450" lvl="0" indent="-171450">
              <a:spcBef>
                <a:spcPts val="0"/>
              </a:spcBef>
              <a:spcAft>
                <a:spcPts val="0"/>
              </a:spcAft>
            </a:pPr>
            <a:r>
              <a:rPr lang="fr-FR"/>
              <a:t>À l’attention de :</a:t>
            </a:r>
          </a:p>
        </p:txBody>
      </p:sp>
      <p:sp>
        <p:nvSpPr>
          <p:cNvPr id="16" name="Espace réservé du pied de page 2">
            <a:extLst>
              <a:ext uri="{FF2B5EF4-FFF2-40B4-BE49-F238E27FC236}">
                <a16:creationId xmlns:a16="http://schemas.microsoft.com/office/drawing/2014/main" id="{2B167ED6-AE00-F126-CF4A-009DB87FCB0D}"/>
              </a:ext>
            </a:extLst>
          </p:cNvPr>
          <p:cNvSpPr txBox="1">
            <a:spLocks/>
          </p:cNvSpPr>
          <p:nvPr/>
        </p:nvSpPr>
        <p:spPr>
          <a:xfrm>
            <a:off x="405392" y="1869619"/>
            <a:ext cx="3826799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ctr" defTabSz="914400" rtl="0" eaLnBrk="1" latinLnBrk="0" hangingPunct="1">
              <a:defRPr kumimoji="0" lang="fr-FR" sz="900" b="0" i="0" u="none" strike="noStrike" kern="1200" cap="none" spc="0" normalizeH="0" baseline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rtl="0"/>
            <a:r>
              <a:rPr lang="fr-FR" sz="850" b="1">
                <a:solidFill>
                  <a:srgbClr val="353637"/>
                </a:solidFill>
                <a:latin typeface="Now" panose="00000800000000000000" pitchFamily="50" charset="0"/>
              </a:rPr>
              <a:t>CABINET DE CONSEIL EN TRANSFORMATION</a:t>
            </a:r>
          </a:p>
          <a:p>
            <a:pPr algn="l" rtl="0"/>
            <a:r>
              <a:rPr lang="fr-FR" sz="700" b="1">
                <a:solidFill>
                  <a:srgbClr val="43A2BF"/>
                </a:solidFill>
                <a:latin typeface="Now" panose="00000800000000000000" pitchFamily="50" charset="0"/>
              </a:rPr>
              <a:t>PARIS – NANTES - NIORT</a:t>
            </a:r>
          </a:p>
        </p:txBody>
      </p:sp>
      <p:sp>
        <p:nvSpPr>
          <p:cNvPr id="17" name="Espace réservé du texte 13">
            <a:extLst>
              <a:ext uri="{FF2B5EF4-FFF2-40B4-BE49-F238E27FC236}">
                <a16:creationId xmlns:a16="http://schemas.microsoft.com/office/drawing/2014/main" id="{BAEA509A-536B-37D9-7FBF-76A40D60B19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5393" y="6232126"/>
            <a:ext cx="3398400" cy="365125"/>
          </a:xfrm>
        </p:spPr>
        <p:txBody>
          <a:bodyPr vert="horz" lIns="91440" tIns="45720" rIns="91440" bIns="45720" rtlCol="0" anchor="t">
            <a:noAutofit/>
          </a:bodyPr>
          <a:lstStyle>
            <a:lvl1pPr rtl="0">
              <a:defRPr lang="fr-FR" sz="1050" b="0" cap="none" baseline="0" dirty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</a:lstStyle>
          <a:p>
            <a:pPr marL="0" lvl="0" indent="0">
              <a:lnSpc>
                <a:spcPct val="90000"/>
              </a:lnSpc>
              <a:spcBef>
                <a:spcPts val="1000"/>
              </a:spcBef>
              <a:buFont typeface="+mj-lt"/>
              <a:buNone/>
            </a:pPr>
            <a:r>
              <a:rPr lang="fr-FR"/>
              <a:t>Date</a:t>
            </a:r>
          </a:p>
        </p:txBody>
      </p:sp>
      <p:sp>
        <p:nvSpPr>
          <p:cNvPr id="6" name="Espace réservé pour une image  5">
            <a:extLst>
              <a:ext uri="{FF2B5EF4-FFF2-40B4-BE49-F238E27FC236}">
                <a16:creationId xmlns:a16="http://schemas.microsoft.com/office/drawing/2014/main" id="{AFCADCEA-D7EF-4A23-BEC7-7D6DFD55D920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405392" y="4977908"/>
            <a:ext cx="3398400" cy="1063625"/>
          </a:xfrm>
        </p:spPr>
        <p:txBody>
          <a:bodyPr/>
          <a:lstStyle>
            <a:lvl1pPr marL="0" indent="0" rtl="0">
              <a:buNone/>
              <a:defRPr sz="16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fr-FR"/>
              <a:t>Insérer le logo client</a:t>
            </a:r>
          </a:p>
        </p:txBody>
      </p:sp>
      <p:pic>
        <p:nvPicPr>
          <p:cNvPr id="13" name="Espace réservé du contenu 14">
            <a:extLst>
              <a:ext uri="{FF2B5EF4-FFF2-40B4-BE49-F238E27FC236}">
                <a16:creationId xmlns:a16="http://schemas.microsoft.com/office/drawing/2014/main" id="{A662533E-9044-50F4-6124-A854428ABE0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269516" y="521012"/>
            <a:ext cx="3398244" cy="1528773"/>
          </a:xfrm>
          <a:prstGeom prst="rect">
            <a:avLst/>
          </a:prstGeom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C7587D82-E432-0963-A697-4CFE56F47A5B}"/>
              </a:ext>
            </a:extLst>
          </p:cNvPr>
          <p:cNvSpPr txBox="1"/>
          <p:nvPr/>
        </p:nvSpPr>
        <p:spPr>
          <a:xfrm>
            <a:off x="-1307963" y="4977908"/>
            <a:ext cx="1157769" cy="1611586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rtl="0">
              <a:spcBef>
                <a:spcPts val="600"/>
              </a:spcBef>
            </a:pPr>
            <a:r>
              <a:rPr lang="fr-FR" sz="1000" spc="0" baseline="0" noProof="0">
                <a:latin typeface="+mn-lt"/>
              </a:rPr>
              <a:t>Pour insérer le logo client :</a:t>
            </a:r>
          </a:p>
          <a:p>
            <a:pPr rtl="0">
              <a:spcBef>
                <a:spcPts val="600"/>
              </a:spcBef>
            </a:pPr>
            <a:r>
              <a:rPr lang="fr-FR" sz="1000" spc="0" baseline="0" noProof="0">
                <a:latin typeface="+mn-lt"/>
              </a:rPr>
              <a:t>Cliquer sur l’icône au centre de la zone pour insérer la nouvelle image.</a:t>
            </a:r>
          </a:p>
          <a:p>
            <a:pPr rtl="0">
              <a:spcBef>
                <a:spcPts val="600"/>
              </a:spcBef>
            </a:pPr>
            <a:r>
              <a:rPr lang="fr-FR" sz="1000" spc="0" baseline="0" noProof="0">
                <a:latin typeface="+mn-lt"/>
              </a:rPr>
              <a:t>Ajuster le cadrage avec l’outil : </a:t>
            </a:r>
            <a:r>
              <a:rPr lang="fr-FR" sz="1000" b="1" spc="0" baseline="0" noProof="0">
                <a:latin typeface="+mn-lt"/>
              </a:rPr>
              <a:t>Rogner &gt; Ajuster</a:t>
            </a:r>
          </a:p>
        </p:txBody>
      </p:sp>
      <p:sp>
        <p:nvSpPr>
          <p:cNvPr id="10" name="Espace réservé pour une image  8">
            <a:extLst>
              <a:ext uri="{FF2B5EF4-FFF2-40B4-BE49-F238E27FC236}">
                <a16:creationId xmlns:a16="http://schemas.microsoft.com/office/drawing/2014/main" id="{87E1669B-0B26-BB47-9924-6E636B4293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6095996" y="152400"/>
            <a:ext cx="5940424" cy="6553200"/>
          </a:xfrm>
        </p:spPr>
        <p:txBody>
          <a:bodyPr/>
          <a:lstStyle>
            <a:lvl1pPr rtl="0">
              <a:defRPr/>
            </a:lvl1pPr>
          </a:lstStyle>
          <a:p>
            <a:r>
              <a:rPr lang="fr-FR"/>
              <a:t>Cliquez sur l'icône pour ajouter une image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A637B34E-105B-3E7F-55FE-DC172C64C96F}"/>
              </a:ext>
            </a:extLst>
          </p:cNvPr>
          <p:cNvSpPr txBox="1"/>
          <p:nvPr/>
        </p:nvSpPr>
        <p:spPr>
          <a:xfrm>
            <a:off x="-1307963" y="1880092"/>
            <a:ext cx="1157769" cy="2765748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rtl="0">
              <a:spcBef>
                <a:spcPts val="600"/>
              </a:spcBef>
            </a:pPr>
            <a:r>
              <a:rPr lang="fr-FR" sz="1000" b="0" spc="0" baseline="0" noProof="0">
                <a:latin typeface="+mn-lt"/>
              </a:rPr>
              <a:t>Cliquez sur l’icone pour ajouter l’image de couverture</a:t>
            </a:r>
          </a:p>
          <a:p>
            <a:pPr rtl="0">
              <a:spcBef>
                <a:spcPts val="600"/>
              </a:spcBef>
            </a:pPr>
            <a:r>
              <a:rPr lang="fr-FR" sz="1000" b="0" spc="0" baseline="0" noProof="0">
                <a:latin typeface="+mn-lt"/>
              </a:rPr>
              <a:t>Dans l’explorateur de fichiers, rendez-vous dans </a:t>
            </a:r>
            <a:r>
              <a:rPr lang="fr-FR" sz="1000" b="1" spc="0" baseline="0" noProof="0">
                <a:latin typeface="+mn-lt"/>
              </a:rPr>
              <a:t>01_Essentiels &gt; 03 Thèmes et </a:t>
            </a:r>
            <a:r>
              <a:rPr lang="fr-FR" sz="1000" b="1" spc="0" baseline="0" noProof="0" err="1">
                <a:latin typeface="+mn-lt"/>
              </a:rPr>
              <a:t>templates</a:t>
            </a:r>
            <a:endParaRPr lang="fr-FR" sz="1000" b="1" spc="0" baseline="0" noProof="0">
              <a:latin typeface="+mn-lt"/>
            </a:endParaRPr>
          </a:p>
          <a:p>
            <a:pPr rtl="0">
              <a:spcBef>
                <a:spcPts val="600"/>
              </a:spcBef>
            </a:pPr>
            <a:endParaRPr lang="fr-FR" sz="1000" b="1" spc="0" baseline="0" noProof="0">
              <a:latin typeface="+mn-lt"/>
            </a:endParaRPr>
          </a:p>
          <a:p>
            <a:pPr rtl="0">
              <a:spcBef>
                <a:spcPts val="600"/>
              </a:spcBef>
            </a:pPr>
            <a:r>
              <a:rPr lang="fr-FR" sz="1000" b="0" spc="0" baseline="0" noProof="0">
                <a:latin typeface="+mn-lt"/>
              </a:rPr>
              <a:t>Choisissez parmi les images prédéfinies celle qui convient à votre présentation</a:t>
            </a:r>
          </a:p>
        </p:txBody>
      </p:sp>
    </p:spTree>
    <p:extLst>
      <p:ext uri="{BB962C8B-B14F-4D97-AF65-F5344CB8AC3E}">
        <p14:creationId xmlns:p14="http://schemas.microsoft.com/office/powerpoint/2010/main" val="4244951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mmai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t 6" hidden="1">
            <a:extLst>
              <a:ext uri="{FF2B5EF4-FFF2-40B4-BE49-F238E27FC236}">
                <a16:creationId xmlns:a16="http://schemas.microsoft.com/office/drawing/2014/main" id="{4C55C73E-1F28-FCD2-3F36-BA93C1A8013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5038290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3" imgW="359" imgH="360" progId="TCLayout.ActiveDocument.1">
                  <p:embed/>
                </p:oleObj>
              </mc:Choice>
              <mc:Fallback>
                <p:oleObj name="Diapositive think-cell" r:id="rId3" imgW="359" imgH="360" progId="TCLayout.ActiveDocument.1">
                  <p:embed/>
                  <p:pic>
                    <p:nvPicPr>
                      <p:cNvPr id="7" name="Objet 6" hidden="1">
                        <a:extLst>
                          <a:ext uri="{FF2B5EF4-FFF2-40B4-BE49-F238E27FC236}">
                            <a16:creationId xmlns:a16="http://schemas.microsoft.com/office/drawing/2014/main" id="{4C55C73E-1F28-FCD2-3F36-BA93C1A8013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AAD0EBE0-0B87-812D-1291-1E909F85EFE3}"/>
              </a:ext>
            </a:extLst>
          </p:cNvPr>
          <p:cNvSpPr/>
          <p:nvPr/>
        </p:nvSpPr>
        <p:spPr>
          <a:xfrm>
            <a:off x="0" y="0"/>
            <a:ext cx="742453" cy="6784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sz="1400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A1E45E4-ED9E-3103-5D51-2EACB99B9A04}"/>
              </a:ext>
            </a:extLst>
          </p:cNvPr>
          <p:cNvSpPr/>
          <p:nvPr/>
        </p:nvSpPr>
        <p:spPr>
          <a:xfrm>
            <a:off x="155574" y="152399"/>
            <a:ext cx="3240000" cy="65532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>
              <a:latin typeface="+mj-lt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34001D4-DA23-4BD4-5445-0413E39D08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7794" y="1606555"/>
            <a:ext cx="2855561" cy="742451"/>
          </a:xfrm>
        </p:spPr>
        <p:txBody>
          <a:bodyPr vert="horz" lIns="91440" tIns="45720" rIns="91440" bIns="45720" rtlCol="0" anchor="t">
            <a:noAutofit/>
          </a:bodyPr>
          <a:lstStyle>
            <a:lvl1pPr rtl="0">
              <a:defRPr lang="fr-FR" sz="2400" b="1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Titre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25F0B61A-F63C-180C-875F-BF2F8EE1C53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543300" y="6339417"/>
            <a:ext cx="5714999" cy="365125"/>
          </a:xfrm>
        </p:spPr>
        <p:txBody>
          <a:bodyPr/>
          <a:lstStyle>
            <a:lvl1pPr rtl="0">
              <a:defRPr/>
            </a:lvl1pPr>
          </a:lstStyle>
          <a:p>
            <a:r>
              <a:rPr lang="fr-FR"/>
              <a:t>AMITA CONSEIL</a:t>
            </a:r>
          </a:p>
        </p:txBody>
      </p:sp>
      <p:sp>
        <p:nvSpPr>
          <p:cNvPr id="10" name="Espace réservé du contenu 11">
            <a:extLst>
              <a:ext uri="{FF2B5EF4-FFF2-40B4-BE49-F238E27FC236}">
                <a16:creationId xmlns:a16="http://schemas.microsoft.com/office/drawing/2014/main" id="{4C4BA35F-4E6C-F444-2E60-7BFAA60BC23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960000" y="1606555"/>
            <a:ext cx="7851600" cy="4570406"/>
          </a:xfrm>
        </p:spPr>
        <p:txBody>
          <a:bodyPr/>
          <a:lstStyle>
            <a:lvl1pPr marL="342900" indent="-3429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Font typeface="+mj-lt"/>
              <a:buAutoNum type="arabicPeriod"/>
              <a:defRPr sz="1800" b="1"/>
            </a:lvl1pPr>
            <a:lvl2pPr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defRPr sz="1600"/>
            </a:lvl2pPr>
            <a:lvl3pPr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defRPr sz="1400"/>
            </a:lvl3pPr>
            <a:lvl4pPr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defRPr sz="1200"/>
            </a:lvl4pPr>
            <a:lvl5pPr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defRPr sz="11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05234F8-94D3-C165-62E6-663182F5CFC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55574" y="6340475"/>
            <a:ext cx="362084" cy="365125"/>
          </a:xfrm>
        </p:spPr>
        <p:txBody>
          <a:bodyPr/>
          <a:lstStyle>
            <a:lvl1pPr rtl="0">
              <a:defRPr>
                <a:solidFill>
                  <a:schemeClr val="bg1"/>
                </a:solidFill>
              </a:defRPr>
            </a:lvl1pPr>
          </a:lstStyle>
          <a:p>
            <a:fld id="{BE9517EC-C298-4848-B090-11602D956FCE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81288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mmai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t 6" hidden="1">
            <a:extLst>
              <a:ext uri="{FF2B5EF4-FFF2-40B4-BE49-F238E27FC236}">
                <a16:creationId xmlns:a16="http://schemas.microsoft.com/office/drawing/2014/main" id="{4C55C73E-1F28-FCD2-3F36-BA93C1A8013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6926644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3" imgW="359" imgH="360" progId="TCLayout.ActiveDocument.1">
                  <p:embed/>
                </p:oleObj>
              </mc:Choice>
              <mc:Fallback>
                <p:oleObj name="Diapositive think-cell" r:id="rId3" imgW="359" imgH="360" progId="TCLayout.ActiveDocument.1">
                  <p:embed/>
                  <p:pic>
                    <p:nvPicPr>
                      <p:cNvPr id="7" name="Objet 6" hidden="1">
                        <a:extLst>
                          <a:ext uri="{FF2B5EF4-FFF2-40B4-BE49-F238E27FC236}">
                            <a16:creationId xmlns:a16="http://schemas.microsoft.com/office/drawing/2014/main" id="{4C55C73E-1F28-FCD2-3F36-BA93C1A8013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AAD0EBE0-0B87-812D-1291-1E909F85EFE3}"/>
              </a:ext>
            </a:extLst>
          </p:cNvPr>
          <p:cNvSpPr/>
          <p:nvPr/>
        </p:nvSpPr>
        <p:spPr>
          <a:xfrm>
            <a:off x="0" y="0"/>
            <a:ext cx="742453" cy="6784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sz="1400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A1E45E4-ED9E-3103-5D51-2EACB99B9A04}"/>
              </a:ext>
            </a:extLst>
          </p:cNvPr>
          <p:cNvSpPr/>
          <p:nvPr/>
        </p:nvSpPr>
        <p:spPr>
          <a:xfrm>
            <a:off x="155574" y="152399"/>
            <a:ext cx="3240000" cy="655320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>
              <a:latin typeface="+mj-lt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34001D4-DA23-4BD4-5445-0413E39D08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7794" y="1606555"/>
            <a:ext cx="2855561" cy="742451"/>
          </a:xfrm>
        </p:spPr>
        <p:txBody>
          <a:bodyPr vert="horz" lIns="91440" tIns="45720" rIns="91440" bIns="45720" rtlCol="0" anchor="t">
            <a:noAutofit/>
          </a:bodyPr>
          <a:lstStyle>
            <a:lvl1pPr rtl="0">
              <a:defRPr lang="fr-FR" sz="2400" b="1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Titre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25F0B61A-F63C-180C-875F-BF2F8EE1C53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543300" y="6339417"/>
            <a:ext cx="5714999" cy="365125"/>
          </a:xfrm>
        </p:spPr>
        <p:txBody>
          <a:bodyPr/>
          <a:lstStyle>
            <a:lvl1pPr rtl="0">
              <a:defRPr/>
            </a:lvl1pPr>
          </a:lstStyle>
          <a:p>
            <a:r>
              <a:rPr lang="fr-FR"/>
              <a:t>AMITA CONSEIL</a:t>
            </a:r>
          </a:p>
        </p:txBody>
      </p:sp>
      <p:sp>
        <p:nvSpPr>
          <p:cNvPr id="10" name="Espace réservé du contenu 11">
            <a:extLst>
              <a:ext uri="{FF2B5EF4-FFF2-40B4-BE49-F238E27FC236}">
                <a16:creationId xmlns:a16="http://schemas.microsoft.com/office/drawing/2014/main" id="{4C4BA35F-4E6C-F444-2E60-7BFAA60BC23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960000" y="1606555"/>
            <a:ext cx="7851600" cy="4570406"/>
          </a:xfrm>
        </p:spPr>
        <p:txBody>
          <a:bodyPr/>
          <a:lstStyle>
            <a:lvl1pPr marL="342900" indent="-3429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+mj-lt"/>
              <a:buAutoNum type="arabicPeriod"/>
              <a:defRPr sz="1800" b="1"/>
            </a:lvl1pPr>
            <a:lvl2pPr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defRPr sz="1600"/>
            </a:lvl2pPr>
            <a:lvl3pPr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defRPr sz="1400"/>
            </a:lvl3pPr>
            <a:lvl4pPr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defRPr sz="1200"/>
            </a:lvl4pPr>
            <a:lvl5pPr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defRPr sz="11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967A15B-ADFE-E002-39C3-0831F895739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55574" y="6340475"/>
            <a:ext cx="362084" cy="365125"/>
          </a:xfrm>
        </p:spPr>
        <p:txBody>
          <a:bodyPr/>
          <a:lstStyle>
            <a:lvl1pPr rtl="0">
              <a:defRPr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</a:lstStyle>
          <a:p>
            <a:fld id="{BE9517EC-C298-4848-B090-11602D956FCE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837736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mmai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t 6" hidden="1">
            <a:extLst>
              <a:ext uri="{FF2B5EF4-FFF2-40B4-BE49-F238E27FC236}">
                <a16:creationId xmlns:a16="http://schemas.microsoft.com/office/drawing/2014/main" id="{4C55C73E-1F28-FCD2-3F36-BA93C1A8013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2758277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3" imgW="359" imgH="360" progId="TCLayout.ActiveDocument.1">
                  <p:embed/>
                </p:oleObj>
              </mc:Choice>
              <mc:Fallback>
                <p:oleObj name="Diapositive think-cell" r:id="rId3" imgW="359" imgH="360" progId="TCLayout.ActiveDocument.1">
                  <p:embed/>
                  <p:pic>
                    <p:nvPicPr>
                      <p:cNvPr id="7" name="Objet 6" hidden="1">
                        <a:extLst>
                          <a:ext uri="{FF2B5EF4-FFF2-40B4-BE49-F238E27FC236}">
                            <a16:creationId xmlns:a16="http://schemas.microsoft.com/office/drawing/2014/main" id="{4C55C73E-1F28-FCD2-3F36-BA93C1A8013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AAD0EBE0-0B87-812D-1291-1E909F85EFE3}"/>
              </a:ext>
            </a:extLst>
          </p:cNvPr>
          <p:cNvSpPr/>
          <p:nvPr/>
        </p:nvSpPr>
        <p:spPr>
          <a:xfrm>
            <a:off x="0" y="0"/>
            <a:ext cx="742453" cy="6784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sz="1400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A1E45E4-ED9E-3103-5D51-2EACB99B9A04}"/>
              </a:ext>
            </a:extLst>
          </p:cNvPr>
          <p:cNvSpPr/>
          <p:nvPr/>
        </p:nvSpPr>
        <p:spPr>
          <a:xfrm>
            <a:off x="155574" y="152399"/>
            <a:ext cx="3240000" cy="655320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>
              <a:latin typeface="+mj-lt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34001D4-DA23-4BD4-5445-0413E39D08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7794" y="1606555"/>
            <a:ext cx="2855561" cy="742451"/>
          </a:xfrm>
        </p:spPr>
        <p:txBody>
          <a:bodyPr vert="horz" lIns="91440" tIns="45720" rIns="91440" bIns="45720" rtlCol="0" anchor="t">
            <a:noAutofit/>
          </a:bodyPr>
          <a:lstStyle>
            <a:lvl1pPr rtl="0">
              <a:defRPr lang="fr-FR" sz="2400" b="1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Titre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25F0B61A-F63C-180C-875F-BF2F8EE1C53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543300" y="6339417"/>
            <a:ext cx="5714999" cy="365125"/>
          </a:xfrm>
        </p:spPr>
        <p:txBody>
          <a:bodyPr/>
          <a:lstStyle>
            <a:lvl1pPr rtl="0">
              <a:defRPr/>
            </a:lvl1pPr>
          </a:lstStyle>
          <a:p>
            <a:r>
              <a:rPr lang="fr-FR"/>
              <a:t>AMITA CONSEIL</a:t>
            </a:r>
          </a:p>
        </p:txBody>
      </p:sp>
      <p:sp>
        <p:nvSpPr>
          <p:cNvPr id="10" name="Espace réservé du contenu 11">
            <a:extLst>
              <a:ext uri="{FF2B5EF4-FFF2-40B4-BE49-F238E27FC236}">
                <a16:creationId xmlns:a16="http://schemas.microsoft.com/office/drawing/2014/main" id="{4C4BA35F-4E6C-F444-2E60-7BFAA60BC23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960000" y="1606555"/>
            <a:ext cx="7851600" cy="4570406"/>
          </a:xfrm>
        </p:spPr>
        <p:txBody>
          <a:bodyPr/>
          <a:lstStyle>
            <a:lvl1pPr marL="342900" indent="-3429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Font typeface="+mj-lt"/>
              <a:buAutoNum type="arabicPeriod"/>
              <a:defRPr sz="1800" b="1"/>
            </a:lvl1pPr>
            <a:lvl2pPr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defRPr sz="1600"/>
            </a:lvl2pPr>
            <a:lvl3pPr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defRPr sz="1400"/>
            </a:lvl3pPr>
            <a:lvl4pPr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defRPr sz="1200"/>
            </a:lvl4pPr>
            <a:lvl5pPr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defRPr sz="11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B6D8198-8C95-89E2-D4DD-26835884EF4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55574" y="6340475"/>
            <a:ext cx="362084" cy="365125"/>
          </a:xfrm>
        </p:spPr>
        <p:txBody>
          <a:bodyPr/>
          <a:lstStyle>
            <a:lvl1pPr rtl="0">
              <a:defRPr>
                <a:solidFill>
                  <a:schemeClr val="bg1"/>
                </a:solidFill>
              </a:defRPr>
            </a:lvl1pPr>
          </a:lstStyle>
          <a:p>
            <a:fld id="{BE9517EC-C298-4848-B090-11602D956FCE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151604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mmai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t 6" hidden="1">
            <a:extLst>
              <a:ext uri="{FF2B5EF4-FFF2-40B4-BE49-F238E27FC236}">
                <a16:creationId xmlns:a16="http://schemas.microsoft.com/office/drawing/2014/main" id="{4C55C73E-1F28-FCD2-3F36-BA93C1A8013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4226702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3" imgW="359" imgH="360" progId="TCLayout.ActiveDocument.1">
                  <p:embed/>
                </p:oleObj>
              </mc:Choice>
              <mc:Fallback>
                <p:oleObj name="Diapositive think-cell" r:id="rId3" imgW="359" imgH="360" progId="TCLayout.ActiveDocument.1">
                  <p:embed/>
                  <p:pic>
                    <p:nvPicPr>
                      <p:cNvPr id="7" name="Objet 6" hidden="1">
                        <a:extLst>
                          <a:ext uri="{FF2B5EF4-FFF2-40B4-BE49-F238E27FC236}">
                            <a16:creationId xmlns:a16="http://schemas.microsoft.com/office/drawing/2014/main" id="{4C55C73E-1F28-FCD2-3F36-BA93C1A8013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AAD0EBE0-0B87-812D-1291-1E909F85EFE3}"/>
              </a:ext>
            </a:extLst>
          </p:cNvPr>
          <p:cNvSpPr/>
          <p:nvPr/>
        </p:nvSpPr>
        <p:spPr>
          <a:xfrm>
            <a:off x="0" y="0"/>
            <a:ext cx="742453" cy="6784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sz="1400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A1E45E4-ED9E-3103-5D51-2EACB99B9A04}"/>
              </a:ext>
            </a:extLst>
          </p:cNvPr>
          <p:cNvSpPr/>
          <p:nvPr/>
        </p:nvSpPr>
        <p:spPr>
          <a:xfrm>
            <a:off x="155574" y="152399"/>
            <a:ext cx="3240000" cy="6553201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>
              <a:latin typeface="+mj-lt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34001D4-DA23-4BD4-5445-0413E39D08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7794" y="1606555"/>
            <a:ext cx="2855561" cy="742451"/>
          </a:xfrm>
        </p:spPr>
        <p:txBody>
          <a:bodyPr vert="horz" lIns="91440" tIns="45720" rIns="91440" bIns="45720" rtlCol="0" anchor="t">
            <a:noAutofit/>
          </a:bodyPr>
          <a:lstStyle>
            <a:lvl1pPr rtl="0">
              <a:defRPr lang="fr-FR" sz="2400" b="1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Titre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25F0B61A-F63C-180C-875F-BF2F8EE1C53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543300" y="6339417"/>
            <a:ext cx="5714999" cy="365125"/>
          </a:xfrm>
        </p:spPr>
        <p:txBody>
          <a:bodyPr/>
          <a:lstStyle>
            <a:lvl1pPr rtl="0">
              <a:defRPr/>
            </a:lvl1pPr>
          </a:lstStyle>
          <a:p>
            <a:r>
              <a:rPr lang="fr-FR"/>
              <a:t>AMITA CONSEIL</a:t>
            </a:r>
          </a:p>
        </p:txBody>
      </p:sp>
      <p:sp>
        <p:nvSpPr>
          <p:cNvPr id="10" name="Espace réservé du contenu 11">
            <a:extLst>
              <a:ext uri="{FF2B5EF4-FFF2-40B4-BE49-F238E27FC236}">
                <a16:creationId xmlns:a16="http://schemas.microsoft.com/office/drawing/2014/main" id="{4C4BA35F-4E6C-F444-2E60-7BFAA60BC23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960000" y="1606555"/>
            <a:ext cx="7851600" cy="4570406"/>
          </a:xfrm>
        </p:spPr>
        <p:txBody>
          <a:bodyPr/>
          <a:lstStyle>
            <a:lvl1pPr marL="342900" indent="-3429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Font typeface="+mj-lt"/>
              <a:buAutoNum type="arabicPeriod"/>
              <a:defRPr sz="1800" b="1"/>
            </a:lvl1pPr>
            <a:lvl2pPr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defRPr sz="1600"/>
            </a:lvl2pPr>
            <a:lvl3pPr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defRPr sz="1400"/>
            </a:lvl3pPr>
            <a:lvl4pPr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defRPr sz="1200"/>
            </a:lvl4pPr>
            <a:lvl5pPr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defRPr sz="11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2BD0B84-28D6-D743-1B40-DAC84CEB1E0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55574" y="6340475"/>
            <a:ext cx="362084" cy="365125"/>
          </a:xfrm>
        </p:spPr>
        <p:txBody>
          <a:bodyPr/>
          <a:lstStyle>
            <a:lvl1pPr rtl="0">
              <a:defRPr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</a:lstStyle>
          <a:p>
            <a:fld id="{BE9517EC-C298-4848-B090-11602D956FCE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659259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mmai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t 6" hidden="1">
            <a:extLst>
              <a:ext uri="{FF2B5EF4-FFF2-40B4-BE49-F238E27FC236}">
                <a16:creationId xmlns:a16="http://schemas.microsoft.com/office/drawing/2014/main" id="{4C55C73E-1F28-FCD2-3F36-BA93C1A8013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8403539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3" imgW="359" imgH="360" progId="TCLayout.ActiveDocument.1">
                  <p:embed/>
                </p:oleObj>
              </mc:Choice>
              <mc:Fallback>
                <p:oleObj name="Diapositive think-cell" r:id="rId3" imgW="359" imgH="360" progId="TCLayout.ActiveDocument.1">
                  <p:embed/>
                  <p:pic>
                    <p:nvPicPr>
                      <p:cNvPr id="7" name="Objet 6" hidden="1">
                        <a:extLst>
                          <a:ext uri="{FF2B5EF4-FFF2-40B4-BE49-F238E27FC236}">
                            <a16:creationId xmlns:a16="http://schemas.microsoft.com/office/drawing/2014/main" id="{4C55C73E-1F28-FCD2-3F36-BA93C1A8013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AAD0EBE0-0B87-812D-1291-1E909F85EFE3}"/>
              </a:ext>
            </a:extLst>
          </p:cNvPr>
          <p:cNvSpPr/>
          <p:nvPr/>
        </p:nvSpPr>
        <p:spPr>
          <a:xfrm>
            <a:off x="0" y="0"/>
            <a:ext cx="742453" cy="6784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sz="1400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A1E45E4-ED9E-3103-5D51-2EACB99B9A04}"/>
              </a:ext>
            </a:extLst>
          </p:cNvPr>
          <p:cNvSpPr/>
          <p:nvPr/>
        </p:nvSpPr>
        <p:spPr>
          <a:xfrm>
            <a:off x="155574" y="152399"/>
            <a:ext cx="3240000" cy="6553201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>
              <a:latin typeface="+mj-lt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34001D4-DA23-4BD4-5445-0413E39D08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7794" y="1606555"/>
            <a:ext cx="2855561" cy="742451"/>
          </a:xfrm>
        </p:spPr>
        <p:txBody>
          <a:bodyPr vert="horz" lIns="91440" tIns="45720" rIns="91440" bIns="45720" rtlCol="0" anchor="t">
            <a:noAutofit/>
          </a:bodyPr>
          <a:lstStyle>
            <a:lvl1pPr rtl="0">
              <a:defRPr lang="fr-FR" sz="2400" b="1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Titre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25F0B61A-F63C-180C-875F-BF2F8EE1C53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543300" y="6339417"/>
            <a:ext cx="5714999" cy="365125"/>
          </a:xfrm>
        </p:spPr>
        <p:txBody>
          <a:bodyPr/>
          <a:lstStyle>
            <a:lvl1pPr rtl="0">
              <a:defRPr/>
            </a:lvl1pPr>
          </a:lstStyle>
          <a:p>
            <a:r>
              <a:rPr lang="fr-FR"/>
              <a:t>AMITA CONSEIL</a:t>
            </a:r>
          </a:p>
        </p:txBody>
      </p:sp>
      <p:sp>
        <p:nvSpPr>
          <p:cNvPr id="10" name="Espace réservé du contenu 11">
            <a:extLst>
              <a:ext uri="{FF2B5EF4-FFF2-40B4-BE49-F238E27FC236}">
                <a16:creationId xmlns:a16="http://schemas.microsoft.com/office/drawing/2014/main" id="{4C4BA35F-4E6C-F444-2E60-7BFAA60BC23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960000" y="1606555"/>
            <a:ext cx="7851600" cy="4570406"/>
          </a:xfrm>
        </p:spPr>
        <p:txBody>
          <a:bodyPr/>
          <a:lstStyle>
            <a:lvl1pPr marL="342900" indent="-3429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Font typeface="+mj-lt"/>
              <a:buAutoNum type="arabicPeriod"/>
              <a:defRPr sz="1800" b="1"/>
            </a:lvl1pPr>
            <a:lvl2pPr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defRPr sz="1600"/>
            </a:lvl2pPr>
            <a:lvl3pPr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defRPr sz="1400"/>
            </a:lvl3pPr>
            <a:lvl4pPr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defRPr sz="1200"/>
            </a:lvl4pPr>
            <a:lvl5pPr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defRPr sz="11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B631EDE-55F1-3AAA-3114-F0C522F81DF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55574" y="6340475"/>
            <a:ext cx="362084" cy="365125"/>
          </a:xfrm>
        </p:spPr>
        <p:txBody>
          <a:bodyPr/>
          <a:lstStyle>
            <a:lvl1pPr rtl="0">
              <a:defRPr>
                <a:solidFill>
                  <a:schemeClr val="bg1"/>
                </a:solidFill>
              </a:defRPr>
            </a:lvl1pPr>
          </a:lstStyle>
          <a:p>
            <a:fld id="{BE9517EC-C298-4848-B090-11602D956FCE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059105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t 9" hidden="1">
            <a:extLst>
              <a:ext uri="{FF2B5EF4-FFF2-40B4-BE49-F238E27FC236}">
                <a16:creationId xmlns:a16="http://schemas.microsoft.com/office/drawing/2014/main" id="{05A7B304-0FC6-A7CA-FA84-47B4F070611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6121036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3" imgW="359" imgH="360" progId="TCLayout.ActiveDocument.1">
                  <p:embed/>
                </p:oleObj>
              </mc:Choice>
              <mc:Fallback>
                <p:oleObj name="Diapositive think-cell" r:id="rId3" imgW="359" imgH="360" progId="TCLayout.ActiveDocument.1">
                  <p:embed/>
                  <p:pic>
                    <p:nvPicPr>
                      <p:cNvPr id="10" name="Objet 9" hidden="1">
                        <a:extLst>
                          <a:ext uri="{FF2B5EF4-FFF2-40B4-BE49-F238E27FC236}">
                            <a16:creationId xmlns:a16="http://schemas.microsoft.com/office/drawing/2014/main" id="{05A7B304-0FC6-A7CA-FA84-47B4F070611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re 1">
            <a:extLst>
              <a:ext uri="{FF2B5EF4-FFF2-40B4-BE49-F238E27FC236}">
                <a16:creationId xmlns:a16="http://schemas.microsoft.com/office/drawing/2014/main" id="{54BAF359-327C-B4E8-9F79-27F34771BB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8" y="485692"/>
            <a:ext cx="11430000" cy="695155"/>
          </a:xfrm>
        </p:spPr>
        <p:txBody>
          <a:bodyPr vert="horz" anchor="ctr"/>
          <a:lstStyle>
            <a:lvl1pPr rtl="0">
              <a:defRPr>
                <a:latin typeface="+mj-lt"/>
              </a:defRPr>
            </a:lvl1pPr>
          </a:lstStyle>
          <a:p>
            <a:r>
              <a:rPr lang="fr-FR"/>
              <a:t>TITRE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3E6FB74B-9577-0CA4-476E-AF81AA57CDB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fr-FR"/>
              <a:t>AMITA CONSEIL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27C0B86-BB50-84CF-E7B5-FAD5FB9A6B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fld id="{BD9892E7-E91F-405F-A6AB-FE5AB3285265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2" name="Espace réservé du contenu 11">
            <a:extLst>
              <a:ext uri="{FF2B5EF4-FFF2-40B4-BE49-F238E27FC236}">
                <a16:creationId xmlns:a16="http://schemas.microsoft.com/office/drawing/2014/main" id="{2541A85A-BD07-8F9E-3F4A-2FA68B1A9116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80996" y="1984917"/>
            <a:ext cx="11430003" cy="4192044"/>
          </a:xfrm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4" name="Espace réservé du texte 13">
            <a:extLst>
              <a:ext uri="{FF2B5EF4-FFF2-40B4-BE49-F238E27FC236}">
                <a16:creationId xmlns:a16="http://schemas.microsoft.com/office/drawing/2014/main" id="{73C495DC-BFBC-1250-EA79-F47766C421F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0995" y="1199154"/>
            <a:ext cx="11430003" cy="626469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fr-FR" sz="1800" b="1" cap="all" baseline="0" dirty="0">
                <a:solidFill>
                  <a:srgbClr val="43A2BF"/>
                </a:solidFill>
                <a:latin typeface="+mj-lt"/>
              </a:defRPr>
            </a:lvl1pPr>
          </a:lstStyle>
          <a:p>
            <a:pPr marL="171450" lvl="0" indent="-171450">
              <a:lnSpc>
                <a:spcPct val="90000"/>
              </a:lnSpc>
            </a:pPr>
            <a:r>
              <a:rPr lang="fr-FR"/>
              <a:t>Sous titre</a:t>
            </a:r>
          </a:p>
        </p:txBody>
      </p:sp>
      <p:sp>
        <p:nvSpPr>
          <p:cNvPr id="5" name="Espace réservé de la date 10">
            <a:extLst>
              <a:ext uri="{FF2B5EF4-FFF2-40B4-BE49-F238E27FC236}">
                <a16:creationId xmlns:a16="http://schemas.microsoft.com/office/drawing/2014/main" id="{22AE12D9-7C4B-4DE4-134B-9CC71CD320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43081" y="6340475"/>
            <a:ext cx="827345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l" defTabSz="914400" rtl="0" eaLnBrk="1" latinLnBrk="0" hangingPunct="1">
              <a:defRPr lang="fr-FR" sz="700" kern="1200" cap="all" baseline="0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fld id="{78871C8A-9DB9-41A2-9AC6-C4B190C41F7B}" type="datetime1">
              <a:rPr lang="fr-FR" smtClean="0"/>
              <a:t>27/03/2025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480468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t 6" hidden="1">
            <a:extLst>
              <a:ext uri="{FF2B5EF4-FFF2-40B4-BE49-F238E27FC236}">
                <a16:creationId xmlns:a16="http://schemas.microsoft.com/office/drawing/2014/main" id="{E584D3DA-06A6-90D1-6DF7-2FEA8FFF468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8484633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3" imgW="359" imgH="360" progId="TCLayout.ActiveDocument.1">
                  <p:embed/>
                </p:oleObj>
              </mc:Choice>
              <mc:Fallback>
                <p:oleObj name="Diapositive think-cell" r:id="rId3" imgW="359" imgH="360" progId="TCLayout.ActiveDocument.1">
                  <p:embed/>
                  <p:pic>
                    <p:nvPicPr>
                      <p:cNvPr id="7" name="Objet 6" hidden="1">
                        <a:extLst>
                          <a:ext uri="{FF2B5EF4-FFF2-40B4-BE49-F238E27FC236}">
                            <a16:creationId xmlns:a16="http://schemas.microsoft.com/office/drawing/2014/main" id="{E584D3DA-06A6-90D1-6DF7-2FEA8FFF468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re 1">
            <a:extLst>
              <a:ext uri="{FF2B5EF4-FFF2-40B4-BE49-F238E27FC236}">
                <a16:creationId xmlns:a16="http://schemas.microsoft.com/office/drawing/2014/main" id="{D311293C-4E46-DE81-1031-5F6DB6582B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6" y="485693"/>
            <a:ext cx="11430003" cy="694800"/>
          </a:xfrm>
        </p:spPr>
        <p:txBody>
          <a:bodyPr vert="horz"/>
          <a:lstStyle>
            <a:lvl1pPr rtl="0">
              <a:defRPr/>
            </a:lvl1pPr>
          </a:lstStyle>
          <a:p>
            <a:r>
              <a:rPr lang="fr-FR"/>
              <a:t>Titre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A2871FB5-AB60-3571-CD21-C2CCF30D22D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fr-FR"/>
              <a:t>AMITA CONSEIL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5BDFD3E-908E-E3D9-AB3A-B8B70C08788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fld id="{BD9892E7-E91F-405F-A6AB-FE5AB3285265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5" name="Espace réservé du texte 11">
            <a:extLst>
              <a:ext uri="{FF2B5EF4-FFF2-40B4-BE49-F238E27FC236}">
                <a16:creationId xmlns:a16="http://schemas.microsoft.com/office/drawing/2014/main" id="{342B26D2-F03E-7490-0963-2AD80C3B6A8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0997" y="1198800"/>
            <a:ext cx="5580000" cy="626400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 rtl="0">
              <a:buNone/>
              <a:defRPr lang="fr-FR" sz="1800" b="1" cap="all" baseline="0">
                <a:solidFill>
                  <a:srgbClr val="43A2BF"/>
                </a:solidFill>
                <a:latin typeface="+mj-lt"/>
              </a:defRPr>
            </a:lvl1pPr>
          </a:lstStyle>
          <a:p>
            <a: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+mj-lt"/>
            </a:pPr>
            <a:r>
              <a:rPr lang="fr-FR"/>
              <a:t>Sous titre</a:t>
            </a:r>
          </a:p>
        </p:txBody>
      </p:sp>
      <p:sp>
        <p:nvSpPr>
          <p:cNvPr id="6" name="Espace réservé du texte 11">
            <a:extLst>
              <a:ext uri="{FF2B5EF4-FFF2-40B4-BE49-F238E27FC236}">
                <a16:creationId xmlns:a16="http://schemas.microsoft.com/office/drawing/2014/main" id="{C09F6E40-0B05-4D05-F386-EB73033D29D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31005" y="1198800"/>
            <a:ext cx="5580000" cy="626400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 rtl="0">
              <a:buNone/>
              <a:defRPr lang="fr-FR" sz="1800" b="1" cap="all" baseline="0">
                <a:solidFill>
                  <a:srgbClr val="43A2BF"/>
                </a:solidFill>
                <a:latin typeface="+mj-lt"/>
              </a:defRPr>
            </a:lvl1pPr>
          </a:lstStyle>
          <a:p>
            <a: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+mj-lt"/>
            </a:pPr>
            <a:r>
              <a:rPr lang="fr-FR"/>
              <a:t>Sous titre</a:t>
            </a:r>
          </a:p>
        </p:txBody>
      </p:sp>
      <p:sp>
        <p:nvSpPr>
          <p:cNvPr id="12" name="Espace réservé du contenu 11">
            <a:extLst>
              <a:ext uri="{FF2B5EF4-FFF2-40B4-BE49-F238E27FC236}">
                <a16:creationId xmlns:a16="http://schemas.microsoft.com/office/drawing/2014/main" id="{BCE084AA-AC21-A352-45C9-B15AF5C04C3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80997" y="1983600"/>
            <a:ext cx="5580000" cy="4194000"/>
          </a:xfrm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3" name="Espace réservé du contenu 11">
            <a:extLst>
              <a:ext uri="{FF2B5EF4-FFF2-40B4-BE49-F238E27FC236}">
                <a16:creationId xmlns:a16="http://schemas.microsoft.com/office/drawing/2014/main" id="{922C5E9B-333D-AE2C-4982-73E30FAD37C9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31005" y="1983600"/>
            <a:ext cx="5580000" cy="4194000"/>
          </a:xfrm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8" name="Espace réservé de la date 10">
            <a:extLst>
              <a:ext uri="{FF2B5EF4-FFF2-40B4-BE49-F238E27FC236}">
                <a16:creationId xmlns:a16="http://schemas.microsoft.com/office/drawing/2014/main" id="{7FD1B616-4341-3030-BFB9-20475C1703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43081" y="6340475"/>
            <a:ext cx="827345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l" defTabSz="914400" rtl="0" eaLnBrk="1" latinLnBrk="0" hangingPunct="1">
              <a:defRPr lang="fr-FR" sz="700" kern="1200" cap="all" baseline="0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fld id="{65BCA2E0-0322-4472-BF8D-C1C07EBADC96}" type="datetime1">
              <a:rPr lang="fr-FR" smtClean="0"/>
              <a:t>27/03/2025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260222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ux contenus 1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t 6" hidden="1">
            <a:extLst>
              <a:ext uri="{FF2B5EF4-FFF2-40B4-BE49-F238E27FC236}">
                <a16:creationId xmlns:a16="http://schemas.microsoft.com/office/drawing/2014/main" id="{E584D3DA-06A6-90D1-6DF7-2FEA8FFF468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9209032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3" imgW="359" imgH="360" progId="TCLayout.ActiveDocument.1">
                  <p:embed/>
                </p:oleObj>
              </mc:Choice>
              <mc:Fallback>
                <p:oleObj name="Diapositive think-cell" r:id="rId3" imgW="359" imgH="360" progId="TCLayout.ActiveDocument.1">
                  <p:embed/>
                  <p:pic>
                    <p:nvPicPr>
                      <p:cNvPr id="7" name="Objet 6" hidden="1">
                        <a:extLst>
                          <a:ext uri="{FF2B5EF4-FFF2-40B4-BE49-F238E27FC236}">
                            <a16:creationId xmlns:a16="http://schemas.microsoft.com/office/drawing/2014/main" id="{E584D3DA-06A6-90D1-6DF7-2FEA8FFF468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re 1">
            <a:extLst>
              <a:ext uri="{FF2B5EF4-FFF2-40B4-BE49-F238E27FC236}">
                <a16:creationId xmlns:a16="http://schemas.microsoft.com/office/drawing/2014/main" id="{D311293C-4E46-DE81-1031-5F6DB6582B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7" y="485693"/>
            <a:ext cx="11430003" cy="694800"/>
          </a:xfrm>
        </p:spPr>
        <p:txBody>
          <a:bodyPr vert="horz"/>
          <a:lstStyle>
            <a:lvl1pPr rtl="0">
              <a:defRPr/>
            </a:lvl1pPr>
          </a:lstStyle>
          <a:p>
            <a:r>
              <a:rPr lang="fr-FR"/>
              <a:t>Titre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A2871FB5-AB60-3571-CD21-C2CCF30D22D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fr-FR"/>
              <a:t>AMITA CONSEIL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5BDFD3E-908E-E3D9-AB3A-B8B70C08788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fld id="{BD9892E7-E91F-405F-A6AB-FE5AB3285265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5" name="Espace réservé du texte 11">
            <a:extLst>
              <a:ext uri="{FF2B5EF4-FFF2-40B4-BE49-F238E27FC236}">
                <a16:creationId xmlns:a16="http://schemas.microsoft.com/office/drawing/2014/main" id="{342B26D2-F03E-7490-0963-2AD80C3B6A8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0997" y="1198800"/>
            <a:ext cx="3780000" cy="626400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 rtl="0">
              <a:buNone/>
              <a:defRPr lang="fr-FR" sz="1800" b="1" cap="all" baseline="0" dirty="0">
                <a:solidFill>
                  <a:srgbClr val="43A2BF"/>
                </a:solidFill>
                <a:latin typeface="+mj-lt"/>
              </a:defRPr>
            </a:lvl1pPr>
          </a:lstStyle>
          <a:p>
            <a: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+mj-lt"/>
            </a:pPr>
            <a:r>
              <a:rPr lang="fr-FR"/>
              <a:t>Sous titre</a:t>
            </a:r>
          </a:p>
        </p:txBody>
      </p:sp>
      <p:sp>
        <p:nvSpPr>
          <p:cNvPr id="12" name="Espace réservé du contenu 11">
            <a:extLst>
              <a:ext uri="{FF2B5EF4-FFF2-40B4-BE49-F238E27FC236}">
                <a16:creationId xmlns:a16="http://schemas.microsoft.com/office/drawing/2014/main" id="{BCE084AA-AC21-A352-45C9-B15AF5C04C3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80997" y="1983600"/>
            <a:ext cx="3780000" cy="4194000"/>
          </a:xfrm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4" name="Espace réservé du texte 11">
            <a:extLst>
              <a:ext uri="{FF2B5EF4-FFF2-40B4-BE49-F238E27FC236}">
                <a16:creationId xmlns:a16="http://schemas.microsoft.com/office/drawing/2014/main" id="{9DBA95B2-8684-CA04-5C78-DBBABC95580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241999" y="1198800"/>
            <a:ext cx="7569001" cy="626400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 rtl="0">
              <a:buNone/>
              <a:defRPr lang="fr-FR" sz="1800" b="1" cap="all" baseline="0" dirty="0">
                <a:solidFill>
                  <a:srgbClr val="43A2BF"/>
                </a:solidFill>
                <a:latin typeface="+mj-lt"/>
              </a:defRPr>
            </a:lvl1pPr>
          </a:lstStyle>
          <a:p>
            <a: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+mj-lt"/>
            </a:pPr>
            <a:r>
              <a:rPr lang="fr-FR"/>
              <a:t>Sous titre</a:t>
            </a:r>
          </a:p>
        </p:txBody>
      </p:sp>
      <p:sp>
        <p:nvSpPr>
          <p:cNvPr id="15" name="Espace réservé du contenu 11">
            <a:extLst>
              <a:ext uri="{FF2B5EF4-FFF2-40B4-BE49-F238E27FC236}">
                <a16:creationId xmlns:a16="http://schemas.microsoft.com/office/drawing/2014/main" id="{C27C6CE7-CF8F-073D-79CA-F6870172FD5D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241999" y="1983600"/>
            <a:ext cx="7569001" cy="4194000"/>
          </a:xfrm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e la date 10">
            <a:extLst>
              <a:ext uri="{FF2B5EF4-FFF2-40B4-BE49-F238E27FC236}">
                <a16:creationId xmlns:a16="http://schemas.microsoft.com/office/drawing/2014/main" id="{DC7A2E00-9D9B-8C17-9A7A-C75861A07C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43081" y="6340475"/>
            <a:ext cx="827345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l" defTabSz="914400" rtl="0" eaLnBrk="1" latinLnBrk="0" hangingPunct="1">
              <a:defRPr lang="fr-FR" sz="700" kern="1200" cap="all" baseline="0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fld id="{7BD07436-52DC-4409-8EE3-6E2A87171B43}" type="datetime1">
              <a:rPr lang="fr-FR" smtClean="0"/>
              <a:t>27/03/2025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447668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ux contenus 2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t 6" hidden="1">
            <a:extLst>
              <a:ext uri="{FF2B5EF4-FFF2-40B4-BE49-F238E27FC236}">
                <a16:creationId xmlns:a16="http://schemas.microsoft.com/office/drawing/2014/main" id="{E584D3DA-06A6-90D1-6DF7-2FEA8FFF468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0466312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3" imgW="359" imgH="360" progId="TCLayout.ActiveDocument.1">
                  <p:embed/>
                </p:oleObj>
              </mc:Choice>
              <mc:Fallback>
                <p:oleObj name="Diapositive think-cell" r:id="rId3" imgW="359" imgH="360" progId="TCLayout.ActiveDocument.1">
                  <p:embed/>
                  <p:pic>
                    <p:nvPicPr>
                      <p:cNvPr id="7" name="Objet 6" hidden="1">
                        <a:extLst>
                          <a:ext uri="{FF2B5EF4-FFF2-40B4-BE49-F238E27FC236}">
                            <a16:creationId xmlns:a16="http://schemas.microsoft.com/office/drawing/2014/main" id="{E584D3DA-06A6-90D1-6DF7-2FEA8FFF468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re 1">
            <a:extLst>
              <a:ext uri="{FF2B5EF4-FFF2-40B4-BE49-F238E27FC236}">
                <a16:creationId xmlns:a16="http://schemas.microsoft.com/office/drawing/2014/main" id="{D311293C-4E46-DE81-1031-5F6DB6582B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6" y="485693"/>
            <a:ext cx="11430003" cy="694800"/>
          </a:xfrm>
        </p:spPr>
        <p:txBody>
          <a:bodyPr vert="horz"/>
          <a:lstStyle>
            <a:lvl1pPr rtl="0">
              <a:defRPr/>
            </a:lvl1pPr>
          </a:lstStyle>
          <a:p>
            <a:r>
              <a:rPr lang="fr-FR"/>
              <a:t>Titre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A2871FB5-AB60-3571-CD21-C2CCF30D22D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fr-FR"/>
              <a:t>AMITA CONSEIL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5BDFD3E-908E-E3D9-AB3A-B8B70C08788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fld id="{BD9892E7-E91F-405F-A6AB-FE5AB3285265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5" name="Espace réservé du texte 11">
            <a:extLst>
              <a:ext uri="{FF2B5EF4-FFF2-40B4-BE49-F238E27FC236}">
                <a16:creationId xmlns:a16="http://schemas.microsoft.com/office/drawing/2014/main" id="{342B26D2-F03E-7490-0963-2AD80C3B6A8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0997" y="1198800"/>
            <a:ext cx="7641002" cy="626400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 rtl="0">
              <a:buNone/>
              <a:defRPr lang="fr-FR" sz="1800" b="1" cap="all" baseline="0">
                <a:solidFill>
                  <a:srgbClr val="43A2BF"/>
                </a:solidFill>
                <a:latin typeface="+mj-lt"/>
              </a:defRPr>
            </a:lvl1pPr>
          </a:lstStyle>
          <a:p>
            <a: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+mj-lt"/>
            </a:pPr>
            <a:r>
              <a:rPr lang="fr-FR"/>
              <a:t>Sous titre</a:t>
            </a:r>
          </a:p>
        </p:txBody>
      </p:sp>
      <p:sp>
        <p:nvSpPr>
          <p:cNvPr id="12" name="Espace réservé du contenu 11">
            <a:extLst>
              <a:ext uri="{FF2B5EF4-FFF2-40B4-BE49-F238E27FC236}">
                <a16:creationId xmlns:a16="http://schemas.microsoft.com/office/drawing/2014/main" id="{BCE084AA-AC21-A352-45C9-B15AF5C04C3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80996" y="1983600"/>
            <a:ext cx="7641001" cy="4194000"/>
          </a:xfrm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4" name="Espace réservé du texte 11">
            <a:extLst>
              <a:ext uri="{FF2B5EF4-FFF2-40B4-BE49-F238E27FC236}">
                <a16:creationId xmlns:a16="http://schemas.microsoft.com/office/drawing/2014/main" id="{9DBA95B2-8684-CA04-5C78-DBBABC95580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103000" y="1198800"/>
            <a:ext cx="3708000" cy="626400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 rtl="0">
              <a:buNone/>
              <a:defRPr lang="fr-FR" sz="1800" b="1" cap="all" baseline="0">
                <a:solidFill>
                  <a:srgbClr val="43A2BF"/>
                </a:solidFill>
                <a:latin typeface="+mj-lt"/>
              </a:defRPr>
            </a:lvl1pPr>
          </a:lstStyle>
          <a:p>
            <a: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+mj-lt"/>
            </a:pPr>
            <a:r>
              <a:rPr lang="fr-FR"/>
              <a:t>Sous titre</a:t>
            </a:r>
          </a:p>
        </p:txBody>
      </p:sp>
      <p:sp>
        <p:nvSpPr>
          <p:cNvPr id="15" name="Espace réservé du contenu 11">
            <a:extLst>
              <a:ext uri="{FF2B5EF4-FFF2-40B4-BE49-F238E27FC236}">
                <a16:creationId xmlns:a16="http://schemas.microsoft.com/office/drawing/2014/main" id="{C27C6CE7-CF8F-073D-79CA-F6870172FD5D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103000" y="1983600"/>
            <a:ext cx="3708000" cy="4194000"/>
          </a:xfrm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e la date 10">
            <a:extLst>
              <a:ext uri="{FF2B5EF4-FFF2-40B4-BE49-F238E27FC236}">
                <a16:creationId xmlns:a16="http://schemas.microsoft.com/office/drawing/2014/main" id="{C863AA0D-DCE2-4840-B50F-1FB5566C3D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43081" y="6340475"/>
            <a:ext cx="827345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l" defTabSz="914400" rtl="0" eaLnBrk="1" latinLnBrk="0" hangingPunct="1">
              <a:defRPr lang="fr-FR" sz="700" kern="1200" cap="all" baseline="0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fld id="{938DB7FC-3A29-4747-A142-8001527C812B}" type="datetime1">
              <a:rPr lang="fr-FR" smtClean="0"/>
              <a:t>27/03/2025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9718573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ois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t 6" hidden="1">
            <a:extLst>
              <a:ext uri="{FF2B5EF4-FFF2-40B4-BE49-F238E27FC236}">
                <a16:creationId xmlns:a16="http://schemas.microsoft.com/office/drawing/2014/main" id="{E584D3DA-06A6-90D1-6DF7-2FEA8FFF468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5258272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3" imgW="359" imgH="360" progId="TCLayout.ActiveDocument.1">
                  <p:embed/>
                </p:oleObj>
              </mc:Choice>
              <mc:Fallback>
                <p:oleObj name="Diapositive think-cell" r:id="rId3" imgW="359" imgH="360" progId="TCLayout.ActiveDocument.1">
                  <p:embed/>
                  <p:pic>
                    <p:nvPicPr>
                      <p:cNvPr id="7" name="Objet 6" hidden="1">
                        <a:extLst>
                          <a:ext uri="{FF2B5EF4-FFF2-40B4-BE49-F238E27FC236}">
                            <a16:creationId xmlns:a16="http://schemas.microsoft.com/office/drawing/2014/main" id="{E584D3DA-06A6-90D1-6DF7-2FEA8FFF468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re 1">
            <a:extLst>
              <a:ext uri="{FF2B5EF4-FFF2-40B4-BE49-F238E27FC236}">
                <a16:creationId xmlns:a16="http://schemas.microsoft.com/office/drawing/2014/main" id="{D311293C-4E46-DE81-1031-5F6DB6582B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6" y="485693"/>
            <a:ext cx="11430003" cy="694800"/>
          </a:xfrm>
        </p:spPr>
        <p:txBody>
          <a:bodyPr vert="horz"/>
          <a:lstStyle>
            <a:lvl1pPr rtl="0">
              <a:defRPr/>
            </a:lvl1pPr>
          </a:lstStyle>
          <a:p>
            <a:r>
              <a:rPr lang="fr-FR"/>
              <a:t>Titre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A2871FB5-AB60-3571-CD21-C2CCF30D22D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fr-FR"/>
              <a:t>AMITA CONSEIL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5BDFD3E-908E-E3D9-AB3A-B8B70C08788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fld id="{BD9892E7-E91F-405F-A6AB-FE5AB3285265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5" name="Espace réservé du texte 11">
            <a:extLst>
              <a:ext uri="{FF2B5EF4-FFF2-40B4-BE49-F238E27FC236}">
                <a16:creationId xmlns:a16="http://schemas.microsoft.com/office/drawing/2014/main" id="{342B26D2-F03E-7490-0963-2AD80C3B6A8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0997" y="1198800"/>
            <a:ext cx="3780000" cy="626400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 rtl="0">
              <a:buNone/>
              <a:defRPr lang="fr-FR" sz="1800" b="1" cap="all" baseline="0" dirty="0">
                <a:solidFill>
                  <a:srgbClr val="43A2BF"/>
                </a:solidFill>
                <a:latin typeface="+mj-lt"/>
              </a:defRPr>
            </a:lvl1pPr>
          </a:lstStyle>
          <a:p>
            <a: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+mj-lt"/>
            </a:pPr>
            <a:r>
              <a:rPr lang="fr-FR"/>
              <a:t>Sous titre</a:t>
            </a:r>
          </a:p>
        </p:txBody>
      </p:sp>
      <p:sp>
        <p:nvSpPr>
          <p:cNvPr id="12" name="Espace réservé du contenu 11">
            <a:extLst>
              <a:ext uri="{FF2B5EF4-FFF2-40B4-BE49-F238E27FC236}">
                <a16:creationId xmlns:a16="http://schemas.microsoft.com/office/drawing/2014/main" id="{BCE084AA-AC21-A352-45C9-B15AF5C04C3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80997" y="1983600"/>
            <a:ext cx="3780000" cy="4194000"/>
          </a:xfrm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0" name="Espace réservé du texte 11">
            <a:extLst>
              <a:ext uri="{FF2B5EF4-FFF2-40B4-BE49-F238E27FC236}">
                <a16:creationId xmlns:a16="http://schemas.microsoft.com/office/drawing/2014/main" id="{061B42E4-1FCD-A654-7B40-D184085DD13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205998" y="1198800"/>
            <a:ext cx="3780000" cy="626400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 rtl="0">
              <a:buNone/>
              <a:defRPr lang="fr-FR" sz="1800" b="1" cap="all" baseline="0">
                <a:solidFill>
                  <a:srgbClr val="43A2BF"/>
                </a:solidFill>
                <a:latin typeface="+mj-lt"/>
              </a:defRPr>
            </a:lvl1pPr>
          </a:lstStyle>
          <a:p>
            <a: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+mj-lt"/>
            </a:pPr>
            <a:r>
              <a:rPr lang="fr-FR"/>
              <a:t>Sous titre</a:t>
            </a:r>
          </a:p>
        </p:txBody>
      </p:sp>
      <p:sp>
        <p:nvSpPr>
          <p:cNvPr id="11" name="Espace réservé du contenu 11">
            <a:extLst>
              <a:ext uri="{FF2B5EF4-FFF2-40B4-BE49-F238E27FC236}">
                <a16:creationId xmlns:a16="http://schemas.microsoft.com/office/drawing/2014/main" id="{5C41A9E7-AEDF-C9A6-A6FC-31C65E7147D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205998" y="1983600"/>
            <a:ext cx="3780000" cy="4194000"/>
          </a:xfrm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4" name="Espace réservé du texte 11">
            <a:extLst>
              <a:ext uri="{FF2B5EF4-FFF2-40B4-BE49-F238E27FC236}">
                <a16:creationId xmlns:a16="http://schemas.microsoft.com/office/drawing/2014/main" id="{9DBA95B2-8684-CA04-5C78-DBBABC95580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031000" y="1198800"/>
            <a:ext cx="3780000" cy="626400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 rtl="0">
              <a:buNone/>
              <a:defRPr lang="fr-FR" sz="1800" b="1" cap="all" baseline="0">
                <a:solidFill>
                  <a:srgbClr val="43A2BF"/>
                </a:solidFill>
                <a:latin typeface="+mj-lt"/>
              </a:defRPr>
            </a:lvl1pPr>
          </a:lstStyle>
          <a:p>
            <a: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+mj-lt"/>
            </a:pPr>
            <a:r>
              <a:rPr lang="fr-FR"/>
              <a:t>Sous titre</a:t>
            </a:r>
          </a:p>
        </p:txBody>
      </p:sp>
      <p:sp>
        <p:nvSpPr>
          <p:cNvPr id="15" name="Espace réservé du contenu 11">
            <a:extLst>
              <a:ext uri="{FF2B5EF4-FFF2-40B4-BE49-F238E27FC236}">
                <a16:creationId xmlns:a16="http://schemas.microsoft.com/office/drawing/2014/main" id="{C27C6CE7-CF8F-073D-79CA-F6870172FD5D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031000" y="1983600"/>
            <a:ext cx="3780000" cy="4194000"/>
          </a:xfrm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e la date 10">
            <a:extLst>
              <a:ext uri="{FF2B5EF4-FFF2-40B4-BE49-F238E27FC236}">
                <a16:creationId xmlns:a16="http://schemas.microsoft.com/office/drawing/2014/main" id="{B65B5D9E-220C-683A-78B0-95CF6CB264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43081" y="6340475"/>
            <a:ext cx="827345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l" defTabSz="914400" rtl="0" eaLnBrk="1" latinLnBrk="0" hangingPunct="1">
              <a:defRPr lang="fr-FR" sz="700" kern="1200" cap="all" baseline="0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fld id="{8E5FB0A7-7F23-4E6A-9795-4773C0DDFEEE}" type="datetime1">
              <a:rPr lang="fr-FR" smtClean="0"/>
              <a:t>27/03/2025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17404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&amp; sous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t 5" hidden="1">
            <a:extLst>
              <a:ext uri="{FF2B5EF4-FFF2-40B4-BE49-F238E27FC236}">
                <a16:creationId xmlns:a16="http://schemas.microsoft.com/office/drawing/2014/main" id="{96B5FBC2-58AC-2FAF-7D78-BF6E106ED01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8211724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3" imgW="359" imgH="360" progId="TCLayout.ActiveDocument.1">
                  <p:embed/>
                </p:oleObj>
              </mc:Choice>
              <mc:Fallback>
                <p:oleObj name="Diapositive think-cell" r:id="rId3" imgW="359" imgH="360" progId="TCLayout.ActiveDocument.1">
                  <p:embed/>
                  <p:pic>
                    <p:nvPicPr>
                      <p:cNvPr id="6" name="Objet 5" hidden="1">
                        <a:extLst>
                          <a:ext uri="{FF2B5EF4-FFF2-40B4-BE49-F238E27FC236}">
                            <a16:creationId xmlns:a16="http://schemas.microsoft.com/office/drawing/2014/main" id="{96B5FBC2-58AC-2FAF-7D78-BF6E106ED0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re 1">
            <a:extLst>
              <a:ext uri="{FF2B5EF4-FFF2-40B4-BE49-F238E27FC236}">
                <a16:creationId xmlns:a16="http://schemas.microsoft.com/office/drawing/2014/main" id="{0934E31E-55AD-3016-4711-D984139036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 rtl="0">
              <a:defRPr/>
            </a:lvl1pPr>
          </a:lstStyle>
          <a:p>
            <a:r>
              <a:rPr lang="fr-FR"/>
              <a:t>Titre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48959EE3-0C1B-69B4-97CA-86F4273E5DE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fr-FR"/>
              <a:t>AMITA CONSEIL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2DF3A06-8A18-CB78-2E4B-836454BCF12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fld id="{BD9892E7-E91F-405F-A6AB-FE5AB3285265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5" name="Espace réservé du texte 13">
            <a:extLst>
              <a:ext uri="{FF2B5EF4-FFF2-40B4-BE49-F238E27FC236}">
                <a16:creationId xmlns:a16="http://schemas.microsoft.com/office/drawing/2014/main" id="{317CE532-FD4B-B975-10B5-801C1940819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0995" y="1198800"/>
            <a:ext cx="11430003" cy="626400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 rtl="0">
              <a:buFont typeface="Arial" panose="020B0604020202020204" pitchFamily="34" charset="0"/>
              <a:buNone/>
              <a:defRPr lang="fr-FR" sz="1800" b="1" cap="all" baseline="0">
                <a:solidFill>
                  <a:srgbClr val="43A2BF"/>
                </a:solidFill>
                <a:latin typeface="+mj-lt"/>
              </a:defRPr>
            </a:lvl1pPr>
          </a:lstStyle>
          <a:p>
            <a: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+mj-lt"/>
            </a:pPr>
            <a:r>
              <a:rPr lang="fr-FR"/>
              <a:t>Sous titre</a:t>
            </a:r>
          </a:p>
        </p:txBody>
      </p:sp>
      <p:sp>
        <p:nvSpPr>
          <p:cNvPr id="7" name="Espace réservé de la date 10">
            <a:extLst>
              <a:ext uri="{FF2B5EF4-FFF2-40B4-BE49-F238E27FC236}">
                <a16:creationId xmlns:a16="http://schemas.microsoft.com/office/drawing/2014/main" id="{B2FC24D8-9A98-BB5B-8D7A-C1EFA24C4D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43081" y="6340475"/>
            <a:ext cx="827345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l" defTabSz="914400" rtl="0" eaLnBrk="1" latinLnBrk="0" hangingPunct="1">
              <a:defRPr lang="fr-FR" sz="700" kern="1200" cap="all" baseline="0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fld id="{521D2C54-CCAC-40AD-839B-4B97D69A549F}" type="datetime1">
              <a:rPr lang="fr-FR" smtClean="0"/>
              <a:t>27/03/2025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822665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nde bleue à dro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t 5" hidden="1">
            <a:extLst>
              <a:ext uri="{FF2B5EF4-FFF2-40B4-BE49-F238E27FC236}">
                <a16:creationId xmlns:a16="http://schemas.microsoft.com/office/drawing/2014/main" id="{96B5FBC2-58AC-2FAF-7D78-BF6E106ED01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5318011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3" imgW="359" imgH="360" progId="TCLayout.ActiveDocument.1">
                  <p:embed/>
                </p:oleObj>
              </mc:Choice>
              <mc:Fallback>
                <p:oleObj name="Diapositive think-cell" r:id="rId3" imgW="359" imgH="360" progId="TCLayout.ActiveDocument.1">
                  <p:embed/>
                  <p:pic>
                    <p:nvPicPr>
                      <p:cNvPr id="6" name="Objet 5" hidden="1">
                        <a:extLst>
                          <a:ext uri="{FF2B5EF4-FFF2-40B4-BE49-F238E27FC236}">
                            <a16:creationId xmlns:a16="http://schemas.microsoft.com/office/drawing/2014/main" id="{96B5FBC2-58AC-2FAF-7D78-BF6E106ED0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514BD427-C85E-7FF3-5ADB-6C9695765641}"/>
              </a:ext>
            </a:extLst>
          </p:cNvPr>
          <p:cNvSpPr/>
          <p:nvPr/>
        </p:nvSpPr>
        <p:spPr>
          <a:xfrm>
            <a:off x="9003891" y="6179574"/>
            <a:ext cx="3188110" cy="6784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sz="140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F30EC56-780E-456D-F690-0606D4ED1B3A}"/>
              </a:ext>
            </a:extLst>
          </p:cNvPr>
          <p:cNvSpPr/>
          <p:nvPr/>
        </p:nvSpPr>
        <p:spPr>
          <a:xfrm>
            <a:off x="9504486" y="152401"/>
            <a:ext cx="2531939" cy="65480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fr-FR">
                <a:latin typeface="Raleway" panose="020B0003030101060003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0934E31E-55AD-3016-4711-D984139036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7" y="485693"/>
            <a:ext cx="9041953" cy="694800"/>
          </a:xfrm>
        </p:spPr>
        <p:txBody>
          <a:bodyPr vert="horz"/>
          <a:lstStyle>
            <a:lvl1pPr rtl="0">
              <a:defRPr/>
            </a:lvl1pPr>
          </a:lstStyle>
          <a:p>
            <a:r>
              <a:rPr lang="fr-FR"/>
              <a:t>Titre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48959EE3-0C1B-69B4-97CA-86F4273E5DE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570424" y="6340476"/>
            <a:ext cx="7852526" cy="360000"/>
          </a:xfrm>
        </p:spPr>
        <p:txBody>
          <a:bodyPr/>
          <a:lstStyle>
            <a:lvl1pPr rtl="0">
              <a:defRPr/>
            </a:lvl1pPr>
          </a:lstStyle>
          <a:p>
            <a:r>
              <a:rPr lang="fr-FR"/>
              <a:t>AMITA CONSEIL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2DF3A06-8A18-CB78-2E4B-836454BCF12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380995" y="6340475"/>
            <a:ext cx="362086" cy="360001"/>
          </a:xfrm>
        </p:spPr>
        <p:txBody>
          <a:bodyPr vert="horz" lIns="91440" tIns="45720" rIns="91440" bIns="45720" rtlCol="0" anchor="ctr"/>
          <a:lstStyle>
            <a:lvl1pPr rtl="0">
              <a:defRPr lang="fr-FR" smtClean="0"/>
            </a:lvl1pPr>
          </a:lstStyle>
          <a:p>
            <a:fld id="{BD9892E7-E91F-405F-A6AB-FE5AB3285265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5" name="Espace réservé du texte 13">
            <a:extLst>
              <a:ext uri="{FF2B5EF4-FFF2-40B4-BE49-F238E27FC236}">
                <a16:creationId xmlns:a16="http://schemas.microsoft.com/office/drawing/2014/main" id="{317CE532-FD4B-B975-10B5-801C1940819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0995" y="1198800"/>
            <a:ext cx="9041953" cy="626400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 rtl="0">
              <a:buFont typeface="Arial" panose="020B0604020202020204" pitchFamily="34" charset="0"/>
              <a:buNone/>
              <a:defRPr lang="fr-FR" sz="1800" b="1" cap="all" baseline="0" dirty="0">
                <a:solidFill>
                  <a:srgbClr val="43A2BF"/>
                </a:solidFill>
                <a:latin typeface="+mj-lt"/>
              </a:defRPr>
            </a:lvl1pPr>
          </a:lstStyle>
          <a:p>
            <a: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+mj-lt"/>
            </a:pPr>
            <a:r>
              <a:rPr lang="fr-FR"/>
              <a:t>Sous titre</a:t>
            </a:r>
          </a:p>
        </p:txBody>
      </p:sp>
      <p:sp>
        <p:nvSpPr>
          <p:cNvPr id="9" name="Espace réservé du contenu 11">
            <a:extLst>
              <a:ext uri="{FF2B5EF4-FFF2-40B4-BE49-F238E27FC236}">
                <a16:creationId xmlns:a16="http://schemas.microsoft.com/office/drawing/2014/main" id="{B8E04866-5B0C-A17E-298A-637EC30BB1CD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80997" y="1983600"/>
            <a:ext cx="9041952" cy="4194000"/>
          </a:xfrm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pic>
        <p:nvPicPr>
          <p:cNvPr id="12" name="Graphique 11">
            <a:extLst>
              <a:ext uri="{FF2B5EF4-FFF2-40B4-BE49-F238E27FC236}">
                <a16:creationId xmlns:a16="http://schemas.microsoft.com/office/drawing/2014/main" id="{CC38F476-59DD-8511-7A29-8B342AED43C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819772" y="286503"/>
            <a:ext cx="1901366" cy="855370"/>
          </a:xfrm>
          <a:prstGeom prst="rect">
            <a:avLst/>
          </a:prstGeom>
        </p:spPr>
      </p:pic>
      <p:sp>
        <p:nvSpPr>
          <p:cNvPr id="10" name="Espace réservé de la date 10">
            <a:extLst>
              <a:ext uri="{FF2B5EF4-FFF2-40B4-BE49-F238E27FC236}">
                <a16:creationId xmlns:a16="http://schemas.microsoft.com/office/drawing/2014/main" id="{33736BB2-04AE-E18A-6F46-42CC1E8CE2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43081" y="6340475"/>
            <a:ext cx="827345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l" defTabSz="914400" rtl="0" eaLnBrk="1" latinLnBrk="0" hangingPunct="1">
              <a:defRPr lang="fr-FR" sz="700" kern="1200" cap="all" baseline="0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fld id="{CC54E723-D22E-4F2F-BAD1-AC559C1EE34F}" type="datetime1">
              <a:rPr lang="fr-FR" smtClean="0"/>
              <a:t>27/03/2025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044352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4224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os contacts :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t 5" hidden="1">
            <a:extLst>
              <a:ext uri="{FF2B5EF4-FFF2-40B4-BE49-F238E27FC236}">
                <a16:creationId xmlns:a16="http://schemas.microsoft.com/office/drawing/2014/main" id="{96B5FBC2-58AC-2FAF-7D78-BF6E106ED01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940165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3" imgW="359" imgH="360" progId="TCLayout.ActiveDocument.1">
                  <p:embed/>
                </p:oleObj>
              </mc:Choice>
              <mc:Fallback>
                <p:oleObj name="Diapositive think-cell" r:id="rId3" imgW="359" imgH="360" progId="TCLayout.ActiveDocument.1">
                  <p:embed/>
                  <p:pic>
                    <p:nvPicPr>
                      <p:cNvPr id="6" name="Objet 5" hidden="1">
                        <a:extLst>
                          <a:ext uri="{FF2B5EF4-FFF2-40B4-BE49-F238E27FC236}">
                            <a16:creationId xmlns:a16="http://schemas.microsoft.com/office/drawing/2014/main" id="{96B5FBC2-58AC-2FAF-7D78-BF6E106ED0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:a16="http://schemas.microsoft.com/office/drawing/2014/main" id="{95179120-2B8B-CC53-5EDD-380030E6935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/>
          </a:p>
        </p:txBody>
      </p:sp>
      <p:pic>
        <p:nvPicPr>
          <p:cNvPr id="2" name="Graphique 1">
            <a:extLst>
              <a:ext uri="{FF2B5EF4-FFF2-40B4-BE49-F238E27FC236}">
                <a16:creationId xmlns:a16="http://schemas.microsoft.com/office/drawing/2014/main" id="{3CC61307-6F61-6888-EB92-0346D43A92D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r="45865"/>
          <a:stretch/>
        </p:blipFill>
        <p:spPr>
          <a:xfrm>
            <a:off x="8537849" y="0"/>
            <a:ext cx="3654151" cy="6858000"/>
          </a:xfrm>
          <a:prstGeom prst="rect">
            <a:avLst/>
          </a:prstGeom>
        </p:spPr>
      </p:pic>
      <p:sp>
        <p:nvSpPr>
          <p:cNvPr id="7" name="Titre 2">
            <a:extLst>
              <a:ext uri="{FF2B5EF4-FFF2-40B4-BE49-F238E27FC236}">
                <a16:creationId xmlns:a16="http://schemas.microsoft.com/office/drawing/2014/main" id="{A0F06A95-1F27-C760-E36A-1E7C78DB1195}"/>
              </a:ext>
            </a:extLst>
          </p:cNvPr>
          <p:cNvSpPr txBox="1">
            <a:spLocks/>
          </p:cNvSpPr>
          <p:nvPr/>
        </p:nvSpPr>
        <p:spPr bwMode="auto">
          <a:xfrm>
            <a:off x="452123" y="5754279"/>
            <a:ext cx="1391963" cy="2678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78940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57879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436819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915758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394698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873637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352576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831516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rtl="0">
              <a:lnSpc>
                <a:spcPct val="90000"/>
              </a:lnSpc>
            </a:pPr>
            <a:r>
              <a:rPr lang="fr-FR" sz="900">
                <a:solidFill>
                  <a:schemeClr val="tx2"/>
                </a:solidFill>
                <a:latin typeface="+mn-lt"/>
                <a:ea typeface="+mj-ea"/>
                <a:cs typeface="+mj-cs"/>
              </a:rPr>
              <a:t>Mentions légales</a:t>
            </a:r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4B611569-DFE4-D6E5-DB01-4C76E792C0A3}"/>
              </a:ext>
            </a:extLst>
          </p:cNvPr>
          <p:cNvSpPr txBox="1">
            <a:spLocks/>
          </p:cNvSpPr>
          <p:nvPr/>
        </p:nvSpPr>
        <p:spPr>
          <a:xfrm>
            <a:off x="1844085" y="5754279"/>
            <a:ext cx="1907299" cy="555626"/>
          </a:xfrm>
          <a:prstGeom prst="rect">
            <a:avLst/>
          </a:prstGeom>
          <a:ln>
            <a:noFill/>
          </a:ln>
        </p:spPr>
        <p:txBody>
          <a:bodyPr lIns="90000" tIns="46800" rIns="90000" bIns="46800" anchor="t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78940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57879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436819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915758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394698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873637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352576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831516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rtl="0"/>
            <a:r>
              <a:rPr lang="fr-FR" sz="900">
                <a:solidFill>
                  <a:schemeClr val="bg1">
                    <a:lumMod val="50000"/>
                  </a:schemeClr>
                </a:solidFill>
                <a:latin typeface="+mn-lt"/>
              </a:rPr>
              <a:t>RCS Paris 844 224 881</a:t>
            </a:r>
          </a:p>
          <a:p>
            <a:pPr rtl="0"/>
            <a:r>
              <a:rPr lang="fr-FR" sz="900">
                <a:solidFill>
                  <a:schemeClr val="bg1">
                    <a:lumMod val="50000"/>
                  </a:schemeClr>
                </a:solidFill>
                <a:latin typeface="+mn-lt"/>
              </a:rPr>
              <a:t>APE 7022 Z</a:t>
            </a:r>
          </a:p>
          <a:p>
            <a:pPr rtl="0"/>
            <a:r>
              <a:rPr lang="fr-FR" sz="900">
                <a:solidFill>
                  <a:schemeClr val="bg1">
                    <a:lumMod val="50000"/>
                  </a:schemeClr>
                </a:solidFill>
                <a:latin typeface="+mn-lt"/>
              </a:rPr>
              <a:t>SAS au capital de 100 000 €</a:t>
            </a:r>
          </a:p>
        </p:txBody>
      </p:sp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01449EC0-C12F-909D-CCF8-4E3EC34AC0D1}"/>
              </a:ext>
            </a:extLst>
          </p:cNvPr>
          <p:cNvSpPr txBox="1">
            <a:spLocks/>
          </p:cNvSpPr>
          <p:nvPr/>
        </p:nvSpPr>
        <p:spPr>
          <a:xfrm>
            <a:off x="3758507" y="5754279"/>
            <a:ext cx="1568745" cy="555626"/>
          </a:xfrm>
          <a:prstGeom prst="rect">
            <a:avLst/>
          </a:prstGeom>
          <a:ln>
            <a:noFill/>
          </a:ln>
        </p:spPr>
        <p:txBody>
          <a:bodyPr lIns="90000" tIns="46800" rIns="90000" bIns="46800" anchor="t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78940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57879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436819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915758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394698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873637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352576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831516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rtl="0"/>
            <a:r>
              <a:rPr lang="fr-FR" sz="900" b="1">
                <a:solidFill>
                  <a:schemeClr val="bg1">
                    <a:lumMod val="50000"/>
                  </a:schemeClr>
                </a:solidFill>
                <a:latin typeface="+mn-lt"/>
              </a:rPr>
              <a:t>PARIS</a:t>
            </a:r>
          </a:p>
          <a:p>
            <a:pPr rtl="0"/>
            <a:r>
              <a:rPr lang="fr-FR" sz="900">
                <a:solidFill>
                  <a:schemeClr val="bg1">
                    <a:lumMod val="50000"/>
                  </a:schemeClr>
                </a:solidFill>
                <a:latin typeface="+mn-lt"/>
              </a:rPr>
              <a:t>16 Rue Auber</a:t>
            </a:r>
          </a:p>
          <a:p>
            <a:pPr rtl="0"/>
            <a:r>
              <a:rPr lang="fr-FR" sz="900">
                <a:solidFill>
                  <a:schemeClr val="bg1">
                    <a:lumMod val="50000"/>
                  </a:schemeClr>
                </a:solidFill>
                <a:latin typeface="+mn-lt"/>
              </a:rPr>
              <a:t>75009 Paris</a:t>
            </a:r>
          </a:p>
        </p:txBody>
      </p:sp>
      <p:pic>
        <p:nvPicPr>
          <p:cNvPr id="10" name="Graphique 9">
            <a:extLst>
              <a:ext uri="{FF2B5EF4-FFF2-40B4-BE49-F238E27FC236}">
                <a16:creationId xmlns:a16="http://schemas.microsoft.com/office/drawing/2014/main" id="{F78D9D22-B0BB-0150-4C7A-378FDD57CE0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86194" y="4436165"/>
            <a:ext cx="3408898" cy="1533566"/>
          </a:xfrm>
          <a:prstGeom prst="rect">
            <a:avLst/>
          </a:prstGeom>
        </p:spPr>
      </p:pic>
      <p:sp>
        <p:nvSpPr>
          <p:cNvPr id="11" name="Espace réservé du pied de page 2">
            <a:extLst>
              <a:ext uri="{FF2B5EF4-FFF2-40B4-BE49-F238E27FC236}">
                <a16:creationId xmlns:a16="http://schemas.microsoft.com/office/drawing/2014/main" id="{C0E44361-FF10-EE71-96BF-F11A48AB21CC}"/>
              </a:ext>
            </a:extLst>
          </p:cNvPr>
          <p:cNvSpPr txBox="1">
            <a:spLocks/>
          </p:cNvSpPr>
          <p:nvPr/>
        </p:nvSpPr>
        <p:spPr>
          <a:xfrm>
            <a:off x="986193" y="4837823"/>
            <a:ext cx="3408898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ctr" defTabSz="914400" rtl="0" eaLnBrk="1" latinLnBrk="0" hangingPunct="1">
              <a:defRPr kumimoji="0" lang="fr-FR" sz="900" b="0" i="0" u="none" strike="noStrike" kern="1200" cap="none" spc="0" normalizeH="0" baseline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/>
            <a:r>
              <a:rPr lang="fr-FR" sz="850" b="1">
                <a:solidFill>
                  <a:srgbClr val="353637"/>
                </a:solidFill>
                <a:latin typeface="Now" panose="00000800000000000000" pitchFamily="50" charset="0"/>
              </a:rPr>
              <a:t>CABINET DE CONSEIL EN TRANSFORMATION</a:t>
            </a:r>
          </a:p>
          <a:p>
            <a:pPr rtl="0"/>
            <a:r>
              <a:rPr lang="fr-FR" sz="700" b="1">
                <a:solidFill>
                  <a:srgbClr val="43A2BF"/>
                </a:solidFill>
                <a:latin typeface="Now" panose="00000800000000000000" pitchFamily="50" charset="0"/>
              </a:rPr>
              <a:t>PARIS – NANTES - NIORT</a:t>
            </a:r>
          </a:p>
        </p:txBody>
      </p:sp>
      <p:sp>
        <p:nvSpPr>
          <p:cNvPr id="13" name="Titre 12">
            <a:extLst>
              <a:ext uri="{FF2B5EF4-FFF2-40B4-BE49-F238E27FC236}">
                <a16:creationId xmlns:a16="http://schemas.microsoft.com/office/drawing/2014/main" id="{8040899B-70BA-C98E-7243-581C3AFDFEE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2122" y="485693"/>
            <a:ext cx="11287754" cy="694800"/>
          </a:xfrm>
        </p:spPr>
        <p:txBody>
          <a:bodyPr vert="horz"/>
          <a:lstStyle>
            <a:lvl1pPr marL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fr-FR" sz="2000" b="1" kern="1200" cap="all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/>
              <a:t>Vos contacts :</a:t>
            </a:r>
          </a:p>
        </p:txBody>
      </p:sp>
      <p:sp>
        <p:nvSpPr>
          <p:cNvPr id="23" name="Espace réservé du texte 22">
            <a:extLst>
              <a:ext uri="{FF2B5EF4-FFF2-40B4-BE49-F238E27FC236}">
                <a16:creationId xmlns:a16="http://schemas.microsoft.com/office/drawing/2014/main" id="{E90ED69B-CFD3-33C1-D2C1-407CB94812A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60409" y="2854600"/>
            <a:ext cx="2306512" cy="631283"/>
          </a:xfrm>
        </p:spPr>
        <p:txBody>
          <a:bodyPr anchor="ctr"/>
          <a:lstStyle>
            <a:lvl1pPr marL="0" indent="0" algn="ctr" rtl="0">
              <a:spcBef>
                <a:spcPts val="0"/>
              </a:spcBef>
              <a:spcAft>
                <a:spcPts val="0"/>
              </a:spcAft>
              <a:buNone/>
              <a:defRPr sz="1600" b="1"/>
            </a:lvl1pPr>
            <a:lvl2pPr marL="0" indent="0" algn="ctr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tx2"/>
                </a:solidFill>
              </a:defRPr>
            </a:lvl2pPr>
            <a:lvl3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algn="ctr">
              <a:defRPr/>
            </a:lvl4pPr>
          </a:lstStyle>
          <a:p>
            <a:pPr lvl="0"/>
            <a:r>
              <a:rPr lang="fr-FR"/>
              <a:t>NOM PRENOM</a:t>
            </a:r>
          </a:p>
        </p:txBody>
      </p:sp>
      <p:sp>
        <p:nvSpPr>
          <p:cNvPr id="24" name="Espace réservé du texte 22">
            <a:extLst>
              <a:ext uri="{FF2B5EF4-FFF2-40B4-BE49-F238E27FC236}">
                <a16:creationId xmlns:a16="http://schemas.microsoft.com/office/drawing/2014/main" id="{116FACC4-F6A3-FD48-56DA-A346E2EFB4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60409" y="3485883"/>
            <a:ext cx="2306512" cy="342167"/>
          </a:xfrm>
        </p:spPr>
        <p:txBody>
          <a:bodyPr/>
          <a:lstStyle>
            <a:lvl1pPr marL="0" indent="0" algn="ctr" rtl="0">
              <a:spcBef>
                <a:spcPts val="0"/>
              </a:spcBef>
              <a:spcAft>
                <a:spcPts val="0"/>
              </a:spcAft>
              <a:buNone/>
              <a:defRPr kumimoji="0" lang="fr-FR" sz="1400" b="1" i="0" u="none" strike="noStrike" kern="1200" cap="none" spc="0" normalizeH="0" baseline="0" dirty="0" smtClean="0">
                <a:ln>
                  <a:noFill/>
                </a:ln>
                <a:solidFill>
                  <a:srgbClr val="43A2B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defRPr>
            </a:lvl1pPr>
            <a:lvl2pPr marL="0" indent="0" algn="ctr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tx2"/>
                </a:solidFill>
              </a:defRPr>
            </a:lvl2pPr>
            <a:lvl3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algn="ctr">
              <a:defRPr/>
            </a:lvl4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/>
              <a:t>GRADE</a:t>
            </a:r>
          </a:p>
        </p:txBody>
      </p:sp>
      <p:sp>
        <p:nvSpPr>
          <p:cNvPr id="25" name="Espace réservé du texte 22">
            <a:extLst>
              <a:ext uri="{FF2B5EF4-FFF2-40B4-BE49-F238E27FC236}">
                <a16:creationId xmlns:a16="http://schemas.microsoft.com/office/drawing/2014/main" id="{84F2AACE-BBE0-973B-70C7-EB949A19C36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60409" y="3828050"/>
            <a:ext cx="2306512" cy="627767"/>
          </a:xfrm>
        </p:spPr>
        <p:txBody>
          <a:bodyPr/>
          <a:lstStyle>
            <a:lvl1pPr marL="0" indent="0" algn="ctr" rtl="0">
              <a:spcBef>
                <a:spcPts val="0"/>
              </a:spcBef>
              <a:spcAft>
                <a:spcPts val="0"/>
              </a:spcAft>
              <a:buNone/>
              <a:defRPr kumimoji="0" lang="fr-FR" sz="1000" b="0" i="0" u="none" strike="noStrike" kern="1200" cap="none" spc="0" normalizeH="0" baseline="0" dirty="0">
                <a:ln>
                  <a:noFill/>
                </a:ln>
                <a:solidFill>
                  <a:srgbClr val="353637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defRPr>
            </a:lvl1pPr>
            <a:lvl2pPr marL="0" indent="0" algn="ctr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tx2"/>
                </a:solidFill>
              </a:defRPr>
            </a:lvl2pPr>
            <a:lvl3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algn="ctr">
              <a:defRPr/>
            </a:lvl4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/>
              <a:t>Prénom.nom@amitaconseil.com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/>
              <a:t>+33 (0) 6 12 34 56 78</a:t>
            </a:r>
          </a:p>
        </p:txBody>
      </p:sp>
      <p:sp>
        <p:nvSpPr>
          <p:cNvPr id="29" name="Espace réservé pour une image  27">
            <a:extLst>
              <a:ext uri="{FF2B5EF4-FFF2-40B4-BE49-F238E27FC236}">
                <a16:creationId xmlns:a16="http://schemas.microsoft.com/office/drawing/2014/main" id="{95AD02E2-678F-BA98-98BE-FDF0E1027D5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38163" y="1203492"/>
            <a:ext cx="1560512" cy="1628109"/>
          </a:xfrm>
        </p:spPr>
        <p:txBody>
          <a:bodyPr/>
          <a:lstStyle>
            <a:lvl1pPr rtl="0">
              <a:defRPr/>
            </a:lvl1pPr>
          </a:lstStyle>
          <a:p>
            <a:r>
              <a:rPr lang="fr-FR"/>
              <a:t>Cliquez sur l'icône pour ajouter une image</a:t>
            </a:r>
          </a:p>
        </p:txBody>
      </p:sp>
      <p:sp>
        <p:nvSpPr>
          <p:cNvPr id="30" name="Espace réservé du texte 22">
            <a:extLst>
              <a:ext uri="{FF2B5EF4-FFF2-40B4-BE49-F238E27FC236}">
                <a16:creationId xmlns:a16="http://schemas.microsoft.com/office/drawing/2014/main" id="{2AB991A5-B28D-31D4-7C2A-ABCE44AF2DF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51576" y="2854600"/>
            <a:ext cx="2306512" cy="631283"/>
          </a:xfrm>
        </p:spPr>
        <p:txBody>
          <a:bodyPr anchor="ctr"/>
          <a:lstStyle>
            <a:lvl1pPr marL="0" indent="0" algn="ctr" rtl="0">
              <a:spcBef>
                <a:spcPts val="0"/>
              </a:spcBef>
              <a:spcAft>
                <a:spcPts val="0"/>
              </a:spcAft>
              <a:buNone/>
              <a:defRPr sz="1600" b="1"/>
            </a:lvl1pPr>
            <a:lvl2pPr marL="0" indent="0" algn="ctr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tx2"/>
                </a:solidFill>
              </a:defRPr>
            </a:lvl2pPr>
            <a:lvl3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algn="ctr">
              <a:defRPr/>
            </a:lvl4pPr>
          </a:lstStyle>
          <a:p>
            <a:pPr lvl="0"/>
            <a:r>
              <a:rPr lang="fr-FR"/>
              <a:t>NOM PRENOM</a:t>
            </a:r>
          </a:p>
        </p:txBody>
      </p:sp>
      <p:sp>
        <p:nvSpPr>
          <p:cNvPr id="31" name="Espace réservé du texte 22">
            <a:extLst>
              <a:ext uri="{FF2B5EF4-FFF2-40B4-BE49-F238E27FC236}">
                <a16:creationId xmlns:a16="http://schemas.microsoft.com/office/drawing/2014/main" id="{3D1E0C0A-2EDD-3661-A430-C375B328B39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51576" y="3485883"/>
            <a:ext cx="2306512" cy="342167"/>
          </a:xfrm>
        </p:spPr>
        <p:txBody>
          <a:bodyPr/>
          <a:lstStyle>
            <a:lvl1pPr marL="0" indent="0" algn="ctr" rtl="0">
              <a:spcBef>
                <a:spcPts val="0"/>
              </a:spcBef>
              <a:spcAft>
                <a:spcPts val="0"/>
              </a:spcAft>
              <a:buNone/>
              <a:defRPr kumimoji="0" lang="fr-FR" sz="1400" b="1" i="0" u="none" strike="noStrike" kern="1200" cap="none" spc="0" normalizeH="0" baseline="0" dirty="0" smtClean="0">
                <a:ln>
                  <a:noFill/>
                </a:ln>
                <a:solidFill>
                  <a:srgbClr val="43A2B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defRPr>
            </a:lvl1pPr>
            <a:lvl2pPr marL="0" indent="0" algn="ctr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tx2"/>
                </a:solidFill>
              </a:defRPr>
            </a:lvl2pPr>
            <a:lvl3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algn="ctr">
              <a:defRPr/>
            </a:lvl4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/>
              <a:t>GRADE</a:t>
            </a:r>
          </a:p>
        </p:txBody>
      </p:sp>
      <p:sp>
        <p:nvSpPr>
          <p:cNvPr id="32" name="Espace réservé du texte 22">
            <a:extLst>
              <a:ext uri="{FF2B5EF4-FFF2-40B4-BE49-F238E27FC236}">
                <a16:creationId xmlns:a16="http://schemas.microsoft.com/office/drawing/2014/main" id="{3848698C-2799-1BF7-AD01-97F06EB07DE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51576" y="3828050"/>
            <a:ext cx="2306512" cy="627767"/>
          </a:xfrm>
        </p:spPr>
        <p:txBody>
          <a:bodyPr/>
          <a:lstStyle>
            <a:lvl1pPr marL="0" indent="0" algn="ctr" rtl="0">
              <a:spcBef>
                <a:spcPts val="0"/>
              </a:spcBef>
              <a:spcAft>
                <a:spcPts val="0"/>
              </a:spcAft>
              <a:buNone/>
              <a:defRPr kumimoji="0" lang="fr-FR" sz="1000" b="0" i="0" u="none" strike="noStrike" kern="1200" cap="none" spc="0" normalizeH="0" baseline="0" dirty="0">
                <a:ln>
                  <a:noFill/>
                </a:ln>
                <a:solidFill>
                  <a:srgbClr val="353637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defRPr>
            </a:lvl1pPr>
            <a:lvl2pPr marL="0" indent="0" algn="ctr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tx2"/>
                </a:solidFill>
              </a:defRPr>
            </a:lvl2pPr>
            <a:lvl3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algn="ctr">
              <a:defRPr/>
            </a:lvl4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/>
              <a:t>Prénom.nom@amitaconseil.com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/>
              <a:t>+33 (0) 6 12 34 56 78</a:t>
            </a:r>
          </a:p>
        </p:txBody>
      </p:sp>
      <p:sp>
        <p:nvSpPr>
          <p:cNvPr id="33" name="Espace réservé pour une image  27">
            <a:extLst>
              <a:ext uri="{FF2B5EF4-FFF2-40B4-BE49-F238E27FC236}">
                <a16:creationId xmlns:a16="http://schemas.microsoft.com/office/drawing/2014/main" id="{16715DB2-ED35-33DC-09EB-AC0D37CEC9D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2929330" y="1203492"/>
            <a:ext cx="1560512" cy="1628109"/>
          </a:xfrm>
        </p:spPr>
        <p:txBody>
          <a:bodyPr/>
          <a:lstStyle>
            <a:lvl1pPr rtl="0">
              <a:defRPr/>
            </a:lvl1pPr>
          </a:lstStyle>
          <a:p>
            <a:r>
              <a:rPr lang="fr-FR"/>
              <a:t>Cliquez sur l'icône pour ajouter une image</a:t>
            </a:r>
          </a:p>
        </p:txBody>
      </p:sp>
      <p:sp>
        <p:nvSpPr>
          <p:cNvPr id="34" name="Espace réservé du texte 22">
            <a:extLst>
              <a:ext uri="{FF2B5EF4-FFF2-40B4-BE49-F238E27FC236}">
                <a16:creationId xmlns:a16="http://schemas.microsoft.com/office/drawing/2014/main" id="{7FEC946C-C2D2-6CC0-77AD-1693A19C14C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42744" y="2854600"/>
            <a:ext cx="2306512" cy="631283"/>
          </a:xfrm>
        </p:spPr>
        <p:txBody>
          <a:bodyPr anchor="ctr"/>
          <a:lstStyle>
            <a:lvl1pPr marL="0" indent="0" algn="ctr" rtl="0">
              <a:spcBef>
                <a:spcPts val="0"/>
              </a:spcBef>
              <a:spcAft>
                <a:spcPts val="0"/>
              </a:spcAft>
              <a:buNone/>
              <a:defRPr sz="1600" b="1"/>
            </a:lvl1pPr>
            <a:lvl2pPr marL="0" indent="0" algn="ctr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tx2"/>
                </a:solidFill>
              </a:defRPr>
            </a:lvl2pPr>
            <a:lvl3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algn="ctr">
              <a:defRPr/>
            </a:lvl4pPr>
          </a:lstStyle>
          <a:p>
            <a:pPr lvl="0"/>
            <a:r>
              <a:rPr lang="fr-FR"/>
              <a:t>NOM PRENOM</a:t>
            </a:r>
          </a:p>
        </p:txBody>
      </p:sp>
      <p:sp>
        <p:nvSpPr>
          <p:cNvPr id="35" name="Espace réservé du texte 22">
            <a:extLst>
              <a:ext uri="{FF2B5EF4-FFF2-40B4-BE49-F238E27FC236}">
                <a16:creationId xmlns:a16="http://schemas.microsoft.com/office/drawing/2014/main" id="{FE760D77-8599-8105-839E-878F4499C69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942744" y="3485883"/>
            <a:ext cx="2306512" cy="342167"/>
          </a:xfrm>
        </p:spPr>
        <p:txBody>
          <a:bodyPr/>
          <a:lstStyle>
            <a:lvl1pPr marL="0" indent="0" algn="ctr" rtl="0">
              <a:spcBef>
                <a:spcPts val="0"/>
              </a:spcBef>
              <a:spcAft>
                <a:spcPts val="0"/>
              </a:spcAft>
              <a:buNone/>
              <a:defRPr kumimoji="0" lang="fr-FR" sz="1400" b="1" i="0" u="none" strike="noStrike" kern="1200" cap="none" spc="0" normalizeH="0" baseline="0" dirty="0" smtClean="0">
                <a:ln>
                  <a:noFill/>
                </a:ln>
                <a:solidFill>
                  <a:srgbClr val="43A2B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defRPr>
            </a:lvl1pPr>
            <a:lvl2pPr marL="0" indent="0" algn="ctr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tx2"/>
                </a:solidFill>
              </a:defRPr>
            </a:lvl2pPr>
            <a:lvl3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algn="ctr">
              <a:defRPr/>
            </a:lvl4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/>
              <a:t>GRADE</a:t>
            </a:r>
          </a:p>
        </p:txBody>
      </p:sp>
      <p:sp>
        <p:nvSpPr>
          <p:cNvPr id="36" name="Espace réservé du texte 22">
            <a:extLst>
              <a:ext uri="{FF2B5EF4-FFF2-40B4-BE49-F238E27FC236}">
                <a16:creationId xmlns:a16="http://schemas.microsoft.com/office/drawing/2014/main" id="{A6EAC7CD-F8DB-F29A-2F2D-FC53CE6A202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942744" y="3828050"/>
            <a:ext cx="2306512" cy="627767"/>
          </a:xfrm>
        </p:spPr>
        <p:txBody>
          <a:bodyPr/>
          <a:lstStyle>
            <a:lvl1pPr marL="0" indent="0" algn="ctr" rtl="0">
              <a:spcBef>
                <a:spcPts val="0"/>
              </a:spcBef>
              <a:spcAft>
                <a:spcPts val="0"/>
              </a:spcAft>
              <a:buNone/>
              <a:defRPr kumimoji="0" lang="fr-FR" sz="1000" b="0" i="0" u="none" strike="noStrike" kern="1200" cap="none" spc="0" normalizeH="0" baseline="0" dirty="0">
                <a:ln>
                  <a:noFill/>
                </a:ln>
                <a:solidFill>
                  <a:srgbClr val="353637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defRPr>
            </a:lvl1pPr>
            <a:lvl2pPr marL="0" indent="0" algn="ctr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tx2"/>
                </a:solidFill>
              </a:defRPr>
            </a:lvl2pPr>
            <a:lvl3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algn="ctr">
              <a:defRPr/>
            </a:lvl4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/>
              <a:t>Prénom.nom@amitaconseil.com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/>
              <a:t>+33 (0) 6 12 34 56 78</a:t>
            </a:r>
          </a:p>
        </p:txBody>
      </p:sp>
      <p:sp>
        <p:nvSpPr>
          <p:cNvPr id="37" name="Espace réservé pour une image  27">
            <a:extLst>
              <a:ext uri="{FF2B5EF4-FFF2-40B4-BE49-F238E27FC236}">
                <a16:creationId xmlns:a16="http://schemas.microsoft.com/office/drawing/2014/main" id="{54C671B2-E4BB-899F-47E7-0FD66FC415AB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5320498" y="1203492"/>
            <a:ext cx="1560512" cy="1628109"/>
          </a:xfrm>
        </p:spPr>
        <p:txBody>
          <a:bodyPr/>
          <a:lstStyle>
            <a:lvl1pPr rtl="0">
              <a:defRPr/>
            </a:lvl1pPr>
          </a:lstStyle>
          <a:p>
            <a:r>
              <a:rPr lang="fr-FR"/>
              <a:t>Cliquez sur l'icône pour ajouter une image</a:t>
            </a:r>
          </a:p>
        </p:txBody>
      </p:sp>
      <p:sp>
        <p:nvSpPr>
          <p:cNvPr id="38" name="Espace réservé du texte 22">
            <a:extLst>
              <a:ext uri="{FF2B5EF4-FFF2-40B4-BE49-F238E27FC236}">
                <a16:creationId xmlns:a16="http://schemas.microsoft.com/office/drawing/2014/main" id="{372B1A6C-DE96-53D9-9A8B-A3554B85A83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333911" y="2854600"/>
            <a:ext cx="2306512" cy="631283"/>
          </a:xfrm>
        </p:spPr>
        <p:txBody>
          <a:bodyPr anchor="ctr"/>
          <a:lstStyle>
            <a:lvl1pPr marL="0" indent="0" algn="ctr" rtl="0">
              <a:spcBef>
                <a:spcPts val="0"/>
              </a:spcBef>
              <a:spcAft>
                <a:spcPts val="0"/>
              </a:spcAft>
              <a:buNone/>
              <a:defRPr sz="1600" b="1"/>
            </a:lvl1pPr>
            <a:lvl2pPr marL="0" indent="0" algn="ctr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tx2"/>
                </a:solidFill>
              </a:defRPr>
            </a:lvl2pPr>
            <a:lvl3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algn="ctr">
              <a:defRPr/>
            </a:lvl4pPr>
          </a:lstStyle>
          <a:p>
            <a:pPr lvl="0"/>
            <a:r>
              <a:rPr lang="fr-FR"/>
              <a:t>NOM PRENOM</a:t>
            </a:r>
          </a:p>
        </p:txBody>
      </p:sp>
      <p:sp>
        <p:nvSpPr>
          <p:cNvPr id="39" name="Espace réservé du texte 22">
            <a:extLst>
              <a:ext uri="{FF2B5EF4-FFF2-40B4-BE49-F238E27FC236}">
                <a16:creationId xmlns:a16="http://schemas.microsoft.com/office/drawing/2014/main" id="{2C8BC5F1-B79C-A9E8-15B3-D563C87E537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333911" y="3485883"/>
            <a:ext cx="2306512" cy="342167"/>
          </a:xfrm>
        </p:spPr>
        <p:txBody>
          <a:bodyPr/>
          <a:lstStyle>
            <a:lvl1pPr marL="0" indent="0" algn="ctr" rtl="0">
              <a:spcBef>
                <a:spcPts val="0"/>
              </a:spcBef>
              <a:spcAft>
                <a:spcPts val="0"/>
              </a:spcAft>
              <a:buNone/>
              <a:defRPr kumimoji="0" lang="fr-FR" sz="1400" b="1" i="0" u="none" strike="noStrike" kern="1200" cap="none" spc="0" normalizeH="0" baseline="0" dirty="0" smtClean="0">
                <a:ln>
                  <a:noFill/>
                </a:ln>
                <a:solidFill>
                  <a:srgbClr val="43A2B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defRPr>
            </a:lvl1pPr>
            <a:lvl2pPr marL="0" indent="0" algn="ctr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tx2"/>
                </a:solidFill>
              </a:defRPr>
            </a:lvl2pPr>
            <a:lvl3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algn="ctr">
              <a:defRPr/>
            </a:lvl4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/>
              <a:t>GRADE</a:t>
            </a:r>
          </a:p>
        </p:txBody>
      </p:sp>
      <p:sp>
        <p:nvSpPr>
          <p:cNvPr id="40" name="Espace réservé du texte 22">
            <a:extLst>
              <a:ext uri="{FF2B5EF4-FFF2-40B4-BE49-F238E27FC236}">
                <a16:creationId xmlns:a16="http://schemas.microsoft.com/office/drawing/2014/main" id="{E2EA75BB-74DC-4842-9BB2-48D0B73E0A4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333911" y="3828050"/>
            <a:ext cx="2306512" cy="627767"/>
          </a:xfrm>
        </p:spPr>
        <p:txBody>
          <a:bodyPr/>
          <a:lstStyle>
            <a:lvl1pPr marL="0" indent="0" algn="ctr" rtl="0">
              <a:spcBef>
                <a:spcPts val="0"/>
              </a:spcBef>
              <a:spcAft>
                <a:spcPts val="0"/>
              </a:spcAft>
              <a:buNone/>
              <a:defRPr kumimoji="0" lang="fr-FR" sz="1000" b="0" i="0" u="none" strike="noStrike" kern="1200" cap="none" spc="0" normalizeH="0" baseline="0" dirty="0">
                <a:ln>
                  <a:noFill/>
                </a:ln>
                <a:solidFill>
                  <a:srgbClr val="353637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defRPr>
            </a:lvl1pPr>
            <a:lvl2pPr marL="0" indent="0" algn="ctr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tx2"/>
                </a:solidFill>
              </a:defRPr>
            </a:lvl2pPr>
            <a:lvl3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algn="ctr">
              <a:defRPr/>
            </a:lvl4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/>
              <a:t>Prénom.nom@amitaconseil.com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/>
              <a:t>+33 (0) 6 12 34 56 78</a:t>
            </a:r>
          </a:p>
        </p:txBody>
      </p:sp>
      <p:sp>
        <p:nvSpPr>
          <p:cNvPr id="41" name="Espace réservé pour une image  27">
            <a:extLst>
              <a:ext uri="{FF2B5EF4-FFF2-40B4-BE49-F238E27FC236}">
                <a16:creationId xmlns:a16="http://schemas.microsoft.com/office/drawing/2014/main" id="{7C952499-A464-4FAB-658D-BD08D4B2E315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7711665" y="1203492"/>
            <a:ext cx="1560512" cy="1628109"/>
          </a:xfrm>
        </p:spPr>
        <p:txBody>
          <a:bodyPr/>
          <a:lstStyle>
            <a:lvl1pPr rtl="0">
              <a:defRPr/>
            </a:lvl1pPr>
          </a:lstStyle>
          <a:p>
            <a:r>
              <a:rPr lang="fr-FR"/>
              <a:t>Cliquez sur l'icône pour ajouter une image</a:t>
            </a:r>
          </a:p>
        </p:txBody>
      </p:sp>
      <p:sp>
        <p:nvSpPr>
          <p:cNvPr id="42" name="Espace réservé du texte 22">
            <a:extLst>
              <a:ext uri="{FF2B5EF4-FFF2-40B4-BE49-F238E27FC236}">
                <a16:creationId xmlns:a16="http://schemas.microsoft.com/office/drawing/2014/main" id="{05FB3A31-8B0E-76A4-B340-CE70CEF56B2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724855" y="2854600"/>
            <a:ext cx="2306512" cy="631283"/>
          </a:xfrm>
        </p:spPr>
        <p:txBody>
          <a:bodyPr anchor="ctr"/>
          <a:lstStyle>
            <a:lvl1pPr marL="0" indent="0" algn="ctr" rtl="0">
              <a:spcBef>
                <a:spcPts val="0"/>
              </a:spcBef>
              <a:spcAft>
                <a:spcPts val="0"/>
              </a:spcAft>
              <a:buNone/>
              <a:defRPr sz="1600" b="1"/>
            </a:lvl1pPr>
            <a:lvl2pPr marL="0" indent="0" algn="ctr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tx2"/>
                </a:solidFill>
              </a:defRPr>
            </a:lvl2pPr>
            <a:lvl3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algn="ctr">
              <a:defRPr/>
            </a:lvl4pPr>
          </a:lstStyle>
          <a:p>
            <a:pPr lvl="0"/>
            <a:r>
              <a:rPr lang="fr-FR"/>
              <a:t>NOM PRENOM</a:t>
            </a:r>
          </a:p>
        </p:txBody>
      </p:sp>
      <p:sp>
        <p:nvSpPr>
          <p:cNvPr id="43" name="Espace réservé du texte 22">
            <a:extLst>
              <a:ext uri="{FF2B5EF4-FFF2-40B4-BE49-F238E27FC236}">
                <a16:creationId xmlns:a16="http://schemas.microsoft.com/office/drawing/2014/main" id="{3A7CA541-6CC3-5B2B-5137-23CE7AC3383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724855" y="3485883"/>
            <a:ext cx="2306512" cy="342167"/>
          </a:xfrm>
        </p:spPr>
        <p:txBody>
          <a:bodyPr/>
          <a:lstStyle>
            <a:lvl1pPr marL="0" indent="0" algn="ctr" rtl="0">
              <a:spcBef>
                <a:spcPts val="0"/>
              </a:spcBef>
              <a:spcAft>
                <a:spcPts val="0"/>
              </a:spcAft>
              <a:buNone/>
              <a:defRPr kumimoji="0" lang="fr-FR" sz="1400" b="1" i="0" u="none" strike="noStrike" kern="1200" cap="none" spc="0" normalizeH="0" baseline="0" dirty="0" smtClean="0">
                <a:ln>
                  <a:noFill/>
                </a:ln>
                <a:solidFill>
                  <a:srgbClr val="43A2B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defRPr>
            </a:lvl1pPr>
            <a:lvl2pPr marL="0" indent="0" algn="ctr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tx2"/>
                </a:solidFill>
              </a:defRPr>
            </a:lvl2pPr>
            <a:lvl3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algn="ctr">
              <a:defRPr/>
            </a:lvl4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/>
              <a:t>GRADE</a:t>
            </a:r>
          </a:p>
        </p:txBody>
      </p:sp>
      <p:sp>
        <p:nvSpPr>
          <p:cNvPr id="44" name="Espace réservé du texte 22">
            <a:extLst>
              <a:ext uri="{FF2B5EF4-FFF2-40B4-BE49-F238E27FC236}">
                <a16:creationId xmlns:a16="http://schemas.microsoft.com/office/drawing/2014/main" id="{5BB26FB2-E7B0-9BF9-45BF-1AB5DD2A063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724855" y="3828050"/>
            <a:ext cx="2306512" cy="627767"/>
          </a:xfrm>
        </p:spPr>
        <p:txBody>
          <a:bodyPr/>
          <a:lstStyle>
            <a:lvl1pPr marL="0" indent="0" algn="ctr" rtl="0">
              <a:spcBef>
                <a:spcPts val="0"/>
              </a:spcBef>
              <a:spcAft>
                <a:spcPts val="0"/>
              </a:spcAft>
              <a:buNone/>
              <a:defRPr kumimoji="0" lang="fr-FR" sz="1000" b="0" i="0" u="none" strike="noStrike" kern="1200" cap="none" spc="0" normalizeH="0" baseline="0" dirty="0">
                <a:ln>
                  <a:noFill/>
                </a:ln>
                <a:solidFill>
                  <a:srgbClr val="353637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defRPr>
            </a:lvl1pPr>
            <a:lvl2pPr marL="0" indent="0" algn="ctr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tx2"/>
                </a:solidFill>
              </a:defRPr>
            </a:lvl2pPr>
            <a:lvl3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algn="ctr">
              <a:defRPr/>
            </a:lvl4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/>
              <a:t>Prénom.nom@amitaconseil.com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/>
              <a:t>+33 (0) 6 12 34 56 78</a:t>
            </a:r>
          </a:p>
        </p:txBody>
      </p:sp>
      <p:sp>
        <p:nvSpPr>
          <p:cNvPr id="45" name="Espace réservé pour une image  27">
            <a:extLst>
              <a:ext uri="{FF2B5EF4-FFF2-40B4-BE49-F238E27FC236}">
                <a16:creationId xmlns:a16="http://schemas.microsoft.com/office/drawing/2014/main" id="{E87B8E6C-BC45-A6D3-096D-B1798940D4D9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10102609" y="1203492"/>
            <a:ext cx="1560512" cy="1628109"/>
          </a:xfrm>
        </p:spPr>
        <p:txBody>
          <a:bodyPr/>
          <a:lstStyle>
            <a:lvl1pPr rtl="0">
              <a:defRPr/>
            </a:lvl1pPr>
          </a:lstStyle>
          <a:p>
            <a:r>
              <a:rPr lang="fr-FR"/>
              <a:t>Cliquez sur l'icône pour ajouter une image</a:t>
            </a:r>
          </a:p>
        </p:txBody>
      </p:sp>
      <p:sp>
        <p:nvSpPr>
          <p:cNvPr id="51" name="Espace réservé du pied de page 50">
            <a:extLst>
              <a:ext uri="{FF2B5EF4-FFF2-40B4-BE49-F238E27FC236}">
                <a16:creationId xmlns:a16="http://schemas.microsoft.com/office/drawing/2014/main" id="{2BB51DBB-F4DD-F2BF-774A-D3D25DA76D52}"/>
              </a:ext>
            </a:extLst>
          </p:cNvPr>
          <p:cNvSpPr>
            <a:spLocks noGrp="1"/>
          </p:cNvSpPr>
          <p:nvPr>
            <p:ph type="ftr" sz="quarter" idx="31"/>
          </p:nvPr>
        </p:nvSpPr>
        <p:spPr>
          <a:xfrm>
            <a:off x="1920021" y="6340475"/>
            <a:ext cx="8351958" cy="365125"/>
          </a:xfrm>
        </p:spPr>
        <p:txBody>
          <a:bodyPr/>
          <a:lstStyle>
            <a:lvl1pPr algn="ctr" rtl="0">
              <a:defRPr/>
            </a:lvl1pPr>
          </a:lstStyle>
          <a:p>
            <a:r>
              <a:rPr lang="fr-FR"/>
              <a:t>AMITA CONSEIL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6A8C689-FE8E-03D2-D8C2-6C480215F59A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>
          <a:xfrm>
            <a:off x="380995" y="6340475"/>
            <a:ext cx="362086" cy="360001"/>
          </a:xfrm>
        </p:spPr>
        <p:txBody>
          <a:bodyPr vert="horz" lIns="91440" tIns="45720" rIns="91440" bIns="45720" rtlCol="0" anchor="ctr"/>
          <a:lstStyle>
            <a:lvl1pPr rtl="0">
              <a:defRPr lang="fr-FR" smtClean="0"/>
            </a:lvl1pPr>
          </a:lstStyle>
          <a:p>
            <a:fld id="{BD9892E7-E91F-405F-A6AB-FE5AB3285265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5" name="Text Placeholder 16">
            <a:extLst>
              <a:ext uri="{FF2B5EF4-FFF2-40B4-BE49-F238E27FC236}">
                <a16:creationId xmlns:a16="http://schemas.microsoft.com/office/drawing/2014/main" id="{725D12BC-F052-8411-1AF2-EA3837DBFB46}"/>
              </a:ext>
            </a:extLst>
          </p:cNvPr>
          <p:cNvSpPr txBox="1">
            <a:spLocks/>
          </p:cNvSpPr>
          <p:nvPr/>
        </p:nvSpPr>
        <p:spPr>
          <a:xfrm>
            <a:off x="5334375" y="5754279"/>
            <a:ext cx="1568745" cy="555626"/>
          </a:xfrm>
          <a:prstGeom prst="rect">
            <a:avLst/>
          </a:prstGeom>
          <a:ln>
            <a:noFill/>
          </a:ln>
        </p:spPr>
        <p:txBody>
          <a:bodyPr lIns="90000" tIns="46800" rIns="90000" bIns="46800" anchor="t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78940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57879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436819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915758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394698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873637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352576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831516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rtl="0"/>
            <a:r>
              <a:rPr lang="fr-FR" sz="900" b="1">
                <a:solidFill>
                  <a:schemeClr val="bg1">
                    <a:lumMod val="50000"/>
                  </a:schemeClr>
                </a:solidFill>
                <a:latin typeface="+mn-lt"/>
              </a:rPr>
              <a:t>NIORT</a:t>
            </a:r>
          </a:p>
          <a:p>
            <a:pPr rtl="0"/>
            <a:r>
              <a:rPr lang="fr-FR" sz="900">
                <a:solidFill>
                  <a:schemeClr val="bg1">
                    <a:lumMod val="50000"/>
                  </a:schemeClr>
                </a:solidFill>
                <a:latin typeface="+mn-lt"/>
              </a:rPr>
              <a:t>103 Avenue de Paris</a:t>
            </a:r>
          </a:p>
          <a:p>
            <a:pPr rtl="0"/>
            <a:r>
              <a:rPr lang="fr-FR" sz="900">
                <a:solidFill>
                  <a:schemeClr val="bg1">
                    <a:lumMod val="50000"/>
                  </a:schemeClr>
                </a:solidFill>
                <a:latin typeface="+mn-lt"/>
              </a:rPr>
              <a:t>79000 Niort</a:t>
            </a:r>
          </a:p>
        </p:txBody>
      </p:sp>
      <p:sp>
        <p:nvSpPr>
          <p:cNvPr id="15" name="Text Placeholder 16">
            <a:extLst>
              <a:ext uri="{FF2B5EF4-FFF2-40B4-BE49-F238E27FC236}">
                <a16:creationId xmlns:a16="http://schemas.microsoft.com/office/drawing/2014/main" id="{2291CCAE-FFC5-414F-E449-E46E9E9C6E50}"/>
              </a:ext>
            </a:extLst>
          </p:cNvPr>
          <p:cNvSpPr txBox="1">
            <a:spLocks/>
          </p:cNvSpPr>
          <p:nvPr/>
        </p:nvSpPr>
        <p:spPr>
          <a:xfrm>
            <a:off x="6910244" y="5754279"/>
            <a:ext cx="1568745" cy="555626"/>
          </a:xfrm>
          <a:prstGeom prst="rect">
            <a:avLst/>
          </a:prstGeom>
          <a:ln>
            <a:noFill/>
          </a:ln>
        </p:spPr>
        <p:txBody>
          <a:bodyPr lIns="90000" tIns="46800" rIns="90000" bIns="46800" anchor="t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78940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57879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436819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915758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394698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873637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352576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831516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rtl="0"/>
            <a:r>
              <a:rPr lang="fr-FR" sz="900" b="1">
                <a:solidFill>
                  <a:schemeClr val="bg1">
                    <a:lumMod val="50000"/>
                  </a:schemeClr>
                </a:solidFill>
                <a:latin typeface="+mn-lt"/>
              </a:rPr>
              <a:t>NANTES</a:t>
            </a:r>
          </a:p>
          <a:p>
            <a:pPr rtl="0"/>
            <a:r>
              <a:rPr lang="fr-FR" sz="900">
                <a:solidFill>
                  <a:schemeClr val="bg1">
                    <a:lumMod val="50000"/>
                  </a:schemeClr>
                </a:solidFill>
                <a:latin typeface="+mn-lt"/>
              </a:rPr>
              <a:t>17 Boulevard de Berlin</a:t>
            </a:r>
          </a:p>
          <a:p>
            <a:pPr rtl="0"/>
            <a:r>
              <a:rPr lang="fr-FR" sz="900">
                <a:solidFill>
                  <a:schemeClr val="bg1">
                    <a:lumMod val="50000"/>
                  </a:schemeClr>
                </a:solidFill>
                <a:latin typeface="+mn-lt"/>
              </a:rPr>
              <a:t>44000 Nantes</a:t>
            </a:r>
          </a:p>
        </p:txBody>
      </p:sp>
      <p:sp>
        <p:nvSpPr>
          <p:cNvPr id="17" name="Espace réservé de la date 10">
            <a:extLst>
              <a:ext uri="{FF2B5EF4-FFF2-40B4-BE49-F238E27FC236}">
                <a16:creationId xmlns:a16="http://schemas.microsoft.com/office/drawing/2014/main" id="{C7F826E3-2192-51E8-5AB6-6F6EC9785A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43081" y="6340475"/>
            <a:ext cx="117694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l" defTabSz="914400" rtl="0" eaLnBrk="1" latinLnBrk="0" hangingPunct="1">
              <a:defRPr lang="fr-FR" sz="700" kern="1200" cap="all" baseline="0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fld id="{80AF42E2-021C-4F41-8104-619F63EC6722}" type="datetime1">
              <a:rPr lang="fr-FR" smtClean="0"/>
              <a:t>27/03/2025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298596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ot de la f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t 5" hidden="1">
            <a:extLst>
              <a:ext uri="{FF2B5EF4-FFF2-40B4-BE49-F238E27FC236}">
                <a16:creationId xmlns:a16="http://schemas.microsoft.com/office/drawing/2014/main" id="{96B5FBC2-58AC-2FAF-7D78-BF6E106ED01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0068549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3" imgW="359" imgH="360" progId="TCLayout.ActiveDocument.1">
                  <p:embed/>
                </p:oleObj>
              </mc:Choice>
              <mc:Fallback>
                <p:oleObj name="Diapositive think-cell" r:id="rId3" imgW="359" imgH="360" progId="TCLayout.ActiveDocument.1">
                  <p:embed/>
                  <p:pic>
                    <p:nvPicPr>
                      <p:cNvPr id="6" name="Objet 5" hidden="1">
                        <a:extLst>
                          <a:ext uri="{FF2B5EF4-FFF2-40B4-BE49-F238E27FC236}">
                            <a16:creationId xmlns:a16="http://schemas.microsoft.com/office/drawing/2014/main" id="{96B5FBC2-58AC-2FAF-7D78-BF6E106ED0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8B4917B4-5954-0D76-BAA0-1A3698D526F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/>
          </a:p>
        </p:txBody>
      </p:sp>
      <p:pic>
        <p:nvPicPr>
          <p:cNvPr id="11" name="Graphique 10">
            <a:extLst>
              <a:ext uri="{FF2B5EF4-FFF2-40B4-BE49-F238E27FC236}">
                <a16:creationId xmlns:a16="http://schemas.microsoft.com/office/drawing/2014/main" id="{0DF46767-FF2E-A311-5FC8-FC3CCA8535E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r="3370"/>
          <a:stretch/>
        </p:blipFill>
        <p:spPr>
          <a:xfrm>
            <a:off x="0" y="846925"/>
            <a:ext cx="12192000" cy="5676112"/>
          </a:xfrm>
          <a:prstGeom prst="rect">
            <a:avLst/>
          </a:prstGeom>
        </p:spPr>
      </p:pic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66D93F71-C400-BDD2-7DE6-C958FFFC38C7}"/>
              </a:ext>
            </a:extLst>
          </p:cNvPr>
          <p:cNvSpPr txBox="1">
            <a:spLocks/>
          </p:cNvSpPr>
          <p:nvPr/>
        </p:nvSpPr>
        <p:spPr>
          <a:xfrm>
            <a:off x="986193" y="5253383"/>
            <a:ext cx="3408898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ctr" defTabSz="914400" rtl="0" eaLnBrk="1" latinLnBrk="0" hangingPunct="1">
              <a:defRPr kumimoji="0" lang="fr-FR" sz="900" b="0" i="0" u="none" strike="noStrike" kern="1200" cap="none" spc="0" normalizeH="0" baseline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/>
            <a:r>
              <a:rPr lang="fr-FR" sz="850" b="1">
                <a:solidFill>
                  <a:srgbClr val="353637"/>
                </a:solidFill>
                <a:latin typeface="Now" panose="00000800000000000000" pitchFamily="50" charset="0"/>
              </a:rPr>
              <a:t>CABINET DE CONSEIL EN TRANSFORMATION</a:t>
            </a:r>
          </a:p>
          <a:p>
            <a:pPr rtl="0"/>
            <a:r>
              <a:rPr lang="fr-FR" sz="700" b="1">
                <a:solidFill>
                  <a:srgbClr val="43A2BF"/>
                </a:solidFill>
                <a:latin typeface="Now" panose="00000800000000000000" pitchFamily="50" charset="0"/>
              </a:rPr>
              <a:t>PARIS – NANTES - NIORT</a:t>
            </a:r>
          </a:p>
        </p:txBody>
      </p:sp>
      <p:sp>
        <p:nvSpPr>
          <p:cNvPr id="4" name="Titre 2">
            <a:extLst>
              <a:ext uri="{FF2B5EF4-FFF2-40B4-BE49-F238E27FC236}">
                <a16:creationId xmlns:a16="http://schemas.microsoft.com/office/drawing/2014/main" id="{1DFA8C9F-5730-AE6C-7035-33A8BDB25715}"/>
              </a:ext>
            </a:extLst>
          </p:cNvPr>
          <p:cNvSpPr txBox="1">
            <a:spLocks/>
          </p:cNvSpPr>
          <p:nvPr/>
        </p:nvSpPr>
        <p:spPr bwMode="auto">
          <a:xfrm>
            <a:off x="452123" y="5754279"/>
            <a:ext cx="1391963" cy="2678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78940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57879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436819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915758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394698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873637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352576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831516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rtl="0">
              <a:lnSpc>
                <a:spcPct val="90000"/>
              </a:lnSpc>
            </a:pPr>
            <a:r>
              <a:rPr lang="fr-FR" sz="900">
                <a:solidFill>
                  <a:schemeClr val="tx2"/>
                </a:solidFill>
                <a:latin typeface="+mn-lt"/>
                <a:ea typeface="+mj-ea"/>
                <a:cs typeface="+mj-cs"/>
              </a:rPr>
              <a:t>Mentions légales</a:t>
            </a:r>
          </a:p>
        </p:txBody>
      </p:sp>
      <p:sp>
        <p:nvSpPr>
          <p:cNvPr id="5" name="Text Placeholder 16">
            <a:extLst>
              <a:ext uri="{FF2B5EF4-FFF2-40B4-BE49-F238E27FC236}">
                <a16:creationId xmlns:a16="http://schemas.microsoft.com/office/drawing/2014/main" id="{296D9A24-28BA-F170-CE5D-7A98005351F0}"/>
              </a:ext>
            </a:extLst>
          </p:cNvPr>
          <p:cNvSpPr txBox="1">
            <a:spLocks/>
          </p:cNvSpPr>
          <p:nvPr/>
        </p:nvSpPr>
        <p:spPr>
          <a:xfrm>
            <a:off x="1844086" y="5754279"/>
            <a:ext cx="1847062" cy="555626"/>
          </a:xfrm>
          <a:prstGeom prst="rect">
            <a:avLst/>
          </a:prstGeom>
          <a:ln>
            <a:noFill/>
          </a:ln>
        </p:spPr>
        <p:txBody>
          <a:bodyPr lIns="90000" tIns="46800" rIns="90000" bIns="46800" anchor="t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78940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57879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436819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915758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394698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873637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352576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831516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rtl="0"/>
            <a:r>
              <a:rPr lang="fr-FR" sz="900">
                <a:solidFill>
                  <a:schemeClr val="bg1">
                    <a:lumMod val="50000"/>
                  </a:schemeClr>
                </a:solidFill>
                <a:latin typeface="+mn-lt"/>
              </a:rPr>
              <a:t>RCS Paris 844 224 881</a:t>
            </a:r>
          </a:p>
          <a:p>
            <a:pPr rtl="0"/>
            <a:r>
              <a:rPr lang="fr-FR" sz="900">
                <a:solidFill>
                  <a:schemeClr val="bg1">
                    <a:lumMod val="50000"/>
                  </a:schemeClr>
                </a:solidFill>
                <a:latin typeface="+mn-lt"/>
              </a:rPr>
              <a:t>APE 7022 Z</a:t>
            </a:r>
          </a:p>
          <a:p>
            <a:pPr rtl="0"/>
            <a:r>
              <a:rPr lang="fr-FR" sz="900">
                <a:solidFill>
                  <a:schemeClr val="bg1">
                    <a:lumMod val="50000"/>
                  </a:schemeClr>
                </a:solidFill>
                <a:latin typeface="+mn-lt"/>
              </a:rPr>
              <a:t>SAS au capital de 100 000 €</a:t>
            </a:r>
          </a:p>
        </p:txBody>
      </p:sp>
      <p:sp>
        <p:nvSpPr>
          <p:cNvPr id="8" name="Titre 7">
            <a:extLst>
              <a:ext uri="{FF2B5EF4-FFF2-40B4-BE49-F238E27FC236}">
                <a16:creationId xmlns:a16="http://schemas.microsoft.com/office/drawing/2014/main" id="{4F19F6FB-6C20-D474-9918-2BEDD82DC9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998" y="2473965"/>
            <a:ext cx="11430002" cy="694800"/>
          </a:xfrm>
        </p:spPr>
        <p:txBody>
          <a:bodyPr vert="horz"/>
          <a:lstStyle>
            <a:lvl1pPr marL="0" algn="ctr" defTabSz="914400" rtl="0" eaLnBrk="1" latinLnBrk="0" hangingPunct="1">
              <a:defRPr lang="fr-FR" sz="20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9" name="Espace réservé du pied de page 50">
            <a:extLst>
              <a:ext uri="{FF2B5EF4-FFF2-40B4-BE49-F238E27FC236}">
                <a16:creationId xmlns:a16="http://schemas.microsoft.com/office/drawing/2014/main" id="{733E0ACB-D5D5-59BF-42BE-573460770651}"/>
              </a:ext>
            </a:extLst>
          </p:cNvPr>
          <p:cNvSpPr>
            <a:spLocks noGrp="1"/>
          </p:cNvSpPr>
          <p:nvPr>
            <p:ph type="ftr" sz="quarter" idx="31"/>
          </p:nvPr>
        </p:nvSpPr>
        <p:spPr>
          <a:xfrm>
            <a:off x="1920021" y="6340475"/>
            <a:ext cx="8351958" cy="365125"/>
          </a:xfrm>
        </p:spPr>
        <p:txBody>
          <a:bodyPr/>
          <a:lstStyle>
            <a:lvl1pPr algn="ctr" rtl="0">
              <a:defRPr/>
            </a:lvl1pPr>
          </a:lstStyle>
          <a:p>
            <a:r>
              <a:rPr lang="fr-FR"/>
              <a:t>AMITA CONSEIL</a:t>
            </a:r>
          </a:p>
        </p:txBody>
      </p:sp>
      <p:sp>
        <p:nvSpPr>
          <p:cNvPr id="14" name="Text Placeholder 16">
            <a:extLst>
              <a:ext uri="{FF2B5EF4-FFF2-40B4-BE49-F238E27FC236}">
                <a16:creationId xmlns:a16="http://schemas.microsoft.com/office/drawing/2014/main" id="{4015D164-67AF-110B-1EB8-478D066B7517}"/>
              </a:ext>
            </a:extLst>
          </p:cNvPr>
          <p:cNvSpPr txBox="1">
            <a:spLocks/>
          </p:cNvSpPr>
          <p:nvPr/>
        </p:nvSpPr>
        <p:spPr>
          <a:xfrm>
            <a:off x="3758507" y="5754279"/>
            <a:ext cx="1568745" cy="555626"/>
          </a:xfrm>
          <a:prstGeom prst="rect">
            <a:avLst/>
          </a:prstGeom>
          <a:ln>
            <a:noFill/>
          </a:ln>
        </p:spPr>
        <p:txBody>
          <a:bodyPr lIns="90000" tIns="46800" rIns="90000" bIns="46800" anchor="t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78940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57879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436819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915758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394698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873637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352576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831516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rtl="0"/>
            <a:r>
              <a:rPr lang="fr-FR" sz="900" b="1">
                <a:solidFill>
                  <a:schemeClr val="bg1">
                    <a:lumMod val="50000"/>
                  </a:schemeClr>
                </a:solidFill>
                <a:latin typeface="+mn-lt"/>
              </a:rPr>
              <a:t>PARIS</a:t>
            </a:r>
          </a:p>
          <a:p>
            <a:pPr rtl="0"/>
            <a:r>
              <a:rPr lang="fr-FR" sz="900">
                <a:solidFill>
                  <a:schemeClr val="bg1">
                    <a:lumMod val="50000"/>
                  </a:schemeClr>
                </a:solidFill>
                <a:latin typeface="+mn-lt"/>
              </a:rPr>
              <a:t>16 Rue Auber</a:t>
            </a:r>
          </a:p>
          <a:p>
            <a:pPr rtl="0"/>
            <a:r>
              <a:rPr lang="fr-FR" sz="900">
                <a:solidFill>
                  <a:schemeClr val="bg1">
                    <a:lumMod val="50000"/>
                  </a:schemeClr>
                </a:solidFill>
                <a:latin typeface="+mn-lt"/>
              </a:rPr>
              <a:t>75009 Paris</a:t>
            </a:r>
          </a:p>
        </p:txBody>
      </p:sp>
      <p:sp>
        <p:nvSpPr>
          <p:cNvPr id="15" name="Text Placeholder 16">
            <a:extLst>
              <a:ext uri="{FF2B5EF4-FFF2-40B4-BE49-F238E27FC236}">
                <a16:creationId xmlns:a16="http://schemas.microsoft.com/office/drawing/2014/main" id="{B8ADC259-7B80-9FBE-FD57-958EB94EE659}"/>
              </a:ext>
            </a:extLst>
          </p:cNvPr>
          <p:cNvSpPr txBox="1">
            <a:spLocks/>
          </p:cNvSpPr>
          <p:nvPr/>
        </p:nvSpPr>
        <p:spPr>
          <a:xfrm>
            <a:off x="5334375" y="5754279"/>
            <a:ext cx="1568745" cy="555626"/>
          </a:xfrm>
          <a:prstGeom prst="rect">
            <a:avLst/>
          </a:prstGeom>
          <a:ln>
            <a:noFill/>
          </a:ln>
        </p:spPr>
        <p:txBody>
          <a:bodyPr lIns="90000" tIns="46800" rIns="90000" bIns="46800" anchor="t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78940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57879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436819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915758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394698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873637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352576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831516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rtl="0"/>
            <a:r>
              <a:rPr lang="fr-FR" sz="900" b="1">
                <a:solidFill>
                  <a:schemeClr val="bg1">
                    <a:lumMod val="50000"/>
                  </a:schemeClr>
                </a:solidFill>
                <a:latin typeface="+mn-lt"/>
              </a:rPr>
              <a:t>NIORT</a:t>
            </a:r>
          </a:p>
          <a:p>
            <a:pPr rtl="0"/>
            <a:r>
              <a:rPr lang="fr-FR" sz="900">
                <a:solidFill>
                  <a:schemeClr val="bg1">
                    <a:lumMod val="50000"/>
                  </a:schemeClr>
                </a:solidFill>
                <a:latin typeface="+mn-lt"/>
              </a:rPr>
              <a:t>103 Avenue de Paris</a:t>
            </a:r>
          </a:p>
          <a:p>
            <a:pPr rtl="0"/>
            <a:r>
              <a:rPr lang="fr-FR" sz="900">
                <a:solidFill>
                  <a:schemeClr val="bg1">
                    <a:lumMod val="50000"/>
                  </a:schemeClr>
                </a:solidFill>
                <a:latin typeface="+mn-lt"/>
              </a:rPr>
              <a:t>79000 Niort</a:t>
            </a:r>
          </a:p>
        </p:txBody>
      </p:sp>
      <p:sp>
        <p:nvSpPr>
          <p:cNvPr id="16" name="Text Placeholder 16">
            <a:extLst>
              <a:ext uri="{FF2B5EF4-FFF2-40B4-BE49-F238E27FC236}">
                <a16:creationId xmlns:a16="http://schemas.microsoft.com/office/drawing/2014/main" id="{E0C088F5-249F-102E-09F8-5FB90B2D71BA}"/>
              </a:ext>
            </a:extLst>
          </p:cNvPr>
          <p:cNvSpPr txBox="1">
            <a:spLocks/>
          </p:cNvSpPr>
          <p:nvPr/>
        </p:nvSpPr>
        <p:spPr>
          <a:xfrm>
            <a:off x="6910244" y="5754279"/>
            <a:ext cx="1568745" cy="555626"/>
          </a:xfrm>
          <a:prstGeom prst="rect">
            <a:avLst/>
          </a:prstGeom>
          <a:ln>
            <a:noFill/>
          </a:ln>
        </p:spPr>
        <p:txBody>
          <a:bodyPr lIns="90000" tIns="46800" rIns="90000" bIns="46800" anchor="t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78940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57879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436819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915758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394698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873637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352576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831516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rtl="0"/>
            <a:r>
              <a:rPr lang="fr-FR" sz="900" b="1">
                <a:solidFill>
                  <a:schemeClr val="bg1">
                    <a:lumMod val="50000"/>
                  </a:schemeClr>
                </a:solidFill>
                <a:latin typeface="+mn-lt"/>
              </a:rPr>
              <a:t>NANTES</a:t>
            </a:r>
          </a:p>
          <a:p>
            <a:pPr rtl="0"/>
            <a:r>
              <a:rPr lang="fr-FR" sz="900">
                <a:solidFill>
                  <a:schemeClr val="bg1">
                    <a:lumMod val="50000"/>
                  </a:schemeClr>
                </a:solidFill>
                <a:latin typeface="+mn-lt"/>
              </a:rPr>
              <a:t>17 Boulevard de Berlin</a:t>
            </a:r>
          </a:p>
          <a:p>
            <a:pPr rtl="0"/>
            <a:r>
              <a:rPr lang="fr-FR" sz="900">
                <a:solidFill>
                  <a:schemeClr val="bg1">
                    <a:lumMod val="50000"/>
                  </a:schemeClr>
                </a:solidFill>
                <a:latin typeface="+mn-lt"/>
              </a:rPr>
              <a:t>44000 Nantes</a:t>
            </a:r>
          </a:p>
        </p:txBody>
      </p:sp>
      <p:sp>
        <p:nvSpPr>
          <p:cNvPr id="17" name="Espace réservé du numéro de diapositive 3">
            <a:extLst>
              <a:ext uri="{FF2B5EF4-FFF2-40B4-BE49-F238E27FC236}">
                <a16:creationId xmlns:a16="http://schemas.microsoft.com/office/drawing/2014/main" id="{9E4CC770-9A02-5703-AA66-43EAB8B3510C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>
          <a:xfrm>
            <a:off x="380995" y="6340475"/>
            <a:ext cx="362086" cy="360001"/>
          </a:xfrm>
        </p:spPr>
        <p:txBody>
          <a:bodyPr vert="horz" lIns="91440" tIns="45720" rIns="91440" bIns="45720" rtlCol="0" anchor="ctr"/>
          <a:lstStyle>
            <a:lvl1pPr rtl="0">
              <a:defRPr lang="fr-FR" smtClean="0"/>
            </a:lvl1pPr>
          </a:lstStyle>
          <a:p>
            <a:fld id="{BD9892E7-E91F-405F-A6AB-FE5AB3285265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9" name="Espace réservé de la date 10">
            <a:extLst>
              <a:ext uri="{FF2B5EF4-FFF2-40B4-BE49-F238E27FC236}">
                <a16:creationId xmlns:a16="http://schemas.microsoft.com/office/drawing/2014/main" id="{1F098B08-9DB9-0E9F-0651-539F4FE4C7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43081" y="6340475"/>
            <a:ext cx="117694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l" defTabSz="914400" rtl="0" eaLnBrk="1" latinLnBrk="0" hangingPunct="1">
              <a:defRPr lang="fr-FR" sz="700" kern="1200" cap="all" baseline="0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fld id="{C3A00B2B-991D-40B7-9911-432FF4699D27}" type="datetime1">
              <a:rPr lang="fr-FR" smtClean="0"/>
              <a:t>27/03/2025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289274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oleObject" Target="../embeddings/oleObject1.bin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ags" Target="../tags/tag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3.sv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t 8" hidden="1">
            <a:extLst>
              <a:ext uri="{FF2B5EF4-FFF2-40B4-BE49-F238E27FC236}">
                <a16:creationId xmlns:a16="http://schemas.microsoft.com/office/drawing/2014/main" id="{B068B94B-670C-F133-CB86-3E259DD20AD6}"/>
              </a:ext>
            </a:extLst>
          </p:cNvPr>
          <p:cNvGraphicFramePr>
            <a:graphicFrameLocks noChangeAspect="1"/>
          </p:cNvGraphicFramePr>
          <p:nvPr>
            <p:custDataLst>
              <p:tags r:id="rId20"/>
            </p:custDataLst>
            <p:extLst>
              <p:ext uri="{D42A27DB-BD31-4B8C-83A1-F6EECF244321}">
                <p14:modId xmlns:p14="http://schemas.microsoft.com/office/powerpoint/2010/main" val="349921880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21" imgW="359" imgH="360" progId="TCLayout.ActiveDocument.1">
                  <p:embed/>
                </p:oleObj>
              </mc:Choice>
              <mc:Fallback>
                <p:oleObj name="Diapositive think-cell" r:id="rId21" imgW="359" imgH="360" progId="TCLayout.ActiveDocument.1">
                  <p:embed/>
                  <p:pic>
                    <p:nvPicPr>
                      <p:cNvPr id="9" name="Objet 8" hidden="1">
                        <a:extLst>
                          <a:ext uri="{FF2B5EF4-FFF2-40B4-BE49-F238E27FC236}">
                            <a16:creationId xmlns:a16="http://schemas.microsoft.com/office/drawing/2014/main" id="{B068B94B-670C-F133-CB86-3E259DD20AD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D2AD48E1-B2D6-0FB1-1BBC-D92CA4BA4F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998" y="485693"/>
            <a:ext cx="11430002" cy="6948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fr-FR"/>
              <a:t>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0ECA95B-165B-9DA2-D8F5-BC9BCA12C9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0997" y="1983600"/>
            <a:ext cx="11430003" cy="4194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  <a:p>
            <a:pPr lvl="5"/>
            <a:r>
              <a:rPr lang="fr-FR"/>
              <a:t>Sixième niveau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DA6FC88-E0F2-E7D8-A6EE-622B5540EF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70426" y="6340475"/>
            <a:ext cx="76690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l" defTabSz="914400" rtl="0" eaLnBrk="1" latinLnBrk="0" hangingPunct="1">
              <a:defRPr lang="fr-FR" sz="700" kern="1200" cap="all" baseline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FR"/>
              <a:t>AMITA CONSEIL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165DD3F-8A0A-C37D-6F0C-0CD7DA21FA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80997" y="6340475"/>
            <a:ext cx="36208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r" defTabSz="914400" rtl="0" eaLnBrk="1" latinLnBrk="0" hangingPunct="1">
              <a:defRPr kumimoji="0" lang="fr-FR" sz="700" b="0" i="0" u="none" strike="noStrike" kern="1200" cap="none" spc="0" normalizeH="0" baseline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</a:lstStyle>
          <a:p>
            <a:fld id="{BD9892E7-E91F-405F-A6AB-FE5AB3285265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61775F55-D649-105E-BB88-44CDE1F10776}"/>
              </a:ext>
            </a:extLst>
          </p:cNvPr>
          <p:cNvSpPr txBox="1"/>
          <p:nvPr/>
        </p:nvSpPr>
        <p:spPr>
          <a:xfrm>
            <a:off x="9239464" y="6340476"/>
            <a:ext cx="1382110" cy="365124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pPr algn="ctr" rtl="0"/>
            <a:r>
              <a:rPr lang="fr-FR" sz="700">
                <a:solidFill>
                  <a:schemeClr val="bg1">
                    <a:lumMod val="50000"/>
                  </a:schemeClr>
                </a:solidFill>
                <a:latin typeface="+mn-lt"/>
              </a:rPr>
              <a:t>DOCUMENT CONFIDENTIEL</a:t>
            </a:r>
          </a:p>
        </p:txBody>
      </p:sp>
      <p:pic>
        <p:nvPicPr>
          <p:cNvPr id="10" name="Espace réservé du contenu 19">
            <a:extLst>
              <a:ext uri="{FF2B5EF4-FFF2-40B4-BE49-F238E27FC236}">
                <a16:creationId xmlns:a16="http://schemas.microsoft.com/office/drawing/2014/main" id="{21E15E84-437F-13B1-07E8-D06B251E45C1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rcRect/>
          <a:stretch/>
        </p:blipFill>
        <p:spPr>
          <a:xfrm>
            <a:off x="10570881" y="6251120"/>
            <a:ext cx="1346895" cy="605929"/>
          </a:xfrm>
          <a:prstGeom prst="rect">
            <a:avLst/>
          </a:prstGeom>
        </p:spPr>
      </p:pic>
      <p:sp>
        <p:nvSpPr>
          <p:cNvPr id="7" name="Triangle isocèle 6">
            <a:extLst>
              <a:ext uri="{FF2B5EF4-FFF2-40B4-BE49-F238E27FC236}">
                <a16:creationId xmlns:a16="http://schemas.microsoft.com/office/drawing/2014/main" id="{89A10469-81FC-EB5E-ED6E-7AE4FBED36E8}"/>
              </a:ext>
            </a:extLst>
          </p:cNvPr>
          <p:cNvSpPr/>
          <p:nvPr/>
        </p:nvSpPr>
        <p:spPr>
          <a:xfrm rot="15131171">
            <a:off x="75423" y="142623"/>
            <a:ext cx="378055" cy="325910"/>
          </a:xfrm>
          <a:prstGeom prst="triangle">
            <a:avLst/>
          </a:prstGeom>
          <a:solidFill>
            <a:srgbClr val="1AC9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sz="1400">
              <a:solidFill>
                <a:schemeClr val="tx1"/>
              </a:solidFill>
            </a:endParaRPr>
          </a:p>
        </p:txBody>
      </p:sp>
      <p:sp>
        <p:nvSpPr>
          <p:cNvPr id="11" name="Espace réservé de la date 10">
            <a:extLst>
              <a:ext uri="{FF2B5EF4-FFF2-40B4-BE49-F238E27FC236}">
                <a16:creationId xmlns:a16="http://schemas.microsoft.com/office/drawing/2014/main" id="{0C7D9D68-6C57-3DD6-C000-3F9EEBEA03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43081" y="6340475"/>
            <a:ext cx="827345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l" defTabSz="914400" rtl="0" eaLnBrk="1" latinLnBrk="0" hangingPunct="1">
              <a:defRPr lang="fr-FR" sz="700" kern="1200" cap="all" baseline="0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fld id="{99CA19EF-D4BE-4F92-9509-E047DF919FAE}" type="datetime1">
              <a:rPr lang="fr-FR" smtClean="0"/>
              <a:t>27/03/2025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007970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9" r:id="rId1"/>
    <p:sldLayoutId id="2147483760" r:id="rId2"/>
    <p:sldLayoutId id="2147483761" r:id="rId3"/>
    <p:sldLayoutId id="2147483762" r:id="rId4"/>
    <p:sldLayoutId id="2147483763" r:id="rId5"/>
    <p:sldLayoutId id="2147483764" r:id="rId6"/>
    <p:sldLayoutId id="2147483765" r:id="rId7"/>
    <p:sldLayoutId id="2147483766" r:id="rId8"/>
    <p:sldLayoutId id="2147483767" r:id="rId9"/>
    <p:sldLayoutId id="2147483768" r:id="rId10"/>
    <p:sldLayoutId id="2147483769" r:id="rId11"/>
    <p:sldLayoutId id="2147483770" r:id="rId12"/>
    <p:sldLayoutId id="2147483771" r:id="rId13"/>
    <p:sldLayoutId id="2147483772" r:id="rId14"/>
    <p:sldLayoutId id="2147483773" r:id="rId15"/>
    <p:sldLayoutId id="2147483774" r:id="rId16"/>
    <p:sldLayoutId id="2147483775" r:id="rId17"/>
    <p:sldLayoutId id="2147483776" r:id="rId18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lang="fr-FR" sz="2400" kern="1200" cap="all" baseline="0" dirty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914400" rtl="0" eaLnBrk="1" latinLnBrk="0" hangingPunct="1">
        <a:lnSpc>
          <a:spcPct val="100000"/>
        </a:lnSpc>
        <a:spcBef>
          <a:spcPts val="600"/>
        </a:spcBef>
        <a:spcAft>
          <a:spcPts val="400"/>
        </a:spcAft>
        <a:buClr>
          <a:schemeClr val="tx2"/>
        </a:buClr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541338" indent="-228600" algn="l" defTabSz="914400" rtl="0" eaLnBrk="1" latinLnBrk="0" hangingPunct="1">
        <a:lnSpc>
          <a:spcPct val="100000"/>
        </a:lnSpc>
        <a:spcBef>
          <a:spcPts val="600"/>
        </a:spcBef>
        <a:spcAft>
          <a:spcPts val="400"/>
        </a:spcAft>
        <a:buClr>
          <a:schemeClr val="tx2"/>
        </a:buClr>
        <a:buSzPct val="110000"/>
        <a:buFont typeface="Arial" panose="020B0604020202020204" pitchFamily="34" charset="0"/>
        <a:buChar char="•"/>
        <a:defRPr lang="fr-FR" sz="1100" b="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896938" indent="-228600" algn="l" defTabSz="914400" rtl="0" eaLnBrk="1" latinLnBrk="0" hangingPunct="1">
        <a:lnSpc>
          <a:spcPct val="100000"/>
        </a:lnSpc>
        <a:spcBef>
          <a:spcPts val="600"/>
        </a:spcBef>
        <a:spcAft>
          <a:spcPts val="400"/>
        </a:spcAft>
        <a:buClr>
          <a:schemeClr val="tx2"/>
        </a:buClr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3pPr>
      <a:lvl4pPr marL="1162050" indent="-228600" algn="l" defTabSz="914400" rtl="0" eaLnBrk="1" latinLnBrk="0" hangingPunct="1">
        <a:lnSpc>
          <a:spcPct val="100000"/>
        </a:lnSpc>
        <a:spcBef>
          <a:spcPts val="600"/>
        </a:spcBef>
        <a:spcAft>
          <a:spcPts val="400"/>
        </a:spcAft>
        <a:buClr>
          <a:schemeClr val="tx2"/>
        </a:buClr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616075" indent="-228600" algn="l" defTabSz="914400" rtl="0" eaLnBrk="1" latinLnBrk="0" hangingPunct="1">
        <a:lnSpc>
          <a:spcPct val="100000"/>
        </a:lnSpc>
        <a:spcBef>
          <a:spcPts val="600"/>
        </a:spcBef>
        <a:spcAft>
          <a:spcPts val="400"/>
        </a:spcAft>
        <a:buClr>
          <a:schemeClr val="tx2"/>
        </a:buClr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2065338" indent="-228600" algn="l" defTabSz="914400" rtl="0" eaLnBrk="1" latinLnBrk="0" hangingPunct="1">
        <a:lnSpc>
          <a:spcPct val="100000"/>
        </a:lnSpc>
        <a:spcBef>
          <a:spcPts val="600"/>
        </a:spcBef>
        <a:spcAft>
          <a:spcPts val="400"/>
        </a:spcAft>
        <a:buClr>
          <a:schemeClr val="tx2"/>
        </a:buClr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98">
          <p15:clr>
            <a:srgbClr val="F26B43"/>
          </p15:clr>
        </p15:guide>
        <p15:guide id="2" pos="7582">
          <p15:clr>
            <a:srgbClr val="F26B43"/>
          </p15:clr>
        </p15:guide>
        <p15:guide id="3" orient="horz" pos="96">
          <p15:clr>
            <a:srgbClr val="F26B43"/>
          </p15:clr>
        </p15:guide>
        <p15:guide id="4" orient="horz" pos="4224">
          <p15:clr>
            <a:srgbClr val="F26B43"/>
          </p15:clr>
        </p15:guide>
        <p15:guide id="5" pos="234">
          <p15:clr>
            <a:srgbClr val="F26B43"/>
          </p15:clr>
        </p15:guide>
        <p15:guide id="6" pos="7446">
          <p15:clr>
            <a:srgbClr val="F26B43"/>
          </p15:clr>
        </p15:guide>
        <p15:guide id="7" orient="horz" pos="1253">
          <p15:clr>
            <a:srgbClr val="F26B43"/>
          </p15:clr>
        </p15:guide>
        <p15:guide id="8" orient="horz" pos="754">
          <p15:clr>
            <a:srgbClr val="F26B43"/>
          </p15:clr>
        </p15:guide>
        <p15:guide id="9" orient="horz" pos="388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jpeg"/><Relationship Id="rId3" Type="http://schemas.openxmlformats.org/officeDocument/2006/relationships/oleObject" Target="../embeddings/oleObject20.bin"/><Relationship Id="rId7" Type="http://schemas.openxmlformats.org/officeDocument/2006/relationships/image" Target="../media/image17.png"/><Relationship Id="rId2" Type="http://schemas.openxmlformats.org/officeDocument/2006/relationships/slideLayout" Target="../slideLayouts/slideLayout15.xml"/><Relationship Id="rId1" Type="http://schemas.openxmlformats.org/officeDocument/2006/relationships/tags" Target="../tags/tag20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4.emf"/><Relationship Id="rId9" Type="http://schemas.openxmlformats.org/officeDocument/2006/relationships/image" Target="../media/image19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5.xml"/><Relationship Id="rId1" Type="http://schemas.openxmlformats.org/officeDocument/2006/relationships/tags" Target="../tags/tag21.xml"/><Relationship Id="rId5" Type="http://schemas.openxmlformats.org/officeDocument/2006/relationships/image" Target="../media/image20.emf"/><Relationship Id="rId4" Type="http://schemas.openxmlformats.org/officeDocument/2006/relationships/oleObject" Target="../embeddings/oleObject21.bin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slideLayout" Target="../slideLayouts/slideLayout15.xml"/><Relationship Id="rId1" Type="http://schemas.openxmlformats.org/officeDocument/2006/relationships/tags" Target="../tags/tag2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4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5.xml"/><Relationship Id="rId1" Type="http://schemas.openxmlformats.org/officeDocument/2006/relationships/tags" Target="../tags/tag23.xml"/><Relationship Id="rId5" Type="http://schemas.openxmlformats.org/officeDocument/2006/relationships/image" Target="../media/image20.emf"/><Relationship Id="rId4" Type="http://schemas.openxmlformats.org/officeDocument/2006/relationships/oleObject" Target="../embeddings/oleObject21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E5E516-6B7A-5752-0AEC-0378A617E9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F4401277-41B0-E171-2C86-3D0217B7744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3" imgW="600" imgH="601" progId="TCLayout.ActiveDocument.1">
                  <p:embed/>
                </p:oleObj>
              </mc:Choice>
              <mc:Fallback>
                <p:oleObj name="Diapositive think-cell" r:id="rId3" imgW="600" imgH="601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4401277-41B0-E171-2C86-3D0217B7744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" name="Rectangle : coins arrondis 41">
            <a:extLst>
              <a:ext uri="{FF2B5EF4-FFF2-40B4-BE49-F238E27FC236}">
                <a16:creationId xmlns:a16="http://schemas.microsoft.com/office/drawing/2014/main" id="{FCB08978-F8BB-5DFA-35F2-E62FA5CE133B}"/>
              </a:ext>
            </a:extLst>
          </p:cNvPr>
          <p:cNvSpPr/>
          <p:nvPr/>
        </p:nvSpPr>
        <p:spPr>
          <a:xfrm>
            <a:off x="155576" y="491646"/>
            <a:ext cx="4002518" cy="5848828"/>
          </a:xfrm>
          <a:prstGeom prst="roundRect">
            <a:avLst>
              <a:gd name="adj" fmla="val 4261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ysClr val="windowText" lastClr="000000"/>
              </a:solidFill>
            </a:endParaRP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420076D4-B819-417A-BFE5-4D16BA421578}"/>
              </a:ext>
            </a:extLst>
          </p:cNvPr>
          <p:cNvSpPr txBox="1"/>
          <p:nvPr/>
        </p:nvSpPr>
        <p:spPr>
          <a:xfrm>
            <a:off x="1363319" y="705962"/>
            <a:ext cx="2689966" cy="8463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fr-FR" sz="2400" cap="all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MARTIN NAOURI</a:t>
            </a:r>
          </a:p>
          <a:p>
            <a:r>
              <a:rPr lang="fr-FR" sz="1600" b="1" dirty="0">
                <a:solidFill>
                  <a:schemeClr val="tx2"/>
                </a:solidFill>
                <a:latin typeface="+mj-lt"/>
              </a:rPr>
              <a:t>MANAGER</a:t>
            </a:r>
            <a:endParaRPr lang="fr-FR" sz="900" b="1" dirty="0">
              <a:solidFill>
                <a:schemeClr val="tx2"/>
              </a:solidFill>
              <a:latin typeface="+mj-lt"/>
            </a:endParaRPr>
          </a:p>
          <a:p>
            <a:r>
              <a:rPr lang="fr-FR" sz="900" b="1" dirty="0">
                <a:solidFill>
                  <a:schemeClr val="tx2"/>
                </a:solidFill>
                <a:latin typeface="+mj-lt"/>
              </a:rPr>
              <a:t>10 ANS D’EXPÉRIENCE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4C348E1F-4DDB-78C8-F542-3EB2401B4404}"/>
              </a:ext>
            </a:extLst>
          </p:cNvPr>
          <p:cNvSpPr txBox="1"/>
          <p:nvPr/>
        </p:nvSpPr>
        <p:spPr>
          <a:xfrm>
            <a:off x="4239096" y="705962"/>
            <a:ext cx="7571902" cy="127727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Martin a 10 ans d’expérience dans le conseil pour les institutions financières, principalement chez Crédit agricole, Société général et BNPP. Il est intervenu sur du pilotage d’initiatives/projet, création de centres de service interne et externe (Fonctions IT et achat) avec des rôles de chef de projet, Business Analyste, de consultant en transformation et de PMO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De plus, il a une solide expérience en implémentation de SI (en ALM +2 ans sur RCO et sur l’ERP SAP) et en automatisation de processus (RPA de l’étude à la mise en place)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06FA32E-C5A3-B19F-C571-95B23C95E72A}"/>
              </a:ext>
            </a:extLst>
          </p:cNvPr>
          <p:cNvSpPr/>
          <p:nvPr/>
        </p:nvSpPr>
        <p:spPr>
          <a:xfrm>
            <a:off x="368572" y="5288594"/>
            <a:ext cx="3582332" cy="84295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marL="171450" indent="-171450">
              <a:buClr>
                <a:schemeClr val="tx2"/>
              </a:buClr>
              <a:buFont typeface="Arial" panose="020B0604020202020204" pitchFamily="34" charset="0"/>
              <a:buChar char="•"/>
            </a:pPr>
            <a:endParaRPr lang="fr-FR" sz="1000" dirty="0">
              <a:solidFill>
                <a:schemeClr val="bg1"/>
              </a:solidFill>
            </a:endParaRPr>
          </a:p>
        </p:txBody>
      </p:sp>
      <p:sp>
        <p:nvSpPr>
          <p:cNvPr id="20" name="Forme libre : forme 19">
            <a:extLst>
              <a:ext uri="{FF2B5EF4-FFF2-40B4-BE49-F238E27FC236}">
                <a16:creationId xmlns:a16="http://schemas.microsoft.com/office/drawing/2014/main" id="{147DF1DD-5EA8-9D5D-5FF5-BF836C5928B4}"/>
              </a:ext>
            </a:extLst>
          </p:cNvPr>
          <p:cNvSpPr/>
          <p:nvPr/>
        </p:nvSpPr>
        <p:spPr>
          <a:xfrm>
            <a:off x="152673" y="3326530"/>
            <a:ext cx="2419514" cy="360000"/>
          </a:xfrm>
          <a:custGeom>
            <a:avLst/>
            <a:gdLst>
              <a:gd name="connsiteX0" fmla="*/ 0 w 5193356"/>
              <a:gd name="connsiteY0" fmla="*/ 0 h 449448"/>
              <a:gd name="connsiteX1" fmla="*/ 4980165 w 5193356"/>
              <a:gd name="connsiteY1" fmla="*/ 0 h 449448"/>
              <a:gd name="connsiteX2" fmla="*/ 4997252 w 5193356"/>
              <a:gd name="connsiteY2" fmla="*/ 0 h 449448"/>
              <a:gd name="connsiteX3" fmla="*/ 4997252 w 5193356"/>
              <a:gd name="connsiteY3" fmla="*/ 1816 h 449448"/>
              <a:gd name="connsiteX4" fmla="*/ 5023131 w 5193356"/>
              <a:gd name="connsiteY4" fmla="*/ 4566 h 449448"/>
              <a:gd name="connsiteX5" fmla="*/ 5193356 w 5193356"/>
              <a:gd name="connsiteY5" fmla="*/ 224724 h 449448"/>
              <a:gd name="connsiteX6" fmla="*/ 5023131 w 5193356"/>
              <a:gd name="connsiteY6" fmla="*/ 444883 h 449448"/>
              <a:gd name="connsiteX7" fmla="*/ 4997252 w 5193356"/>
              <a:gd name="connsiteY7" fmla="*/ 447632 h 449448"/>
              <a:gd name="connsiteX8" fmla="*/ 4997252 w 5193356"/>
              <a:gd name="connsiteY8" fmla="*/ 449447 h 449448"/>
              <a:gd name="connsiteX9" fmla="*/ 4980175 w 5193356"/>
              <a:gd name="connsiteY9" fmla="*/ 449447 h 449448"/>
              <a:gd name="connsiteX10" fmla="*/ 4980165 w 5193356"/>
              <a:gd name="connsiteY10" fmla="*/ 449448 h 449448"/>
              <a:gd name="connsiteX11" fmla="*/ 4980156 w 5193356"/>
              <a:gd name="connsiteY11" fmla="*/ 449447 h 449448"/>
              <a:gd name="connsiteX12" fmla="*/ 0 w 5193356"/>
              <a:gd name="connsiteY12" fmla="*/ 449447 h 449448"/>
              <a:gd name="connsiteX0" fmla="*/ 2764053 w 5193356"/>
              <a:gd name="connsiteY0" fmla="*/ 0 h 458973"/>
              <a:gd name="connsiteX1" fmla="*/ 4980165 w 5193356"/>
              <a:gd name="connsiteY1" fmla="*/ 9525 h 458973"/>
              <a:gd name="connsiteX2" fmla="*/ 4997252 w 5193356"/>
              <a:gd name="connsiteY2" fmla="*/ 9525 h 458973"/>
              <a:gd name="connsiteX3" fmla="*/ 4997252 w 5193356"/>
              <a:gd name="connsiteY3" fmla="*/ 11341 h 458973"/>
              <a:gd name="connsiteX4" fmla="*/ 5023131 w 5193356"/>
              <a:gd name="connsiteY4" fmla="*/ 14091 h 458973"/>
              <a:gd name="connsiteX5" fmla="*/ 5193356 w 5193356"/>
              <a:gd name="connsiteY5" fmla="*/ 234249 h 458973"/>
              <a:gd name="connsiteX6" fmla="*/ 5023131 w 5193356"/>
              <a:gd name="connsiteY6" fmla="*/ 454408 h 458973"/>
              <a:gd name="connsiteX7" fmla="*/ 4997252 w 5193356"/>
              <a:gd name="connsiteY7" fmla="*/ 457157 h 458973"/>
              <a:gd name="connsiteX8" fmla="*/ 4997252 w 5193356"/>
              <a:gd name="connsiteY8" fmla="*/ 458972 h 458973"/>
              <a:gd name="connsiteX9" fmla="*/ 4980175 w 5193356"/>
              <a:gd name="connsiteY9" fmla="*/ 458972 h 458973"/>
              <a:gd name="connsiteX10" fmla="*/ 4980165 w 5193356"/>
              <a:gd name="connsiteY10" fmla="*/ 458973 h 458973"/>
              <a:gd name="connsiteX11" fmla="*/ 4980156 w 5193356"/>
              <a:gd name="connsiteY11" fmla="*/ 458972 h 458973"/>
              <a:gd name="connsiteX12" fmla="*/ 0 w 5193356"/>
              <a:gd name="connsiteY12" fmla="*/ 458972 h 458973"/>
              <a:gd name="connsiteX13" fmla="*/ 2764053 w 5193356"/>
              <a:gd name="connsiteY13" fmla="*/ 0 h 458973"/>
              <a:gd name="connsiteX0" fmla="*/ 0 w 2429303"/>
              <a:gd name="connsiteY0" fmla="*/ 0 h 458973"/>
              <a:gd name="connsiteX1" fmla="*/ 2216112 w 2429303"/>
              <a:gd name="connsiteY1" fmla="*/ 9525 h 458973"/>
              <a:gd name="connsiteX2" fmla="*/ 2233199 w 2429303"/>
              <a:gd name="connsiteY2" fmla="*/ 9525 h 458973"/>
              <a:gd name="connsiteX3" fmla="*/ 2233199 w 2429303"/>
              <a:gd name="connsiteY3" fmla="*/ 11341 h 458973"/>
              <a:gd name="connsiteX4" fmla="*/ 2259078 w 2429303"/>
              <a:gd name="connsiteY4" fmla="*/ 14091 h 458973"/>
              <a:gd name="connsiteX5" fmla="*/ 2429303 w 2429303"/>
              <a:gd name="connsiteY5" fmla="*/ 234249 h 458973"/>
              <a:gd name="connsiteX6" fmla="*/ 2259078 w 2429303"/>
              <a:gd name="connsiteY6" fmla="*/ 454408 h 458973"/>
              <a:gd name="connsiteX7" fmla="*/ 2233199 w 2429303"/>
              <a:gd name="connsiteY7" fmla="*/ 457157 h 458973"/>
              <a:gd name="connsiteX8" fmla="*/ 2233199 w 2429303"/>
              <a:gd name="connsiteY8" fmla="*/ 458972 h 458973"/>
              <a:gd name="connsiteX9" fmla="*/ 2216122 w 2429303"/>
              <a:gd name="connsiteY9" fmla="*/ 458972 h 458973"/>
              <a:gd name="connsiteX10" fmla="*/ 2216112 w 2429303"/>
              <a:gd name="connsiteY10" fmla="*/ 458973 h 458973"/>
              <a:gd name="connsiteX11" fmla="*/ 2216103 w 2429303"/>
              <a:gd name="connsiteY11" fmla="*/ 458972 h 458973"/>
              <a:gd name="connsiteX12" fmla="*/ 0 w 2429303"/>
              <a:gd name="connsiteY12" fmla="*/ 458972 h 458973"/>
              <a:gd name="connsiteX13" fmla="*/ 0 w 2429303"/>
              <a:gd name="connsiteY13" fmla="*/ 0 h 458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429303" h="458973">
                <a:moveTo>
                  <a:pt x="0" y="0"/>
                </a:moveTo>
                <a:lnTo>
                  <a:pt x="2216112" y="9525"/>
                </a:lnTo>
                <a:lnTo>
                  <a:pt x="2233199" y="9525"/>
                </a:lnTo>
                <a:lnTo>
                  <a:pt x="2233199" y="11341"/>
                </a:lnTo>
                <a:lnTo>
                  <a:pt x="2259078" y="14091"/>
                </a:lnTo>
                <a:cubicBezTo>
                  <a:pt x="2356225" y="35045"/>
                  <a:pt x="2429303" y="125651"/>
                  <a:pt x="2429303" y="234249"/>
                </a:cubicBezTo>
                <a:cubicBezTo>
                  <a:pt x="2429303" y="342847"/>
                  <a:pt x="2356225" y="433453"/>
                  <a:pt x="2259078" y="454408"/>
                </a:cubicBezTo>
                <a:lnTo>
                  <a:pt x="2233199" y="457157"/>
                </a:lnTo>
                <a:lnTo>
                  <a:pt x="2233199" y="458972"/>
                </a:lnTo>
                <a:lnTo>
                  <a:pt x="2216122" y="458972"/>
                </a:lnTo>
                <a:cubicBezTo>
                  <a:pt x="2216119" y="458972"/>
                  <a:pt x="2216115" y="458973"/>
                  <a:pt x="2216112" y="458973"/>
                </a:cubicBezTo>
                <a:cubicBezTo>
                  <a:pt x="2216109" y="458973"/>
                  <a:pt x="2216106" y="458972"/>
                  <a:pt x="2216103" y="458972"/>
                </a:cubicBezTo>
                <a:lnTo>
                  <a:pt x="0" y="45897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r"/>
            <a:r>
              <a:rPr lang="fr-FR" sz="1200" b="1" kern="0">
                <a:solidFill>
                  <a:srgbClr val="3536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COMPÉTENCES</a:t>
            </a:r>
            <a:endParaRPr lang="fr-FR" sz="1600" b="1" kern="0">
              <a:solidFill>
                <a:srgbClr val="35363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Forme libre : forme 21">
            <a:extLst>
              <a:ext uri="{FF2B5EF4-FFF2-40B4-BE49-F238E27FC236}">
                <a16:creationId xmlns:a16="http://schemas.microsoft.com/office/drawing/2014/main" id="{8A19E5D6-F0C9-EC32-8538-B362197DD5BE}"/>
              </a:ext>
            </a:extLst>
          </p:cNvPr>
          <p:cNvSpPr/>
          <p:nvPr/>
        </p:nvSpPr>
        <p:spPr>
          <a:xfrm>
            <a:off x="152673" y="4858846"/>
            <a:ext cx="2419514" cy="360000"/>
          </a:xfrm>
          <a:custGeom>
            <a:avLst/>
            <a:gdLst>
              <a:gd name="connsiteX0" fmla="*/ 0 w 5193356"/>
              <a:gd name="connsiteY0" fmla="*/ 0 h 449448"/>
              <a:gd name="connsiteX1" fmla="*/ 4980165 w 5193356"/>
              <a:gd name="connsiteY1" fmla="*/ 0 h 449448"/>
              <a:gd name="connsiteX2" fmla="*/ 4997252 w 5193356"/>
              <a:gd name="connsiteY2" fmla="*/ 0 h 449448"/>
              <a:gd name="connsiteX3" fmla="*/ 4997252 w 5193356"/>
              <a:gd name="connsiteY3" fmla="*/ 1816 h 449448"/>
              <a:gd name="connsiteX4" fmla="*/ 5023131 w 5193356"/>
              <a:gd name="connsiteY4" fmla="*/ 4566 h 449448"/>
              <a:gd name="connsiteX5" fmla="*/ 5193356 w 5193356"/>
              <a:gd name="connsiteY5" fmla="*/ 224724 h 449448"/>
              <a:gd name="connsiteX6" fmla="*/ 5023131 w 5193356"/>
              <a:gd name="connsiteY6" fmla="*/ 444883 h 449448"/>
              <a:gd name="connsiteX7" fmla="*/ 4997252 w 5193356"/>
              <a:gd name="connsiteY7" fmla="*/ 447632 h 449448"/>
              <a:gd name="connsiteX8" fmla="*/ 4997252 w 5193356"/>
              <a:gd name="connsiteY8" fmla="*/ 449447 h 449448"/>
              <a:gd name="connsiteX9" fmla="*/ 4980175 w 5193356"/>
              <a:gd name="connsiteY9" fmla="*/ 449447 h 449448"/>
              <a:gd name="connsiteX10" fmla="*/ 4980165 w 5193356"/>
              <a:gd name="connsiteY10" fmla="*/ 449448 h 449448"/>
              <a:gd name="connsiteX11" fmla="*/ 4980156 w 5193356"/>
              <a:gd name="connsiteY11" fmla="*/ 449447 h 449448"/>
              <a:gd name="connsiteX12" fmla="*/ 0 w 5193356"/>
              <a:gd name="connsiteY12" fmla="*/ 449447 h 449448"/>
              <a:gd name="connsiteX0" fmla="*/ 2764053 w 5193356"/>
              <a:gd name="connsiteY0" fmla="*/ 0 h 458973"/>
              <a:gd name="connsiteX1" fmla="*/ 4980165 w 5193356"/>
              <a:gd name="connsiteY1" fmla="*/ 9525 h 458973"/>
              <a:gd name="connsiteX2" fmla="*/ 4997252 w 5193356"/>
              <a:gd name="connsiteY2" fmla="*/ 9525 h 458973"/>
              <a:gd name="connsiteX3" fmla="*/ 4997252 w 5193356"/>
              <a:gd name="connsiteY3" fmla="*/ 11341 h 458973"/>
              <a:gd name="connsiteX4" fmla="*/ 5023131 w 5193356"/>
              <a:gd name="connsiteY4" fmla="*/ 14091 h 458973"/>
              <a:gd name="connsiteX5" fmla="*/ 5193356 w 5193356"/>
              <a:gd name="connsiteY5" fmla="*/ 234249 h 458973"/>
              <a:gd name="connsiteX6" fmla="*/ 5023131 w 5193356"/>
              <a:gd name="connsiteY6" fmla="*/ 454408 h 458973"/>
              <a:gd name="connsiteX7" fmla="*/ 4997252 w 5193356"/>
              <a:gd name="connsiteY7" fmla="*/ 457157 h 458973"/>
              <a:gd name="connsiteX8" fmla="*/ 4997252 w 5193356"/>
              <a:gd name="connsiteY8" fmla="*/ 458972 h 458973"/>
              <a:gd name="connsiteX9" fmla="*/ 4980175 w 5193356"/>
              <a:gd name="connsiteY9" fmla="*/ 458972 h 458973"/>
              <a:gd name="connsiteX10" fmla="*/ 4980165 w 5193356"/>
              <a:gd name="connsiteY10" fmla="*/ 458973 h 458973"/>
              <a:gd name="connsiteX11" fmla="*/ 4980156 w 5193356"/>
              <a:gd name="connsiteY11" fmla="*/ 458972 h 458973"/>
              <a:gd name="connsiteX12" fmla="*/ 0 w 5193356"/>
              <a:gd name="connsiteY12" fmla="*/ 458972 h 458973"/>
              <a:gd name="connsiteX13" fmla="*/ 2764053 w 5193356"/>
              <a:gd name="connsiteY13" fmla="*/ 0 h 458973"/>
              <a:gd name="connsiteX0" fmla="*/ 0 w 2429303"/>
              <a:gd name="connsiteY0" fmla="*/ 0 h 458973"/>
              <a:gd name="connsiteX1" fmla="*/ 2216112 w 2429303"/>
              <a:gd name="connsiteY1" fmla="*/ 9525 h 458973"/>
              <a:gd name="connsiteX2" fmla="*/ 2233199 w 2429303"/>
              <a:gd name="connsiteY2" fmla="*/ 9525 h 458973"/>
              <a:gd name="connsiteX3" fmla="*/ 2233199 w 2429303"/>
              <a:gd name="connsiteY3" fmla="*/ 11341 h 458973"/>
              <a:gd name="connsiteX4" fmla="*/ 2259078 w 2429303"/>
              <a:gd name="connsiteY4" fmla="*/ 14091 h 458973"/>
              <a:gd name="connsiteX5" fmla="*/ 2429303 w 2429303"/>
              <a:gd name="connsiteY5" fmla="*/ 234249 h 458973"/>
              <a:gd name="connsiteX6" fmla="*/ 2259078 w 2429303"/>
              <a:gd name="connsiteY6" fmla="*/ 454408 h 458973"/>
              <a:gd name="connsiteX7" fmla="*/ 2233199 w 2429303"/>
              <a:gd name="connsiteY7" fmla="*/ 457157 h 458973"/>
              <a:gd name="connsiteX8" fmla="*/ 2233199 w 2429303"/>
              <a:gd name="connsiteY8" fmla="*/ 458972 h 458973"/>
              <a:gd name="connsiteX9" fmla="*/ 2216122 w 2429303"/>
              <a:gd name="connsiteY9" fmla="*/ 458972 h 458973"/>
              <a:gd name="connsiteX10" fmla="*/ 2216112 w 2429303"/>
              <a:gd name="connsiteY10" fmla="*/ 458973 h 458973"/>
              <a:gd name="connsiteX11" fmla="*/ 2216103 w 2429303"/>
              <a:gd name="connsiteY11" fmla="*/ 458972 h 458973"/>
              <a:gd name="connsiteX12" fmla="*/ 0 w 2429303"/>
              <a:gd name="connsiteY12" fmla="*/ 458972 h 458973"/>
              <a:gd name="connsiteX13" fmla="*/ 0 w 2429303"/>
              <a:gd name="connsiteY13" fmla="*/ 0 h 458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429303" h="458973">
                <a:moveTo>
                  <a:pt x="0" y="0"/>
                </a:moveTo>
                <a:lnTo>
                  <a:pt x="2216112" y="9525"/>
                </a:lnTo>
                <a:lnTo>
                  <a:pt x="2233199" y="9525"/>
                </a:lnTo>
                <a:lnTo>
                  <a:pt x="2233199" y="11341"/>
                </a:lnTo>
                <a:lnTo>
                  <a:pt x="2259078" y="14091"/>
                </a:lnTo>
                <a:cubicBezTo>
                  <a:pt x="2356225" y="35045"/>
                  <a:pt x="2429303" y="125651"/>
                  <a:pt x="2429303" y="234249"/>
                </a:cubicBezTo>
                <a:cubicBezTo>
                  <a:pt x="2429303" y="342847"/>
                  <a:pt x="2356225" y="433453"/>
                  <a:pt x="2259078" y="454408"/>
                </a:cubicBezTo>
                <a:lnTo>
                  <a:pt x="2233199" y="457157"/>
                </a:lnTo>
                <a:lnTo>
                  <a:pt x="2233199" y="458972"/>
                </a:lnTo>
                <a:lnTo>
                  <a:pt x="2216122" y="458972"/>
                </a:lnTo>
                <a:cubicBezTo>
                  <a:pt x="2216119" y="458972"/>
                  <a:pt x="2216115" y="458973"/>
                  <a:pt x="2216112" y="458973"/>
                </a:cubicBezTo>
                <a:cubicBezTo>
                  <a:pt x="2216109" y="458973"/>
                  <a:pt x="2216106" y="458972"/>
                  <a:pt x="2216103" y="458972"/>
                </a:cubicBezTo>
                <a:lnTo>
                  <a:pt x="0" y="45897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r"/>
            <a:r>
              <a:rPr lang="fr-FR" sz="1200" b="1" kern="0">
                <a:solidFill>
                  <a:srgbClr val="3536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OUTILS / MÉTHODES</a:t>
            </a:r>
            <a:endParaRPr lang="fr-FR" sz="1600" b="1" kern="0">
              <a:solidFill>
                <a:srgbClr val="35363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Forme libre : forme 22">
            <a:extLst>
              <a:ext uri="{FF2B5EF4-FFF2-40B4-BE49-F238E27FC236}">
                <a16:creationId xmlns:a16="http://schemas.microsoft.com/office/drawing/2014/main" id="{CD85422A-72EF-8255-566D-9A13957F2B94}"/>
              </a:ext>
            </a:extLst>
          </p:cNvPr>
          <p:cNvSpPr/>
          <p:nvPr/>
        </p:nvSpPr>
        <p:spPr>
          <a:xfrm>
            <a:off x="151683" y="1983600"/>
            <a:ext cx="2403792" cy="360000"/>
          </a:xfrm>
          <a:custGeom>
            <a:avLst/>
            <a:gdLst>
              <a:gd name="connsiteX0" fmla="*/ 0 w 5193356"/>
              <a:gd name="connsiteY0" fmla="*/ 0 h 449448"/>
              <a:gd name="connsiteX1" fmla="*/ 4980165 w 5193356"/>
              <a:gd name="connsiteY1" fmla="*/ 0 h 449448"/>
              <a:gd name="connsiteX2" fmla="*/ 4997252 w 5193356"/>
              <a:gd name="connsiteY2" fmla="*/ 0 h 449448"/>
              <a:gd name="connsiteX3" fmla="*/ 4997252 w 5193356"/>
              <a:gd name="connsiteY3" fmla="*/ 1816 h 449448"/>
              <a:gd name="connsiteX4" fmla="*/ 5023131 w 5193356"/>
              <a:gd name="connsiteY4" fmla="*/ 4566 h 449448"/>
              <a:gd name="connsiteX5" fmla="*/ 5193356 w 5193356"/>
              <a:gd name="connsiteY5" fmla="*/ 224724 h 449448"/>
              <a:gd name="connsiteX6" fmla="*/ 5023131 w 5193356"/>
              <a:gd name="connsiteY6" fmla="*/ 444883 h 449448"/>
              <a:gd name="connsiteX7" fmla="*/ 4997252 w 5193356"/>
              <a:gd name="connsiteY7" fmla="*/ 447632 h 449448"/>
              <a:gd name="connsiteX8" fmla="*/ 4997252 w 5193356"/>
              <a:gd name="connsiteY8" fmla="*/ 449447 h 449448"/>
              <a:gd name="connsiteX9" fmla="*/ 4980175 w 5193356"/>
              <a:gd name="connsiteY9" fmla="*/ 449447 h 449448"/>
              <a:gd name="connsiteX10" fmla="*/ 4980165 w 5193356"/>
              <a:gd name="connsiteY10" fmla="*/ 449448 h 449448"/>
              <a:gd name="connsiteX11" fmla="*/ 4980156 w 5193356"/>
              <a:gd name="connsiteY11" fmla="*/ 449447 h 449448"/>
              <a:gd name="connsiteX12" fmla="*/ 0 w 5193356"/>
              <a:gd name="connsiteY12" fmla="*/ 449447 h 449448"/>
              <a:gd name="connsiteX0" fmla="*/ 2764053 w 5193356"/>
              <a:gd name="connsiteY0" fmla="*/ 0 h 458973"/>
              <a:gd name="connsiteX1" fmla="*/ 4980165 w 5193356"/>
              <a:gd name="connsiteY1" fmla="*/ 9525 h 458973"/>
              <a:gd name="connsiteX2" fmla="*/ 4997252 w 5193356"/>
              <a:gd name="connsiteY2" fmla="*/ 9525 h 458973"/>
              <a:gd name="connsiteX3" fmla="*/ 4997252 w 5193356"/>
              <a:gd name="connsiteY3" fmla="*/ 11341 h 458973"/>
              <a:gd name="connsiteX4" fmla="*/ 5023131 w 5193356"/>
              <a:gd name="connsiteY4" fmla="*/ 14091 h 458973"/>
              <a:gd name="connsiteX5" fmla="*/ 5193356 w 5193356"/>
              <a:gd name="connsiteY5" fmla="*/ 234249 h 458973"/>
              <a:gd name="connsiteX6" fmla="*/ 5023131 w 5193356"/>
              <a:gd name="connsiteY6" fmla="*/ 454408 h 458973"/>
              <a:gd name="connsiteX7" fmla="*/ 4997252 w 5193356"/>
              <a:gd name="connsiteY7" fmla="*/ 457157 h 458973"/>
              <a:gd name="connsiteX8" fmla="*/ 4997252 w 5193356"/>
              <a:gd name="connsiteY8" fmla="*/ 458972 h 458973"/>
              <a:gd name="connsiteX9" fmla="*/ 4980175 w 5193356"/>
              <a:gd name="connsiteY9" fmla="*/ 458972 h 458973"/>
              <a:gd name="connsiteX10" fmla="*/ 4980165 w 5193356"/>
              <a:gd name="connsiteY10" fmla="*/ 458973 h 458973"/>
              <a:gd name="connsiteX11" fmla="*/ 4980156 w 5193356"/>
              <a:gd name="connsiteY11" fmla="*/ 458972 h 458973"/>
              <a:gd name="connsiteX12" fmla="*/ 0 w 5193356"/>
              <a:gd name="connsiteY12" fmla="*/ 458972 h 458973"/>
              <a:gd name="connsiteX13" fmla="*/ 2764053 w 5193356"/>
              <a:gd name="connsiteY13" fmla="*/ 0 h 458973"/>
              <a:gd name="connsiteX0" fmla="*/ 0 w 2429303"/>
              <a:gd name="connsiteY0" fmla="*/ 0 h 458973"/>
              <a:gd name="connsiteX1" fmla="*/ 2216112 w 2429303"/>
              <a:gd name="connsiteY1" fmla="*/ 9525 h 458973"/>
              <a:gd name="connsiteX2" fmla="*/ 2233199 w 2429303"/>
              <a:gd name="connsiteY2" fmla="*/ 9525 h 458973"/>
              <a:gd name="connsiteX3" fmla="*/ 2233199 w 2429303"/>
              <a:gd name="connsiteY3" fmla="*/ 11341 h 458973"/>
              <a:gd name="connsiteX4" fmla="*/ 2259078 w 2429303"/>
              <a:gd name="connsiteY4" fmla="*/ 14091 h 458973"/>
              <a:gd name="connsiteX5" fmla="*/ 2429303 w 2429303"/>
              <a:gd name="connsiteY5" fmla="*/ 234249 h 458973"/>
              <a:gd name="connsiteX6" fmla="*/ 2259078 w 2429303"/>
              <a:gd name="connsiteY6" fmla="*/ 454408 h 458973"/>
              <a:gd name="connsiteX7" fmla="*/ 2233199 w 2429303"/>
              <a:gd name="connsiteY7" fmla="*/ 457157 h 458973"/>
              <a:gd name="connsiteX8" fmla="*/ 2233199 w 2429303"/>
              <a:gd name="connsiteY8" fmla="*/ 458972 h 458973"/>
              <a:gd name="connsiteX9" fmla="*/ 2216122 w 2429303"/>
              <a:gd name="connsiteY9" fmla="*/ 458972 h 458973"/>
              <a:gd name="connsiteX10" fmla="*/ 2216112 w 2429303"/>
              <a:gd name="connsiteY10" fmla="*/ 458973 h 458973"/>
              <a:gd name="connsiteX11" fmla="*/ 2216103 w 2429303"/>
              <a:gd name="connsiteY11" fmla="*/ 458972 h 458973"/>
              <a:gd name="connsiteX12" fmla="*/ 0 w 2429303"/>
              <a:gd name="connsiteY12" fmla="*/ 458972 h 458973"/>
              <a:gd name="connsiteX13" fmla="*/ 0 w 2429303"/>
              <a:gd name="connsiteY13" fmla="*/ 0 h 458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429303" h="458973">
                <a:moveTo>
                  <a:pt x="0" y="0"/>
                </a:moveTo>
                <a:lnTo>
                  <a:pt x="2216112" y="9525"/>
                </a:lnTo>
                <a:lnTo>
                  <a:pt x="2233199" y="9525"/>
                </a:lnTo>
                <a:lnTo>
                  <a:pt x="2233199" y="11341"/>
                </a:lnTo>
                <a:lnTo>
                  <a:pt x="2259078" y="14091"/>
                </a:lnTo>
                <a:cubicBezTo>
                  <a:pt x="2356225" y="35045"/>
                  <a:pt x="2429303" y="125651"/>
                  <a:pt x="2429303" y="234249"/>
                </a:cubicBezTo>
                <a:cubicBezTo>
                  <a:pt x="2429303" y="342847"/>
                  <a:pt x="2356225" y="433453"/>
                  <a:pt x="2259078" y="454408"/>
                </a:cubicBezTo>
                <a:lnTo>
                  <a:pt x="2233199" y="457157"/>
                </a:lnTo>
                <a:lnTo>
                  <a:pt x="2233199" y="458972"/>
                </a:lnTo>
                <a:lnTo>
                  <a:pt x="2216122" y="458972"/>
                </a:lnTo>
                <a:cubicBezTo>
                  <a:pt x="2216119" y="458972"/>
                  <a:pt x="2216115" y="458973"/>
                  <a:pt x="2216112" y="458973"/>
                </a:cubicBezTo>
                <a:cubicBezTo>
                  <a:pt x="2216109" y="458973"/>
                  <a:pt x="2216106" y="458972"/>
                  <a:pt x="2216103" y="458972"/>
                </a:cubicBezTo>
                <a:lnTo>
                  <a:pt x="0" y="45897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r"/>
            <a:r>
              <a:rPr lang="fr-FR" sz="1200" b="1" kern="0" dirty="0">
                <a:solidFill>
                  <a:srgbClr val="3536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FORMATIONS</a:t>
            </a:r>
            <a:endParaRPr lang="fr-FR" sz="1600" b="1" kern="0" dirty="0">
              <a:solidFill>
                <a:srgbClr val="35363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761FC5B-F15E-D548-7B04-4D512A40AAF3}"/>
              </a:ext>
            </a:extLst>
          </p:cNvPr>
          <p:cNvSpPr/>
          <p:nvPr/>
        </p:nvSpPr>
        <p:spPr>
          <a:xfrm>
            <a:off x="371475" y="2414547"/>
            <a:ext cx="3579429" cy="6949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marL="171450" indent="-17145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GB" sz="1000" dirty="0">
                <a:solidFill>
                  <a:schemeClr val="bg1"/>
                </a:solidFill>
              </a:rPr>
              <a:t>IPAG – Master Finance - Audit</a:t>
            </a:r>
          </a:p>
          <a:p>
            <a:pPr marL="171450" indent="-17145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GB" sz="1000" dirty="0">
                <a:solidFill>
                  <a:schemeClr val="bg1"/>
                </a:solidFill>
              </a:rPr>
              <a:t>University of Newcastle (Australia)</a:t>
            </a:r>
          </a:p>
          <a:p>
            <a:pPr marL="171450" indent="-171450">
              <a:buClr>
                <a:schemeClr val="tx2"/>
              </a:buClr>
              <a:buFont typeface="Arial" panose="020B0604020202020204" pitchFamily="34" charset="0"/>
              <a:buChar char="•"/>
            </a:pPr>
            <a:endParaRPr lang="fr-FR" sz="1000" dirty="0">
              <a:solidFill>
                <a:schemeClr val="bg1"/>
              </a:solidFill>
            </a:endParaRPr>
          </a:p>
        </p:txBody>
      </p:sp>
      <p:sp>
        <p:nvSpPr>
          <p:cNvPr id="41" name="Forme libre : forme 40">
            <a:extLst>
              <a:ext uri="{FF2B5EF4-FFF2-40B4-BE49-F238E27FC236}">
                <a16:creationId xmlns:a16="http://schemas.microsoft.com/office/drawing/2014/main" id="{5968A43C-85F7-8947-A6AC-F0FB7939257E}"/>
              </a:ext>
            </a:extLst>
          </p:cNvPr>
          <p:cNvSpPr/>
          <p:nvPr/>
        </p:nvSpPr>
        <p:spPr>
          <a:xfrm>
            <a:off x="4239096" y="1983600"/>
            <a:ext cx="4944265" cy="360000"/>
          </a:xfrm>
          <a:custGeom>
            <a:avLst/>
            <a:gdLst>
              <a:gd name="connsiteX0" fmla="*/ 0 w 5193356"/>
              <a:gd name="connsiteY0" fmla="*/ 0 h 449448"/>
              <a:gd name="connsiteX1" fmla="*/ 4980165 w 5193356"/>
              <a:gd name="connsiteY1" fmla="*/ 0 h 449448"/>
              <a:gd name="connsiteX2" fmla="*/ 4997252 w 5193356"/>
              <a:gd name="connsiteY2" fmla="*/ 0 h 449448"/>
              <a:gd name="connsiteX3" fmla="*/ 4997252 w 5193356"/>
              <a:gd name="connsiteY3" fmla="*/ 1816 h 449448"/>
              <a:gd name="connsiteX4" fmla="*/ 5023131 w 5193356"/>
              <a:gd name="connsiteY4" fmla="*/ 4566 h 449448"/>
              <a:gd name="connsiteX5" fmla="*/ 5193356 w 5193356"/>
              <a:gd name="connsiteY5" fmla="*/ 224724 h 449448"/>
              <a:gd name="connsiteX6" fmla="*/ 5023131 w 5193356"/>
              <a:gd name="connsiteY6" fmla="*/ 444883 h 449448"/>
              <a:gd name="connsiteX7" fmla="*/ 4997252 w 5193356"/>
              <a:gd name="connsiteY7" fmla="*/ 447632 h 449448"/>
              <a:gd name="connsiteX8" fmla="*/ 4997252 w 5193356"/>
              <a:gd name="connsiteY8" fmla="*/ 449447 h 449448"/>
              <a:gd name="connsiteX9" fmla="*/ 4980175 w 5193356"/>
              <a:gd name="connsiteY9" fmla="*/ 449447 h 449448"/>
              <a:gd name="connsiteX10" fmla="*/ 4980165 w 5193356"/>
              <a:gd name="connsiteY10" fmla="*/ 449448 h 449448"/>
              <a:gd name="connsiteX11" fmla="*/ 4980156 w 5193356"/>
              <a:gd name="connsiteY11" fmla="*/ 449447 h 449448"/>
              <a:gd name="connsiteX12" fmla="*/ 0 w 5193356"/>
              <a:gd name="connsiteY12" fmla="*/ 449447 h 4494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193356" h="449448">
                <a:moveTo>
                  <a:pt x="0" y="0"/>
                </a:moveTo>
                <a:lnTo>
                  <a:pt x="4980165" y="0"/>
                </a:lnTo>
                <a:lnTo>
                  <a:pt x="4997252" y="0"/>
                </a:lnTo>
                <a:lnTo>
                  <a:pt x="4997252" y="1816"/>
                </a:lnTo>
                <a:lnTo>
                  <a:pt x="5023131" y="4566"/>
                </a:lnTo>
                <a:cubicBezTo>
                  <a:pt x="5120278" y="25520"/>
                  <a:pt x="5193356" y="116126"/>
                  <a:pt x="5193356" y="224724"/>
                </a:cubicBezTo>
                <a:cubicBezTo>
                  <a:pt x="5193356" y="333322"/>
                  <a:pt x="5120278" y="423928"/>
                  <a:pt x="5023131" y="444883"/>
                </a:cubicBezTo>
                <a:lnTo>
                  <a:pt x="4997252" y="447632"/>
                </a:lnTo>
                <a:lnTo>
                  <a:pt x="4997252" y="449447"/>
                </a:lnTo>
                <a:lnTo>
                  <a:pt x="4980175" y="449447"/>
                </a:lnTo>
                <a:lnTo>
                  <a:pt x="4980165" y="449448"/>
                </a:lnTo>
                <a:lnTo>
                  <a:pt x="4980156" y="449447"/>
                </a:lnTo>
                <a:lnTo>
                  <a:pt x="0" y="449447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r>
              <a:rPr lang="fr-FR" sz="1200" b="1" ker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PRINCIPALES EXPÉRIENCES EN LIEN AVEC LA MISSION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9374B764-4A1F-3B82-6EFD-6F08A0BA92C7}"/>
              </a:ext>
            </a:extLst>
          </p:cNvPr>
          <p:cNvSpPr txBox="1"/>
          <p:nvPr/>
        </p:nvSpPr>
        <p:spPr>
          <a:xfrm>
            <a:off x="4862670" y="2414547"/>
            <a:ext cx="6957855" cy="3741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000" b="1" i="0" u="none" strike="noStrike" kern="1200" cap="none" spc="0" baseline="0" dirty="0">
                <a:solidFill>
                  <a:srgbClr val="43A2BF"/>
                </a:solidFill>
                <a:uFillTx/>
                <a:latin typeface="Arial"/>
              </a:rPr>
              <a:t>Banque </a:t>
            </a:r>
            <a:r>
              <a:rPr lang="en-GB" sz="1000" b="1" i="0" u="none" strike="noStrike" kern="1200" cap="none" spc="0" baseline="0" dirty="0" err="1">
                <a:solidFill>
                  <a:srgbClr val="43A2BF"/>
                </a:solidFill>
                <a:uFillTx/>
                <a:latin typeface="Arial"/>
              </a:rPr>
              <a:t>internationale</a:t>
            </a:r>
            <a:r>
              <a:rPr lang="en-GB" sz="1000" b="1" i="0" u="none" strike="noStrike" kern="1200" cap="none" spc="0" baseline="0" dirty="0">
                <a:solidFill>
                  <a:srgbClr val="43A2BF"/>
                </a:solidFill>
                <a:uFillTx/>
                <a:latin typeface="Arial"/>
              </a:rPr>
              <a:t> FR – </a:t>
            </a:r>
            <a:r>
              <a:rPr lang="fr-FR" sz="1000" b="1" i="0" u="none" strike="noStrike" kern="1200" cap="none" spc="0" baseline="0" dirty="0">
                <a:solidFill>
                  <a:srgbClr val="43A2BF"/>
                </a:solidFill>
                <a:uFillTx/>
                <a:latin typeface="Arial"/>
              </a:rPr>
              <a:t>Business Analyste au sein des équipes Liquidité Groupe (</a:t>
            </a:r>
            <a:r>
              <a:rPr lang="fr-FR" sz="1000" b="1" dirty="0">
                <a:solidFill>
                  <a:srgbClr val="43A2BF"/>
                </a:solidFill>
                <a:latin typeface="Arial"/>
              </a:rPr>
              <a:t>6 mois</a:t>
            </a:r>
            <a:r>
              <a:rPr lang="fr-FR" sz="1000" b="1" i="0" u="none" strike="noStrike" kern="1200" cap="none" spc="0" baseline="0" dirty="0">
                <a:solidFill>
                  <a:srgbClr val="43A2BF"/>
                </a:solidFill>
                <a:uFillTx/>
                <a:latin typeface="Arial"/>
              </a:rPr>
              <a:t>)</a:t>
            </a:r>
          </a:p>
          <a:p>
            <a:pPr marL="171450" indent="-171450">
              <a:lnSpc>
                <a:spcPct val="110000"/>
              </a:lnSpc>
              <a:buClr>
                <a:schemeClr val="accent1"/>
              </a:buClr>
              <a:buSzPts val="1000"/>
              <a:buFont typeface="Arial" panose="020B0604020202020204" pitchFamily="34" charset="0"/>
              <a:buChar char="•"/>
            </a:pPr>
            <a:r>
              <a:rPr lang="fr-FR" sz="1000" dirty="0">
                <a:cs typeface="Arial"/>
                <a:sym typeface="Arial"/>
              </a:rPr>
              <a:t>Réflexion autour du schéma directeur Liquidité -  Remplacement de l’outil SAP FC à l’horizon 2030</a:t>
            </a:r>
          </a:p>
          <a:p>
            <a:pPr marL="171450" indent="-171450">
              <a:lnSpc>
                <a:spcPct val="110000"/>
              </a:lnSpc>
              <a:buClr>
                <a:schemeClr val="accent1"/>
              </a:buClr>
              <a:buSzPts val="1000"/>
              <a:buFont typeface="Arial" panose="020B0604020202020204" pitchFamily="34" charset="0"/>
              <a:buChar char="•"/>
            </a:pPr>
            <a:r>
              <a:rPr lang="fr-FR" sz="1000" dirty="0">
                <a:cs typeface="Arial"/>
                <a:sym typeface="Arial"/>
              </a:rPr>
              <a:t>Suivi, instruction et recette des évolutions dans l’outil SAP FC en relation avec les équipes IT</a:t>
            </a:r>
          </a:p>
          <a:p>
            <a:pPr marL="171450" indent="-171450">
              <a:lnSpc>
                <a:spcPct val="110000"/>
              </a:lnSpc>
              <a:buClr>
                <a:schemeClr val="accent1"/>
              </a:buClr>
              <a:buSzPts val="1000"/>
              <a:buFont typeface="Arial" panose="020B0604020202020204" pitchFamily="34" charset="0"/>
              <a:buChar char="•"/>
            </a:pPr>
            <a:r>
              <a:rPr lang="fr-FR" sz="1000" dirty="0">
                <a:cs typeface="Arial"/>
                <a:sym typeface="Arial"/>
              </a:rPr>
              <a:t>Pilotage de projets de transformation autour de SAP FC pour intégrer les nouveaux besoins métier</a:t>
            </a:r>
          </a:p>
          <a:p>
            <a:pPr>
              <a:lnSpc>
                <a:spcPct val="110000"/>
              </a:lnSpc>
              <a:buClr>
                <a:schemeClr val="accent1"/>
              </a:buClr>
              <a:buSzPts val="1000"/>
            </a:pPr>
            <a:endParaRPr lang="fr-FR" sz="1000" dirty="0">
              <a:cs typeface="Arial"/>
              <a:sym typeface="Arial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00" b="1" dirty="0">
                <a:solidFill>
                  <a:srgbClr val="43A2BF"/>
                </a:solidFill>
                <a:latin typeface="Arial"/>
                <a:sym typeface="Arial"/>
              </a:rPr>
              <a:t>Banque </a:t>
            </a:r>
            <a:r>
              <a:rPr lang="en-US" sz="1000" b="1" dirty="0" err="1">
                <a:solidFill>
                  <a:srgbClr val="43A2BF"/>
                </a:solidFill>
                <a:latin typeface="Arial"/>
                <a:sym typeface="Arial"/>
              </a:rPr>
              <a:t>internationale</a:t>
            </a:r>
            <a:r>
              <a:rPr lang="en-US" sz="1000" b="1" dirty="0">
                <a:solidFill>
                  <a:srgbClr val="43A2BF"/>
                </a:solidFill>
                <a:latin typeface="Arial"/>
                <a:sym typeface="Arial"/>
              </a:rPr>
              <a:t> FR </a:t>
            </a:r>
            <a:r>
              <a:rPr lang="en-GB" sz="1000" b="1" i="0" u="none" strike="noStrike" kern="1200" cap="none" spc="0" baseline="0" dirty="0">
                <a:solidFill>
                  <a:srgbClr val="43A2BF"/>
                </a:solidFill>
                <a:uFillTx/>
                <a:latin typeface="Arial"/>
              </a:rPr>
              <a:t>– </a:t>
            </a:r>
            <a:r>
              <a:rPr lang="fr-FR" sz="1000" b="1" i="0" u="none" strike="noStrike" kern="1200" cap="none" spc="0" baseline="0" dirty="0">
                <a:solidFill>
                  <a:srgbClr val="43A2BF"/>
                </a:solidFill>
                <a:uFillTx/>
                <a:latin typeface="Arial"/>
              </a:rPr>
              <a:t>Initiative </a:t>
            </a:r>
            <a:r>
              <a:rPr lang="fr-FR" sz="1000" b="1" i="0" u="none" strike="noStrike" kern="1200" cap="none" spc="0" baseline="0" dirty="0" err="1">
                <a:solidFill>
                  <a:srgbClr val="43A2BF"/>
                </a:solidFill>
                <a:uFillTx/>
                <a:latin typeface="Arial"/>
              </a:rPr>
              <a:t>Owner</a:t>
            </a:r>
            <a:r>
              <a:rPr lang="fr-FR" sz="1000" b="1" i="0" u="none" strike="noStrike" kern="1200" cap="none" spc="0" baseline="0" dirty="0">
                <a:solidFill>
                  <a:srgbClr val="43A2BF"/>
                </a:solidFill>
                <a:uFillTx/>
                <a:latin typeface="Arial"/>
              </a:rPr>
              <a:t> dans le cadre du programme transfo. Liquidité</a:t>
            </a:r>
            <a:r>
              <a:rPr lang="en-GB" sz="1000" b="1" i="0" u="none" strike="noStrike" kern="1200" cap="none" spc="0" baseline="0" dirty="0">
                <a:solidFill>
                  <a:srgbClr val="43A2BF"/>
                </a:solidFill>
                <a:uFillTx/>
                <a:latin typeface="Arial"/>
              </a:rPr>
              <a:t> </a:t>
            </a:r>
            <a:r>
              <a:rPr lang="fr-FR" sz="1000" b="1" i="0" u="none" strike="noStrike" kern="1200" cap="none" spc="0" baseline="0" dirty="0">
                <a:solidFill>
                  <a:srgbClr val="43A2BF"/>
                </a:solidFill>
                <a:uFillTx/>
                <a:latin typeface="Arial"/>
              </a:rPr>
              <a:t>(30 mois)</a:t>
            </a:r>
          </a:p>
          <a:p>
            <a:pPr marL="171450" indent="-171450">
              <a:lnSpc>
                <a:spcPct val="110000"/>
              </a:lnSpc>
              <a:buClr>
                <a:schemeClr val="accent1"/>
              </a:buClr>
              <a:buSzPts val="1000"/>
              <a:buFont typeface="Arial" panose="020B0604020202020204" pitchFamily="34" charset="0"/>
              <a:buChar char="•"/>
            </a:pPr>
            <a:r>
              <a:rPr lang="fr-FR" sz="1000" b="0" i="0" dirty="0">
                <a:solidFill>
                  <a:srgbClr val="0D0D0D"/>
                </a:solidFill>
                <a:effectLst/>
              </a:rPr>
              <a:t>Responsable </a:t>
            </a:r>
            <a:r>
              <a:rPr lang="fr-FR" sz="1000" b="0" i="0" dirty="0" err="1">
                <a:solidFill>
                  <a:srgbClr val="0D0D0D"/>
                </a:solidFill>
                <a:effectLst/>
              </a:rPr>
              <a:t>stream</a:t>
            </a:r>
            <a:r>
              <a:rPr lang="fr-FR" sz="1000" b="0" i="0" dirty="0">
                <a:solidFill>
                  <a:srgbClr val="0D0D0D"/>
                </a:solidFill>
                <a:effectLst/>
              </a:rPr>
              <a:t> IT, Coordination d’un chantier pour intégrer de nouveaux scénarios de stress tests suite (reco BCE) dans les systèmes IT</a:t>
            </a:r>
          </a:p>
          <a:p>
            <a:pPr marL="171450" indent="-171450">
              <a:lnSpc>
                <a:spcPct val="110000"/>
              </a:lnSpc>
              <a:buClr>
                <a:schemeClr val="accent1"/>
              </a:buClr>
              <a:buSzPts val="1000"/>
              <a:buFont typeface="Arial" panose="020B0604020202020204" pitchFamily="34" charset="0"/>
              <a:buChar char="•"/>
            </a:pPr>
            <a:r>
              <a:rPr lang="fr-FR" sz="1000" b="0" i="0" dirty="0">
                <a:solidFill>
                  <a:srgbClr val="0D0D0D"/>
                </a:solidFill>
                <a:effectLst/>
              </a:rPr>
              <a:t>Responsable du </a:t>
            </a:r>
            <a:r>
              <a:rPr lang="fr-FR" sz="1000" b="0" i="0" dirty="0" err="1">
                <a:solidFill>
                  <a:srgbClr val="0D0D0D"/>
                </a:solidFill>
                <a:effectLst/>
              </a:rPr>
              <a:t>stream</a:t>
            </a:r>
            <a:r>
              <a:rPr lang="fr-FR" sz="1000" b="0" i="0" dirty="0">
                <a:solidFill>
                  <a:srgbClr val="0D0D0D"/>
                </a:solidFill>
                <a:effectLst/>
              </a:rPr>
              <a:t> Simulation, B.A et construction avec le métier ALM et trésorerie de prototype pour réaliser différentes simulations sur les métriques LCR, GAP, NSFR</a:t>
            </a:r>
          </a:p>
          <a:p>
            <a:pPr marL="171450" indent="-171450">
              <a:lnSpc>
                <a:spcPct val="110000"/>
              </a:lnSpc>
              <a:buClr>
                <a:schemeClr val="accent1"/>
              </a:buClr>
              <a:buSzPts val="1000"/>
              <a:buFont typeface="Arial" panose="020B0604020202020204" pitchFamily="34" charset="0"/>
              <a:buChar char="•"/>
            </a:pPr>
            <a:r>
              <a:rPr lang="fr-FR" sz="1000" b="0" i="0" dirty="0">
                <a:solidFill>
                  <a:srgbClr val="0D0D0D"/>
                </a:solidFill>
                <a:effectLst/>
              </a:rPr>
              <a:t>Business analyste au sein des équipes IT Liquidité </a:t>
            </a:r>
            <a:r>
              <a:rPr lang="fr-FR" sz="1000" b="0" i="0" dirty="0" err="1">
                <a:solidFill>
                  <a:srgbClr val="0D0D0D"/>
                </a:solidFill>
                <a:effectLst/>
              </a:rPr>
              <a:t>Steering</a:t>
            </a:r>
            <a:r>
              <a:rPr lang="fr-FR" sz="1000" b="0" i="0" dirty="0">
                <a:solidFill>
                  <a:srgbClr val="0D0D0D"/>
                </a:solidFill>
                <a:effectLst/>
              </a:rPr>
              <a:t> Groupe, en charge des métriques de pilotage</a:t>
            </a:r>
          </a:p>
          <a:p>
            <a:pPr marL="0" marR="0" lvl="0" indent="0" algn="l" defTabSz="914400" rtl="0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000" b="0" i="0" u="none" strike="noStrike" kern="1200" cap="none" spc="0" baseline="0" dirty="0">
              <a:solidFill>
                <a:srgbClr val="353637"/>
              </a:solidFill>
              <a:uFillTx/>
              <a:latin typeface="Arial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00" b="1" dirty="0">
                <a:solidFill>
                  <a:srgbClr val="43A2BF"/>
                </a:solidFill>
                <a:latin typeface="Arial"/>
                <a:sym typeface="Arial"/>
              </a:rPr>
              <a:t>Banque </a:t>
            </a:r>
            <a:r>
              <a:rPr lang="en-US" sz="1000" b="1" dirty="0" err="1">
                <a:solidFill>
                  <a:srgbClr val="43A2BF"/>
                </a:solidFill>
                <a:latin typeface="Arial"/>
                <a:sym typeface="Arial"/>
              </a:rPr>
              <a:t>internationale</a:t>
            </a:r>
            <a:r>
              <a:rPr lang="en-US" sz="1000" b="1" dirty="0">
                <a:solidFill>
                  <a:srgbClr val="43A2BF"/>
                </a:solidFill>
                <a:latin typeface="Arial"/>
                <a:sym typeface="Arial"/>
              </a:rPr>
              <a:t> FR </a:t>
            </a:r>
            <a:r>
              <a:rPr lang="en-GB" sz="1000" b="1" i="0" u="none" strike="noStrike" kern="1200" cap="none" spc="0" baseline="0" dirty="0">
                <a:solidFill>
                  <a:srgbClr val="43A2BF"/>
                </a:solidFill>
                <a:uFillTx/>
                <a:latin typeface="Arial"/>
              </a:rPr>
              <a:t>– MOA </a:t>
            </a:r>
            <a:r>
              <a:rPr lang="en-GB" sz="1000" b="1" i="0" u="none" strike="noStrike" kern="1200" cap="none" spc="0" baseline="0" dirty="0" err="1">
                <a:solidFill>
                  <a:srgbClr val="43A2BF"/>
                </a:solidFill>
                <a:uFillTx/>
                <a:latin typeface="Arial"/>
              </a:rPr>
              <a:t>Projet</a:t>
            </a:r>
            <a:r>
              <a:rPr lang="en-GB" sz="1000" b="1" i="0" u="none" strike="noStrike" kern="1200" cap="none" spc="0" baseline="0" dirty="0">
                <a:solidFill>
                  <a:srgbClr val="43A2BF"/>
                </a:solidFill>
                <a:uFillTx/>
                <a:latin typeface="Arial"/>
              </a:rPr>
              <a:t> PALMA </a:t>
            </a:r>
            <a:r>
              <a:rPr lang="fr-FR" sz="1000" b="1" i="0" u="none" strike="noStrike" kern="1200" cap="none" spc="0" baseline="0" dirty="0">
                <a:solidFill>
                  <a:srgbClr val="43A2BF"/>
                </a:solidFill>
                <a:uFillTx/>
                <a:latin typeface="Arial"/>
              </a:rPr>
              <a:t>(30 mois)</a:t>
            </a:r>
          </a:p>
          <a:p>
            <a:pPr>
              <a:lnSpc>
                <a:spcPct val="110000"/>
              </a:lnSpc>
              <a:buClr>
                <a:schemeClr val="accent1"/>
              </a:buClr>
              <a:buSzPts val="1000"/>
            </a:pPr>
            <a:r>
              <a:rPr lang="fr-FR" sz="1000" dirty="0">
                <a:solidFill>
                  <a:srgbClr val="0D0D0D"/>
                </a:solidFill>
              </a:rPr>
              <a:t>Projet d’intégration d’un progicielle ALM (Moody’s </a:t>
            </a:r>
            <a:r>
              <a:rPr lang="fr-FR" sz="1000" dirty="0" err="1">
                <a:solidFill>
                  <a:srgbClr val="0D0D0D"/>
                </a:solidFill>
              </a:rPr>
              <a:t>RiskConfidence</a:t>
            </a:r>
            <a:r>
              <a:rPr lang="fr-FR" sz="1000" dirty="0">
                <a:solidFill>
                  <a:srgbClr val="0D0D0D"/>
                </a:solidFill>
              </a:rPr>
              <a:t>) en tant que MOA</a:t>
            </a:r>
          </a:p>
          <a:p>
            <a:pPr marL="171450" indent="-171450">
              <a:lnSpc>
                <a:spcPct val="110000"/>
              </a:lnSpc>
              <a:buClr>
                <a:schemeClr val="accent1"/>
              </a:buClr>
              <a:buSzPts val="1000"/>
              <a:buFont typeface="Arial" panose="020B0604020202020204" pitchFamily="34" charset="0"/>
              <a:buChar char="•"/>
            </a:pPr>
            <a:r>
              <a:rPr lang="fr-FR" sz="1000" dirty="0">
                <a:solidFill>
                  <a:srgbClr val="0D0D0D"/>
                </a:solidFill>
              </a:rPr>
              <a:t>Revue et validation du modèle de données &amp; conception de solution (équipe modèle/gestionnaire ALM) </a:t>
            </a:r>
          </a:p>
          <a:p>
            <a:pPr marL="171450" indent="-171450">
              <a:lnSpc>
                <a:spcPct val="110000"/>
              </a:lnSpc>
              <a:buClr>
                <a:schemeClr val="accent1"/>
              </a:buClr>
              <a:buSzPts val="1000"/>
              <a:buFont typeface="Arial" panose="020B0604020202020204" pitchFamily="34" charset="0"/>
              <a:buChar char="•"/>
            </a:pPr>
            <a:r>
              <a:rPr lang="fr-FR" sz="1000" dirty="0">
                <a:solidFill>
                  <a:srgbClr val="0D0D0D"/>
                </a:solidFill>
              </a:rPr>
              <a:t>Paramétrage des modèles dans le progiciel (Modèles découlement, Remboursements Anticipés, calcul des TCI par composante, paramétrage du dynamique, modèles de production nouvelle)</a:t>
            </a:r>
          </a:p>
          <a:p>
            <a:pPr marL="0" marR="0" lvl="0" indent="0" algn="l" defTabSz="914400" rtl="0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000" b="0" i="0" u="none" strike="noStrike" kern="1200" cap="none" spc="0" baseline="0" dirty="0">
              <a:solidFill>
                <a:srgbClr val="353637"/>
              </a:solidFill>
              <a:uFillTx/>
              <a:latin typeface="Arial"/>
            </a:endParaRPr>
          </a:p>
          <a:p>
            <a:pPr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000" b="1" dirty="0">
                <a:solidFill>
                  <a:srgbClr val="43A2BF"/>
                </a:solidFill>
                <a:latin typeface="Arial"/>
              </a:rPr>
              <a:t>Banque internationale FR  </a:t>
            </a:r>
            <a:r>
              <a:rPr lang="en-GB" sz="1000" b="1" i="0" u="none" strike="noStrike" kern="1200" cap="none" spc="0" baseline="0" dirty="0">
                <a:solidFill>
                  <a:srgbClr val="43A2BF"/>
                </a:solidFill>
                <a:uFillTx/>
                <a:latin typeface="Arial"/>
              </a:rPr>
              <a:t>– </a:t>
            </a:r>
            <a:r>
              <a:rPr lang="fr-FR" sz="1000" b="1" dirty="0">
                <a:solidFill>
                  <a:srgbClr val="43A2BF"/>
                </a:solidFill>
                <a:latin typeface="Arial"/>
              </a:rPr>
              <a:t>PMO Projet SMAC (24 mois)</a:t>
            </a:r>
            <a:endParaRPr lang="en-US" sz="1000" b="1" dirty="0">
              <a:solidFill>
                <a:srgbClr val="43A2BF"/>
              </a:solidFill>
              <a:latin typeface="Arial"/>
            </a:endParaRPr>
          </a:p>
          <a:p>
            <a:pPr>
              <a:lnSpc>
                <a:spcPct val="110000"/>
              </a:lnSpc>
              <a:buClr>
                <a:schemeClr val="accent1"/>
              </a:buClr>
              <a:buSzPts val="1000"/>
            </a:pPr>
            <a:r>
              <a:rPr lang="fr-FR" sz="1000" dirty="0">
                <a:solidFill>
                  <a:srgbClr val="0D0D0D"/>
                </a:solidFill>
              </a:rPr>
              <a:t>PMO sur une mission d’offshoring des activités MOA/MOE Finance (comptable et réglementaire) </a:t>
            </a:r>
          </a:p>
          <a:p>
            <a:pPr marL="171450" indent="-171450">
              <a:lnSpc>
                <a:spcPct val="110000"/>
              </a:lnSpc>
              <a:buClr>
                <a:schemeClr val="accent1"/>
              </a:buClr>
              <a:buSzPts val="1000"/>
              <a:buFont typeface="Arial" panose="020B0604020202020204" pitchFamily="34" charset="0"/>
              <a:buChar char="•"/>
            </a:pPr>
            <a:r>
              <a:rPr lang="fr-FR" sz="1000" dirty="0">
                <a:solidFill>
                  <a:srgbClr val="0D0D0D"/>
                </a:solidFill>
              </a:rPr>
              <a:t>Pilotage de la transition, évaluation des projets à la reprise, planification, budget, suivi contractuel</a:t>
            </a:r>
          </a:p>
          <a:p>
            <a:pPr marL="171450" indent="-171450">
              <a:lnSpc>
                <a:spcPct val="110000"/>
              </a:lnSpc>
              <a:buClr>
                <a:schemeClr val="accent1"/>
              </a:buClr>
              <a:buSzPts val="1000"/>
              <a:buFont typeface="Arial" panose="020B0604020202020204" pitchFamily="34" charset="0"/>
              <a:buChar char="•"/>
            </a:pPr>
            <a:endParaRPr lang="fr-FR" sz="1000" dirty="0">
              <a:solidFill>
                <a:srgbClr val="0D0D0D"/>
              </a:solidFill>
            </a:endParaRPr>
          </a:p>
        </p:txBody>
      </p:sp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263BFF34-2FDE-0F16-0FA0-99D7DCAAD6B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A234AAA3-D3BD-4DCA-8674-DDCEC63B7531}" type="datetime1">
              <a:rPr lang="fr-FR" smtClean="0"/>
              <a:t>03/04/2025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F18E6C44-B8B2-DFBE-F6FF-27BC0098D52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fr-FR" dirty="0"/>
              <a:t>AMITA CONSEIL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6EC5BE4-9D85-8589-7F81-D639F76A05C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D9892E7-E91F-405F-A6AB-FE5AB3285265}" type="slidenum">
              <a:rPr lang="fr-FR" smtClean="0"/>
              <a:pPr/>
              <a:t>1</a:t>
            </a:fld>
            <a:endParaRPr lang="fr-FR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10ED7D2-0817-34E4-AA65-28CAB2ADE35A}"/>
              </a:ext>
            </a:extLst>
          </p:cNvPr>
          <p:cNvSpPr/>
          <p:nvPr/>
        </p:nvSpPr>
        <p:spPr>
          <a:xfrm>
            <a:off x="380995" y="3760698"/>
            <a:ext cx="3579429" cy="11712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marL="171450" indent="-17145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fr-FR" sz="1000" dirty="0">
                <a:solidFill>
                  <a:schemeClr val="bg1"/>
                </a:solidFill>
              </a:rPr>
              <a:t>Pilotage de projets</a:t>
            </a:r>
          </a:p>
          <a:p>
            <a:pPr marL="171450" indent="-17145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fr-FR" sz="1000" dirty="0">
                <a:solidFill>
                  <a:schemeClr val="bg1"/>
                </a:solidFill>
              </a:rPr>
              <a:t>ALM (risque de taux, liquidité)</a:t>
            </a:r>
          </a:p>
          <a:p>
            <a:pPr marL="171450" indent="-17145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fr-FR" sz="1000" dirty="0">
                <a:solidFill>
                  <a:schemeClr val="bg1"/>
                </a:solidFill>
              </a:rPr>
              <a:t>Processus Finance</a:t>
            </a:r>
          </a:p>
          <a:p>
            <a:pPr marL="171450" indent="-17145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fr-FR" sz="1000" dirty="0">
                <a:solidFill>
                  <a:schemeClr val="bg1"/>
                </a:solidFill>
              </a:rPr>
              <a:t>Comptabilité et réglementaire</a:t>
            </a:r>
          </a:p>
          <a:p>
            <a:pPr marL="171450" indent="-17145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fr-FR" sz="1000" dirty="0" err="1">
                <a:solidFill>
                  <a:schemeClr val="bg1"/>
                </a:solidFill>
              </a:rPr>
              <a:t>Procurement</a:t>
            </a:r>
            <a:endParaRPr lang="fr-FR" sz="1000" dirty="0">
              <a:solidFill>
                <a:schemeClr val="bg1"/>
              </a:solidFill>
            </a:endParaRPr>
          </a:p>
          <a:p>
            <a:pPr marL="171450" indent="-17145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fr-FR" sz="1000" dirty="0">
                <a:solidFill>
                  <a:schemeClr val="bg1"/>
                </a:solidFill>
              </a:rPr>
              <a:t>Accompagnement du changement</a:t>
            </a:r>
          </a:p>
          <a:p>
            <a:pPr marL="171450" indent="-17145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fr-FR" sz="1000" dirty="0">
                <a:solidFill>
                  <a:schemeClr val="bg1"/>
                </a:solidFill>
              </a:rPr>
              <a:t>Pilotage de programme (méthode Agile et cycle en V) </a:t>
            </a:r>
          </a:p>
          <a:p>
            <a:pPr marL="171450" indent="-17145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fr-FR" sz="1000" dirty="0">
                <a:solidFill>
                  <a:schemeClr val="bg1"/>
                </a:solidFill>
              </a:rPr>
              <a:t>Mise en place de centre de service</a:t>
            </a:r>
          </a:p>
          <a:p>
            <a:pPr marL="171450" indent="-17145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fr-FR" sz="1000" dirty="0">
                <a:solidFill>
                  <a:schemeClr val="bg1"/>
                </a:solidFill>
              </a:rPr>
              <a:t>Etude de faisabilité</a:t>
            </a:r>
          </a:p>
          <a:p>
            <a:pPr marL="171450" indent="-17145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fr-FR" sz="1000" dirty="0">
                <a:solidFill>
                  <a:schemeClr val="bg1"/>
                </a:solidFill>
              </a:rPr>
              <a:t>Cadrage &amp; Maitrise d’ouvrage</a:t>
            </a:r>
          </a:p>
          <a:p>
            <a:pPr marL="171450" indent="-17145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fr-FR" sz="1000" dirty="0">
                <a:solidFill>
                  <a:schemeClr val="bg1"/>
                </a:solidFill>
              </a:rPr>
              <a:t>Conduite du changement</a:t>
            </a:r>
          </a:p>
          <a:p>
            <a:pPr marL="171450" indent="-17145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fr-FR" sz="1000" dirty="0">
                <a:solidFill>
                  <a:schemeClr val="bg1"/>
                </a:solidFill>
              </a:rPr>
              <a:t>IT</a:t>
            </a:r>
          </a:p>
          <a:p>
            <a:pPr marL="171450" indent="-17145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fr-FR" sz="1000" dirty="0">
                <a:solidFill>
                  <a:schemeClr val="bg1"/>
                </a:solidFill>
              </a:rPr>
              <a:t>Programme d’intégration de SI </a:t>
            </a:r>
          </a:p>
          <a:p>
            <a:pPr marL="171450" indent="-17145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fr-FR" sz="1000" dirty="0">
                <a:solidFill>
                  <a:schemeClr val="bg1"/>
                </a:solidFill>
              </a:rPr>
              <a:t>Gestion de relation éditeurs de software</a:t>
            </a:r>
          </a:p>
          <a:p>
            <a:pPr marL="171450" indent="-17145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fr-FR" sz="1000" dirty="0">
                <a:solidFill>
                  <a:schemeClr val="bg1"/>
                </a:solidFill>
              </a:rPr>
              <a:t>Conseil technologique (RPA, IA)</a:t>
            </a:r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3C016A55-C40C-4303-7391-582EC3D279B8}"/>
              </a:ext>
            </a:extLst>
          </p:cNvPr>
          <p:cNvSpPr/>
          <p:nvPr/>
        </p:nvSpPr>
        <p:spPr>
          <a:xfrm>
            <a:off x="666217" y="709314"/>
            <a:ext cx="1131076" cy="1116676"/>
          </a:xfrm>
          <a:prstGeom prst="ellipse">
            <a:avLst/>
          </a:prstGeom>
          <a:noFill/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fr-FR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DA58CDB-0089-2305-03DB-BCBFAB23D67A}"/>
              </a:ext>
            </a:extLst>
          </p:cNvPr>
          <p:cNvSpPr/>
          <p:nvPr/>
        </p:nvSpPr>
        <p:spPr>
          <a:xfrm>
            <a:off x="368572" y="5206378"/>
            <a:ext cx="3570437" cy="11712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marL="171450" indent="-17145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fr-FR" sz="1000" dirty="0">
                <a:solidFill>
                  <a:schemeClr val="bg1"/>
                </a:solidFill>
              </a:rPr>
              <a:t>Méthode Agile</a:t>
            </a:r>
          </a:p>
          <a:p>
            <a:pPr marL="171450" indent="-17145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fr-FR" sz="1000" dirty="0">
                <a:solidFill>
                  <a:schemeClr val="bg1"/>
                </a:solidFill>
              </a:rPr>
              <a:t>ALM : Risk confidence</a:t>
            </a:r>
          </a:p>
          <a:p>
            <a:pPr marL="171450" indent="-17145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fr-FR" sz="1000" dirty="0">
                <a:solidFill>
                  <a:schemeClr val="bg1"/>
                </a:solidFill>
              </a:rPr>
              <a:t>ERP SAP (module Achat)</a:t>
            </a:r>
          </a:p>
          <a:p>
            <a:pPr marL="171450" indent="-17145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fr-FR" sz="1000" dirty="0">
                <a:solidFill>
                  <a:schemeClr val="bg1"/>
                </a:solidFill>
              </a:rPr>
              <a:t>RPA (</a:t>
            </a:r>
            <a:r>
              <a:rPr lang="fr-FR" sz="1000" dirty="0" err="1">
                <a:solidFill>
                  <a:schemeClr val="bg1"/>
                </a:solidFill>
              </a:rPr>
              <a:t>Robotics</a:t>
            </a:r>
            <a:r>
              <a:rPr lang="fr-FR" sz="1000" dirty="0">
                <a:solidFill>
                  <a:schemeClr val="bg1"/>
                </a:solidFill>
              </a:rPr>
              <a:t>) : </a:t>
            </a:r>
            <a:r>
              <a:rPr lang="fr-FR" sz="1000" dirty="0" err="1">
                <a:solidFill>
                  <a:schemeClr val="bg1"/>
                </a:solidFill>
              </a:rPr>
              <a:t>Blueprism</a:t>
            </a:r>
            <a:r>
              <a:rPr lang="fr-FR" sz="1000" dirty="0">
                <a:solidFill>
                  <a:schemeClr val="bg1"/>
                </a:solidFill>
              </a:rPr>
              <a:t>, Automation </a:t>
            </a:r>
            <a:r>
              <a:rPr lang="fr-FR" sz="1000" dirty="0" err="1">
                <a:solidFill>
                  <a:schemeClr val="bg1"/>
                </a:solidFill>
              </a:rPr>
              <a:t>Anywhere</a:t>
            </a:r>
            <a:r>
              <a:rPr lang="fr-FR" sz="1000" dirty="0">
                <a:solidFill>
                  <a:schemeClr val="bg1"/>
                </a:solidFill>
              </a:rPr>
              <a:t>, </a:t>
            </a:r>
            <a:r>
              <a:rPr lang="fr-FR" sz="1000" dirty="0" err="1">
                <a:solidFill>
                  <a:schemeClr val="bg1"/>
                </a:solidFill>
              </a:rPr>
              <a:t>Uipath</a:t>
            </a:r>
            <a:endParaRPr lang="fr-FR" sz="1000" dirty="0">
              <a:solidFill>
                <a:schemeClr val="bg1"/>
              </a:solidFill>
            </a:endParaRPr>
          </a:p>
        </p:txBody>
      </p:sp>
      <p:pic>
        <p:nvPicPr>
          <p:cNvPr id="47" name="Image 46" descr="Une image contenant personne, homme, mur, complet&#10;&#10;Description générée automatiquement">
            <a:extLst>
              <a:ext uri="{FF2B5EF4-FFF2-40B4-BE49-F238E27FC236}">
                <a16:creationId xmlns:a16="http://schemas.microsoft.com/office/drawing/2014/main" id="{7433AFBA-B87F-F7DE-43A6-400831E09E1D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0090" r="11331"/>
          <a:stretch/>
        </p:blipFill>
        <p:spPr>
          <a:xfrm>
            <a:off x="368572" y="557385"/>
            <a:ext cx="1069054" cy="1360476"/>
          </a:xfrm>
          <a:prstGeom prst="rect">
            <a:avLst/>
          </a:prstGeom>
        </p:spPr>
      </p:pic>
      <p:sp>
        <p:nvSpPr>
          <p:cNvPr id="48" name="ZoneTexte 47">
            <a:extLst>
              <a:ext uri="{FF2B5EF4-FFF2-40B4-BE49-F238E27FC236}">
                <a16:creationId xmlns:a16="http://schemas.microsoft.com/office/drawing/2014/main" id="{83D17651-3B3A-A8A5-DD90-007B18392C69}"/>
              </a:ext>
            </a:extLst>
          </p:cNvPr>
          <p:cNvSpPr txBox="1"/>
          <p:nvPr/>
        </p:nvSpPr>
        <p:spPr>
          <a:xfrm rot="840714">
            <a:off x="9475280" y="61988"/>
            <a:ext cx="1871025" cy="646331"/>
          </a:xfrm>
          <a:prstGeom prst="rect">
            <a:avLst/>
          </a:prstGeom>
          <a:solidFill>
            <a:srgbClr val="C00000"/>
          </a:solidFill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Photo</a:t>
            </a:r>
          </a:p>
          <a:p>
            <a:r>
              <a:rPr lang="fr-FR" dirty="0">
                <a:solidFill>
                  <a:schemeClr val="bg1"/>
                </a:solidFill>
              </a:rPr>
              <a:t>nom </a:t>
            </a:r>
            <a:r>
              <a:rPr lang="fr-FR" dirty="0" err="1">
                <a:solidFill>
                  <a:schemeClr val="bg1"/>
                </a:solidFill>
              </a:rPr>
              <a:t>client+logo</a:t>
            </a:r>
            <a:r>
              <a:rPr lang="fr-FR" dirty="0">
                <a:solidFill>
                  <a:schemeClr val="bg1"/>
                </a:solidFill>
              </a:rPr>
              <a:t> </a:t>
            </a:r>
          </a:p>
        </p:txBody>
      </p:sp>
      <p:pic>
        <p:nvPicPr>
          <p:cNvPr id="49" name="Picture 2" descr="Profile for Crédit Agricole Corporate &amp; Investment Bank (Crédit Agricole  CIB)">
            <a:extLst>
              <a:ext uri="{FF2B5EF4-FFF2-40B4-BE49-F238E27FC236}">
                <a16:creationId xmlns:a16="http://schemas.microsoft.com/office/drawing/2014/main" id="{A5F3F60B-6441-3E33-7E86-7A2E1E6A83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22808" y="2379506"/>
            <a:ext cx="591033" cy="5910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0" name="Picture 2" descr="Arkea - ND">
            <a:extLst>
              <a:ext uri="{FF2B5EF4-FFF2-40B4-BE49-F238E27FC236}">
                <a16:creationId xmlns:a16="http://schemas.microsoft.com/office/drawing/2014/main" id="{55F4E361-1742-C80B-6BAF-DD42EC6159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3084" y="3408048"/>
            <a:ext cx="469949" cy="4699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" name="Picture 4" descr="Natixis rejoint le projet R3 - bitcoin.fr">
            <a:extLst>
              <a:ext uri="{FF2B5EF4-FFF2-40B4-BE49-F238E27FC236}">
                <a16:creationId xmlns:a16="http://schemas.microsoft.com/office/drawing/2014/main" id="{B05E1526-8E40-E1D3-778A-F30C46A76F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8440" y="4212317"/>
            <a:ext cx="464593" cy="4645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2" name="Picture 6" descr="Société Générale - France Active">
            <a:extLst>
              <a:ext uri="{FF2B5EF4-FFF2-40B4-BE49-F238E27FC236}">
                <a16:creationId xmlns:a16="http://schemas.microsoft.com/office/drawing/2014/main" id="{F037F5CB-6AB3-EE2C-A758-79443E942A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25256" y="5370519"/>
            <a:ext cx="562513" cy="2812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218835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9B56EC-8377-DD3B-7366-E6774F8054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3466083A-4698-69D3-71D1-586ACEB72BB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3149479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4" imgW="245" imgH="245" progId="TCLayout.ActiveDocument.1">
                  <p:embed/>
                </p:oleObj>
              </mc:Choice>
              <mc:Fallback>
                <p:oleObj name="Diapositive think-cell" r:id="rId4" imgW="245" imgH="245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466083A-4698-69D3-71D1-586ACEB72BB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Tableau 8">
            <a:extLst>
              <a:ext uri="{FF2B5EF4-FFF2-40B4-BE49-F238E27FC236}">
                <a16:creationId xmlns:a16="http://schemas.microsoft.com/office/drawing/2014/main" id="{A3A19647-FD7D-E123-3162-76D42B52E86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89387549"/>
              </p:ext>
            </p:extLst>
          </p:nvPr>
        </p:nvGraphicFramePr>
        <p:xfrm>
          <a:off x="370870" y="1984675"/>
          <a:ext cx="11430002" cy="253972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85530">
                  <a:extLst>
                    <a:ext uri="{9D8B030D-6E8A-4147-A177-3AD203B41FA5}">
                      <a16:colId xmlns:a16="http://schemas.microsoft.com/office/drawing/2014/main" val="2333855390"/>
                    </a:ext>
                  </a:extLst>
                </a:gridCol>
                <a:gridCol w="3598671">
                  <a:extLst>
                    <a:ext uri="{9D8B030D-6E8A-4147-A177-3AD203B41FA5}">
                      <a16:colId xmlns:a16="http://schemas.microsoft.com/office/drawing/2014/main" val="3211500849"/>
                    </a:ext>
                  </a:extLst>
                </a:gridCol>
                <a:gridCol w="6145801">
                  <a:extLst>
                    <a:ext uri="{9D8B030D-6E8A-4147-A177-3AD203B41FA5}">
                      <a16:colId xmlns:a16="http://schemas.microsoft.com/office/drawing/2014/main" val="344341077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200" b="1" noProof="0" dirty="0"/>
                        <a:t>CLIENT / PROJET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200" b="1" noProof="0" dirty="0"/>
                        <a:t>CONTEXTE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200" b="1" noProof="0"/>
                        <a:t>RÔLE ET RÉALISATIONS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25442695"/>
                  </a:ext>
                </a:extLst>
              </a:tr>
              <a:tr h="369054">
                <a:tc>
                  <a:txBody>
                    <a:bodyPr/>
                    <a:lstStyle/>
                    <a:p>
                      <a:pPr marL="0" algn="l" defTabSz="557240" rtl="0" eaLnBrk="1" latinLnBrk="0" hangingPunct="1"/>
                      <a:r>
                        <a:rPr lang="fr-FR" sz="1050" b="1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Banque internationale </a:t>
                      </a:r>
                    </a:p>
                    <a:p>
                      <a:pPr marL="0" algn="l" defTabSz="557240" rtl="0" eaLnBrk="1" latinLnBrk="0" hangingPunct="1"/>
                      <a:r>
                        <a:rPr lang="fr-FR" sz="1000" b="0" i="1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Programme XX</a:t>
                      </a:r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000" spc="-1" noProof="1">
                          <a:solidFill>
                            <a:schemeClr val="tx1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</a:rPr>
                        <a:t>XX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None/>
                        <a:tabLst>
                          <a:tab pos="177800" algn="l"/>
                        </a:tabLst>
                        <a:defRPr/>
                      </a:pPr>
                      <a:r>
                        <a:rPr lang="fr-FR" sz="10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INTITULE POSTE (XX mois) 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buChar char="•"/>
                        <a:tabLst>
                          <a:tab pos="177800" algn="l"/>
                        </a:tabLst>
                        <a:defRPr/>
                      </a:pPr>
                      <a:r>
                        <a:rPr lang="fr-FR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Mise en place d’un centre de service interne Fonction comptabilité fournisseur : TOM, analyse et revue des processus, plan de formation, planification du transfert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buChar char="•"/>
                        <a:tabLst>
                          <a:tab pos="177800" algn="l"/>
                        </a:tabLst>
                        <a:defRPr/>
                      </a:pPr>
                      <a:r>
                        <a:rPr lang="fr-FR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Etude d’opportunité RPA et déploiement sur le périmètre Finance Groupe: validation des opportunités, revue de processus, business case, pilotage du </a:t>
                      </a:r>
                      <a:r>
                        <a:rPr lang="fr-FR" sz="10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delivery</a:t>
                      </a:r>
                      <a:endParaRPr lang="fr-FR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buChar char="•"/>
                        <a:tabLst>
                          <a:tab pos="177800" algn="l"/>
                        </a:tabLst>
                        <a:defRPr/>
                      </a:pPr>
                      <a:r>
                        <a:rPr lang="fr-FR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POC IA sur le traitement et la comptabilisation des factures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buNone/>
                        <a:tabLst>
                          <a:tab pos="177800" algn="l"/>
                        </a:tabLst>
                        <a:defRPr/>
                      </a:pPr>
                      <a:endParaRPr lang="fr-FR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8204035"/>
                  </a:ext>
                </a:extLst>
              </a:tr>
              <a:tr h="369054">
                <a:tc>
                  <a:txBody>
                    <a:bodyPr/>
                    <a:lstStyle/>
                    <a:p>
                      <a:pPr marL="0" algn="l" defTabSz="557240" rtl="0" eaLnBrk="1" latinLnBrk="0" hangingPunct="1"/>
                      <a:endParaRPr lang="fr-FR" sz="1000" b="1" i="1" kern="1200" noProof="0" dirty="0">
                        <a:solidFill>
                          <a:schemeClr val="accent3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fr-FR" sz="1000" spc="-1" noProof="1">
                        <a:uFill>
                          <a:solidFill>
                            <a:srgbClr val="FFFFFF"/>
                          </a:solidFill>
                        </a:u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Pct val="100000"/>
                        <a:buFontTx/>
                        <a:buNone/>
                        <a:tabLst/>
                        <a:defRPr/>
                      </a:pPr>
                      <a:endParaRPr lang="fr-FR" sz="1000" kern="1200" noProof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11582527"/>
                  </a:ext>
                </a:extLst>
              </a:tr>
              <a:tr h="369054">
                <a:tc>
                  <a:txBody>
                    <a:bodyPr/>
                    <a:lstStyle/>
                    <a:p>
                      <a:pPr marL="0" algn="l" defTabSz="557240" rtl="0" eaLnBrk="1" latinLnBrk="0" hangingPunct="1"/>
                      <a:endParaRPr lang="fr-FR" sz="1000" b="0" i="1" kern="1200" noProof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fr-FR" sz="1000" spc="-1" noProof="1">
                        <a:uFill>
                          <a:solidFill>
                            <a:srgbClr val="FFFFFF"/>
                          </a:solidFill>
                        </a:u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buNone/>
                        <a:tabLst>
                          <a:tab pos="177800" algn="l"/>
                        </a:tabLst>
                        <a:defRPr/>
                      </a:pPr>
                      <a:endParaRPr lang="fr-FR" sz="10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15008799"/>
                  </a:ext>
                </a:extLst>
              </a:tr>
              <a:tr h="369054">
                <a:tc>
                  <a:txBody>
                    <a:bodyPr/>
                    <a:lstStyle/>
                    <a:p>
                      <a:pPr marL="0" algn="l" defTabSz="557240" rtl="0" eaLnBrk="1" latinLnBrk="0" hangingPunct="1"/>
                      <a:endParaRPr lang="fr-FR" sz="850" b="1" i="1" kern="1200" noProof="0" dirty="0">
                        <a:solidFill>
                          <a:schemeClr val="accent3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5724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None/>
                        <a:tabLst>
                          <a:tab pos="177800" algn="l"/>
                        </a:tabLst>
                        <a:defRPr/>
                      </a:pPr>
                      <a:endParaRPr lang="fr-FR" sz="1000" kern="1200" spc="-1" noProof="0" dirty="0">
                        <a:solidFill>
                          <a:schemeClr val="tx1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buNone/>
                        <a:tabLst>
                          <a:tab pos="177800" algn="l"/>
                        </a:tabLst>
                        <a:defRPr/>
                      </a:pPr>
                      <a:endParaRPr lang="fr-FR" sz="10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74134674"/>
                  </a:ext>
                </a:extLst>
              </a:tr>
            </a:tbl>
          </a:graphicData>
        </a:graphic>
      </p:graphicFrame>
      <p:sp>
        <p:nvSpPr>
          <p:cNvPr id="2" name="Titre 1">
            <a:extLst>
              <a:ext uri="{FF2B5EF4-FFF2-40B4-BE49-F238E27FC236}">
                <a16:creationId xmlns:a16="http://schemas.microsoft.com/office/drawing/2014/main" id="{B6399308-A61A-08DD-CE08-E7F6C1E3AB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fr-FR" noProof="0" dirty="0"/>
              <a:t>MARTIN NAOURI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0A296820-E9A1-5D9A-A12E-A64B0EF80F4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E9517EC-C298-4848-B090-11602D956FCE}" type="slidenum">
              <a:rPr lang="fr-FR" noProof="0" smtClean="0"/>
              <a:pPr/>
              <a:t>2</a:t>
            </a:fld>
            <a:endParaRPr lang="fr-FR" noProof="0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5384F8A-E0B2-68D9-E963-C05500981BDA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05EECF77-BC25-41C0-A0EF-6A4B97F069C1}" type="datetime1">
              <a:rPr lang="fr-FR" noProof="0" smtClean="0"/>
              <a:t>27/03/2025</a:t>
            </a:fld>
            <a:endParaRPr lang="fr-FR" noProof="0"/>
          </a:p>
        </p:txBody>
      </p:sp>
      <p:sp>
        <p:nvSpPr>
          <p:cNvPr id="15" name="Forme libre : forme 14">
            <a:extLst>
              <a:ext uri="{FF2B5EF4-FFF2-40B4-BE49-F238E27FC236}">
                <a16:creationId xmlns:a16="http://schemas.microsoft.com/office/drawing/2014/main" id="{7011D353-CB76-5330-72E0-1640B4E140BF}"/>
              </a:ext>
            </a:extLst>
          </p:cNvPr>
          <p:cNvSpPr/>
          <p:nvPr/>
        </p:nvSpPr>
        <p:spPr>
          <a:xfrm>
            <a:off x="380995" y="1332000"/>
            <a:ext cx="5715005" cy="360000"/>
          </a:xfrm>
          <a:custGeom>
            <a:avLst/>
            <a:gdLst>
              <a:gd name="connsiteX0" fmla="*/ 0 w 5193356"/>
              <a:gd name="connsiteY0" fmla="*/ 0 h 449448"/>
              <a:gd name="connsiteX1" fmla="*/ 4980165 w 5193356"/>
              <a:gd name="connsiteY1" fmla="*/ 0 h 449448"/>
              <a:gd name="connsiteX2" fmla="*/ 4997252 w 5193356"/>
              <a:gd name="connsiteY2" fmla="*/ 0 h 449448"/>
              <a:gd name="connsiteX3" fmla="*/ 4997252 w 5193356"/>
              <a:gd name="connsiteY3" fmla="*/ 1816 h 449448"/>
              <a:gd name="connsiteX4" fmla="*/ 5023131 w 5193356"/>
              <a:gd name="connsiteY4" fmla="*/ 4566 h 449448"/>
              <a:gd name="connsiteX5" fmla="*/ 5193356 w 5193356"/>
              <a:gd name="connsiteY5" fmla="*/ 224724 h 449448"/>
              <a:gd name="connsiteX6" fmla="*/ 5023131 w 5193356"/>
              <a:gd name="connsiteY6" fmla="*/ 444883 h 449448"/>
              <a:gd name="connsiteX7" fmla="*/ 4997252 w 5193356"/>
              <a:gd name="connsiteY7" fmla="*/ 447632 h 449448"/>
              <a:gd name="connsiteX8" fmla="*/ 4997252 w 5193356"/>
              <a:gd name="connsiteY8" fmla="*/ 449447 h 449448"/>
              <a:gd name="connsiteX9" fmla="*/ 4980175 w 5193356"/>
              <a:gd name="connsiteY9" fmla="*/ 449447 h 449448"/>
              <a:gd name="connsiteX10" fmla="*/ 4980165 w 5193356"/>
              <a:gd name="connsiteY10" fmla="*/ 449448 h 449448"/>
              <a:gd name="connsiteX11" fmla="*/ 4980156 w 5193356"/>
              <a:gd name="connsiteY11" fmla="*/ 449447 h 449448"/>
              <a:gd name="connsiteX12" fmla="*/ 0 w 5193356"/>
              <a:gd name="connsiteY12" fmla="*/ 449447 h 4494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193356" h="449448">
                <a:moveTo>
                  <a:pt x="0" y="0"/>
                </a:moveTo>
                <a:lnTo>
                  <a:pt x="4980165" y="0"/>
                </a:lnTo>
                <a:lnTo>
                  <a:pt x="4997252" y="0"/>
                </a:lnTo>
                <a:lnTo>
                  <a:pt x="4997252" y="1816"/>
                </a:lnTo>
                <a:lnTo>
                  <a:pt x="5023131" y="4566"/>
                </a:lnTo>
                <a:cubicBezTo>
                  <a:pt x="5120278" y="25520"/>
                  <a:pt x="5193356" y="116126"/>
                  <a:pt x="5193356" y="224724"/>
                </a:cubicBezTo>
                <a:cubicBezTo>
                  <a:pt x="5193356" y="333322"/>
                  <a:pt x="5120278" y="423928"/>
                  <a:pt x="5023131" y="444883"/>
                </a:cubicBezTo>
                <a:lnTo>
                  <a:pt x="4997252" y="447632"/>
                </a:lnTo>
                <a:lnTo>
                  <a:pt x="4997252" y="449447"/>
                </a:lnTo>
                <a:lnTo>
                  <a:pt x="4980175" y="449447"/>
                </a:lnTo>
                <a:lnTo>
                  <a:pt x="4980165" y="449448"/>
                </a:lnTo>
                <a:lnTo>
                  <a:pt x="4980156" y="449447"/>
                </a:lnTo>
                <a:lnTo>
                  <a:pt x="0" y="449447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r>
              <a:rPr lang="fr-FR" sz="1200" b="1" ker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PRINCIPALES EXPÉRIENCES EN LIEN AVEC LA MISSION (SUITE)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FAD709F-5F89-99E7-FF88-A8501EB5827E}"/>
              </a:ext>
            </a:extLst>
          </p:cNvPr>
          <p:cNvSpPr/>
          <p:nvPr/>
        </p:nvSpPr>
        <p:spPr>
          <a:xfrm>
            <a:off x="12305039" y="0"/>
            <a:ext cx="2071025" cy="205285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100" dirty="0">
                <a:solidFill>
                  <a:schemeClr val="tx1"/>
                </a:solidFill>
              </a:rPr>
              <a:t>Nota : cette présentation en tableau devra être en cohérence avec la présentation des références mission AMITA (références courtes)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7C75D43-1D3B-B588-BA43-FE74C18EAF1C}"/>
              </a:ext>
            </a:extLst>
          </p:cNvPr>
          <p:cNvSpPr/>
          <p:nvPr/>
        </p:nvSpPr>
        <p:spPr>
          <a:xfrm>
            <a:off x="4862670" y="0"/>
            <a:ext cx="2071025" cy="33306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dirty="0">
                <a:solidFill>
                  <a:schemeClr val="tx1"/>
                </a:solidFill>
              </a:rPr>
              <a:t>CV détaillé</a:t>
            </a:r>
          </a:p>
        </p:txBody>
      </p:sp>
      <p:sp>
        <p:nvSpPr>
          <p:cNvPr id="9" name="Espace réservé du pied de page 8">
            <a:extLst>
              <a:ext uri="{FF2B5EF4-FFF2-40B4-BE49-F238E27FC236}">
                <a16:creationId xmlns:a16="http://schemas.microsoft.com/office/drawing/2014/main" id="{A90C2F6B-CD06-D986-FF18-237658CD360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fr-FR"/>
              <a:t>AMITA CONSEIL</a:t>
            </a:r>
          </a:p>
        </p:txBody>
      </p:sp>
    </p:spTree>
    <p:extLst>
      <p:ext uri="{BB962C8B-B14F-4D97-AF65-F5344CB8AC3E}">
        <p14:creationId xmlns:p14="http://schemas.microsoft.com/office/powerpoint/2010/main" val="28764251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48E4E6-0FB2-A25B-B3EC-B23D8B666B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B6813216-06A6-4E8A-62E2-80030942941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3" imgW="600" imgH="601" progId="TCLayout.ActiveDocument.1">
                  <p:embed/>
                </p:oleObj>
              </mc:Choice>
              <mc:Fallback>
                <p:oleObj name="Diapositive think-cell" r:id="rId3" imgW="600" imgH="601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4401277-41B0-E171-2C86-3D0217B7744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" name="Rectangle : coins arrondis 41">
            <a:extLst>
              <a:ext uri="{FF2B5EF4-FFF2-40B4-BE49-F238E27FC236}">
                <a16:creationId xmlns:a16="http://schemas.microsoft.com/office/drawing/2014/main" id="{24745F0F-6CC8-9EA2-44B3-613FFB4E16F4}"/>
              </a:ext>
            </a:extLst>
          </p:cNvPr>
          <p:cNvSpPr/>
          <p:nvPr/>
        </p:nvSpPr>
        <p:spPr>
          <a:xfrm>
            <a:off x="155576" y="491646"/>
            <a:ext cx="4002518" cy="5848828"/>
          </a:xfrm>
          <a:prstGeom prst="roundRect">
            <a:avLst>
              <a:gd name="adj" fmla="val 4261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ysClr val="windowText" lastClr="000000"/>
              </a:solidFill>
            </a:endParaRP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B54734BF-408B-A5A6-8E53-D384E930AF6A}"/>
              </a:ext>
            </a:extLst>
          </p:cNvPr>
          <p:cNvSpPr txBox="1"/>
          <p:nvPr/>
        </p:nvSpPr>
        <p:spPr>
          <a:xfrm>
            <a:off x="1363319" y="705962"/>
            <a:ext cx="2689966" cy="8463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fr-FR" sz="2400" cap="all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AN</a:t>
            </a:r>
          </a:p>
          <a:p>
            <a:r>
              <a:rPr lang="fr-FR" sz="1600" b="1" dirty="0">
                <a:solidFill>
                  <a:schemeClr val="tx2"/>
                </a:solidFill>
                <a:latin typeface="+mj-lt"/>
              </a:rPr>
              <a:t>CONSULTANT</a:t>
            </a:r>
            <a:endParaRPr lang="fr-FR" sz="900" b="1" dirty="0">
              <a:solidFill>
                <a:schemeClr val="tx2"/>
              </a:solidFill>
              <a:latin typeface="+mj-lt"/>
            </a:endParaRPr>
          </a:p>
          <a:p>
            <a:r>
              <a:rPr lang="fr-FR" sz="900" b="1" dirty="0">
                <a:solidFill>
                  <a:schemeClr val="tx2"/>
                </a:solidFill>
                <a:latin typeface="+mj-lt"/>
              </a:rPr>
              <a:t>2 ANS D’EXPÉRIENCE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2EF715D1-E2C0-623A-019B-795D0059A215}"/>
              </a:ext>
            </a:extLst>
          </p:cNvPr>
          <p:cNvSpPr txBox="1"/>
          <p:nvPr/>
        </p:nvSpPr>
        <p:spPr>
          <a:xfrm>
            <a:off x="4239096" y="705962"/>
            <a:ext cx="7571902" cy="93871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  <a:buClr>
                <a:schemeClr val="tx2"/>
              </a:buClr>
            </a:pPr>
            <a:r>
              <a:rPr lang="fr-FR" sz="1100" dirty="0"/>
              <a:t>AN est Data Consultant, avec 2 ans d’expérience dans le conseil. Rigoureux, il maîtrise l’analyse de données et la retranscription des besoins exprimés par les métiers en fonctionnalités adaptées, notamment en matière de data visualisation sous </a:t>
            </a:r>
            <a:r>
              <a:rPr lang="fr-FR" sz="1100" dirty="0" err="1"/>
              <a:t>PowerBI</a:t>
            </a:r>
            <a:r>
              <a:rPr lang="fr-FR" sz="1100" dirty="0"/>
              <a:t>. AN a pu participer sur un projet structurant de développement de modèles de données et de création  et déploiement de </a:t>
            </a:r>
            <a:r>
              <a:rPr lang="fr-FR" sz="1100" dirty="0" err="1"/>
              <a:t>dashboards</a:t>
            </a:r>
            <a:r>
              <a:rPr lang="fr-FR" sz="1100" dirty="0"/>
              <a:t> orientés vers différents besoins métiers de la </a:t>
            </a:r>
            <a:r>
              <a:rPr lang="fr-FR" sz="1100" dirty="0" err="1"/>
              <a:t>banque.Dynamique</a:t>
            </a:r>
            <a:r>
              <a:rPr lang="fr-FR" sz="1100" dirty="0"/>
              <a:t>, adaptable et professionnel, AN mènera à bien tous les projets qui lui seront confiés.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D91A36C-F664-7314-031B-E426B422B119}"/>
              </a:ext>
            </a:extLst>
          </p:cNvPr>
          <p:cNvSpPr/>
          <p:nvPr/>
        </p:nvSpPr>
        <p:spPr>
          <a:xfrm>
            <a:off x="368572" y="5288594"/>
            <a:ext cx="3582332" cy="84295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marL="171450" indent="-171450">
              <a:buClr>
                <a:schemeClr val="tx2"/>
              </a:buClr>
              <a:buFont typeface="Arial" panose="020B0604020202020204" pitchFamily="34" charset="0"/>
              <a:buChar char="•"/>
            </a:pPr>
            <a:endParaRPr lang="fr-FR" sz="1000" dirty="0">
              <a:solidFill>
                <a:schemeClr val="bg1"/>
              </a:solidFill>
            </a:endParaRPr>
          </a:p>
        </p:txBody>
      </p:sp>
      <p:sp>
        <p:nvSpPr>
          <p:cNvPr id="20" name="Forme libre : forme 19">
            <a:extLst>
              <a:ext uri="{FF2B5EF4-FFF2-40B4-BE49-F238E27FC236}">
                <a16:creationId xmlns:a16="http://schemas.microsoft.com/office/drawing/2014/main" id="{139950EA-6B3B-EF94-950C-387E90D2E13F}"/>
              </a:ext>
            </a:extLst>
          </p:cNvPr>
          <p:cNvSpPr/>
          <p:nvPr/>
        </p:nvSpPr>
        <p:spPr>
          <a:xfrm>
            <a:off x="152673" y="3326530"/>
            <a:ext cx="2419514" cy="360000"/>
          </a:xfrm>
          <a:custGeom>
            <a:avLst/>
            <a:gdLst>
              <a:gd name="connsiteX0" fmla="*/ 0 w 5193356"/>
              <a:gd name="connsiteY0" fmla="*/ 0 h 449448"/>
              <a:gd name="connsiteX1" fmla="*/ 4980165 w 5193356"/>
              <a:gd name="connsiteY1" fmla="*/ 0 h 449448"/>
              <a:gd name="connsiteX2" fmla="*/ 4997252 w 5193356"/>
              <a:gd name="connsiteY2" fmla="*/ 0 h 449448"/>
              <a:gd name="connsiteX3" fmla="*/ 4997252 w 5193356"/>
              <a:gd name="connsiteY3" fmla="*/ 1816 h 449448"/>
              <a:gd name="connsiteX4" fmla="*/ 5023131 w 5193356"/>
              <a:gd name="connsiteY4" fmla="*/ 4566 h 449448"/>
              <a:gd name="connsiteX5" fmla="*/ 5193356 w 5193356"/>
              <a:gd name="connsiteY5" fmla="*/ 224724 h 449448"/>
              <a:gd name="connsiteX6" fmla="*/ 5023131 w 5193356"/>
              <a:gd name="connsiteY6" fmla="*/ 444883 h 449448"/>
              <a:gd name="connsiteX7" fmla="*/ 4997252 w 5193356"/>
              <a:gd name="connsiteY7" fmla="*/ 447632 h 449448"/>
              <a:gd name="connsiteX8" fmla="*/ 4997252 w 5193356"/>
              <a:gd name="connsiteY8" fmla="*/ 449447 h 449448"/>
              <a:gd name="connsiteX9" fmla="*/ 4980175 w 5193356"/>
              <a:gd name="connsiteY9" fmla="*/ 449447 h 449448"/>
              <a:gd name="connsiteX10" fmla="*/ 4980165 w 5193356"/>
              <a:gd name="connsiteY10" fmla="*/ 449448 h 449448"/>
              <a:gd name="connsiteX11" fmla="*/ 4980156 w 5193356"/>
              <a:gd name="connsiteY11" fmla="*/ 449447 h 449448"/>
              <a:gd name="connsiteX12" fmla="*/ 0 w 5193356"/>
              <a:gd name="connsiteY12" fmla="*/ 449447 h 449448"/>
              <a:gd name="connsiteX0" fmla="*/ 2764053 w 5193356"/>
              <a:gd name="connsiteY0" fmla="*/ 0 h 458973"/>
              <a:gd name="connsiteX1" fmla="*/ 4980165 w 5193356"/>
              <a:gd name="connsiteY1" fmla="*/ 9525 h 458973"/>
              <a:gd name="connsiteX2" fmla="*/ 4997252 w 5193356"/>
              <a:gd name="connsiteY2" fmla="*/ 9525 h 458973"/>
              <a:gd name="connsiteX3" fmla="*/ 4997252 w 5193356"/>
              <a:gd name="connsiteY3" fmla="*/ 11341 h 458973"/>
              <a:gd name="connsiteX4" fmla="*/ 5023131 w 5193356"/>
              <a:gd name="connsiteY4" fmla="*/ 14091 h 458973"/>
              <a:gd name="connsiteX5" fmla="*/ 5193356 w 5193356"/>
              <a:gd name="connsiteY5" fmla="*/ 234249 h 458973"/>
              <a:gd name="connsiteX6" fmla="*/ 5023131 w 5193356"/>
              <a:gd name="connsiteY6" fmla="*/ 454408 h 458973"/>
              <a:gd name="connsiteX7" fmla="*/ 4997252 w 5193356"/>
              <a:gd name="connsiteY7" fmla="*/ 457157 h 458973"/>
              <a:gd name="connsiteX8" fmla="*/ 4997252 w 5193356"/>
              <a:gd name="connsiteY8" fmla="*/ 458972 h 458973"/>
              <a:gd name="connsiteX9" fmla="*/ 4980175 w 5193356"/>
              <a:gd name="connsiteY9" fmla="*/ 458972 h 458973"/>
              <a:gd name="connsiteX10" fmla="*/ 4980165 w 5193356"/>
              <a:gd name="connsiteY10" fmla="*/ 458973 h 458973"/>
              <a:gd name="connsiteX11" fmla="*/ 4980156 w 5193356"/>
              <a:gd name="connsiteY11" fmla="*/ 458972 h 458973"/>
              <a:gd name="connsiteX12" fmla="*/ 0 w 5193356"/>
              <a:gd name="connsiteY12" fmla="*/ 458972 h 458973"/>
              <a:gd name="connsiteX13" fmla="*/ 2764053 w 5193356"/>
              <a:gd name="connsiteY13" fmla="*/ 0 h 458973"/>
              <a:gd name="connsiteX0" fmla="*/ 0 w 2429303"/>
              <a:gd name="connsiteY0" fmla="*/ 0 h 458973"/>
              <a:gd name="connsiteX1" fmla="*/ 2216112 w 2429303"/>
              <a:gd name="connsiteY1" fmla="*/ 9525 h 458973"/>
              <a:gd name="connsiteX2" fmla="*/ 2233199 w 2429303"/>
              <a:gd name="connsiteY2" fmla="*/ 9525 h 458973"/>
              <a:gd name="connsiteX3" fmla="*/ 2233199 w 2429303"/>
              <a:gd name="connsiteY3" fmla="*/ 11341 h 458973"/>
              <a:gd name="connsiteX4" fmla="*/ 2259078 w 2429303"/>
              <a:gd name="connsiteY4" fmla="*/ 14091 h 458973"/>
              <a:gd name="connsiteX5" fmla="*/ 2429303 w 2429303"/>
              <a:gd name="connsiteY5" fmla="*/ 234249 h 458973"/>
              <a:gd name="connsiteX6" fmla="*/ 2259078 w 2429303"/>
              <a:gd name="connsiteY6" fmla="*/ 454408 h 458973"/>
              <a:gd name="connsiteX7" fmla="*/ 2233199 w 2429303"/>
              <a:gd name="connsiteY7" fmla="*/ 457157 h 458973"/>
              <a:gd name="connsiteX8" fmla="*/ 2233199 w 2429303"/>
              <a:gd name="connsiteY8" fmla="*/ 458972 h 458973"/>
              <a:gd name="connsiteX9" fmla="*/ 2216122 w 2429303"/>
              <a:gd name="connsiteY9" fmla="*/ 458972 h 458973"/>
              <a:gd name="connsiteX10" fmla="*/ 2216112 w 2429303"/>
              <a:gd name="connsiteY10" fmla="*/ 458973 h 458973"/>
              <a:gd name="connsiteX11" fmla="*/ 2216103 w 2429303"/>
              <a:gd name="connsiteY11" fmla="*/ 458972 h 458973"/>
              <a:gd name="connsiteX12" fmla="*/ 0 w 2429303"/>
              <a:gd name="connsiteY12" fmla="*/ 458972 h 458973"/>
              <a:gd name="connsiteX13" fmla="*/ 0 w 2429303"/>
              <a:gd name="connsiteY13" fmla="*/ 0 h 458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429303" h="458973">
                <a:moveTo>
                  <a:pt x="0" y="0"/>
                </a:moveTo>
                <a:lnTo>
                  <a:pt x="2216112" y="9525"/>
                </a:lnTo>
                <a:lnTo>
                  <a:pt x="2233199" y="9525"/>
                </a:lnTo>
                <a:lnTo>
                  <a:pt x="2233199" y="11341"/>
                </a:lnTo>
                <a:lnTo>
                  <a:pt x="2259078" y="14091"/>
                </a:lnTo>
                <a:cubicBezTo>
                  <a:pt x="2356225" y="35045"/>
                  <a:pt x="2429303" y="125651"/>
                  <a:pt x="2429303" y="234249"/>
                </a:cubicBezTo>
                <a:cubicBezTo>
                  <a:pt x="2429303" y="342847"/>
                  <a:pt x="2356225" y="433453"/>
                  <a:pt x="2259078" y="454408"/>
                </a:cubicBezTo>
                <a:lnTo>
                  <a:pt x="2233199" y="457157"/>
                </a:lnTo>
                <a:lnTo>
                  <a:pt x="2233199" y="458972"/>
                </a:lnTo>
                <a:lnTo>
                  <a:pt x="2216122" y="458972"/>
                </a:lnTo>
                <a:cubicBezTo>
                  <a:pt x="2216119" y="458972"/>
                  <a:pt x="2216115" y="458973"/>
                  <a:pt x="2216112" y="458973"/>
                </a:cubicBezTo>
                <a:cubicBezTo>
                  <a:pt x="2216109" y="458973"/>
                  <a:pt x="2216106" y="458972"/>
                  <a:pt x="2216103" y="458972"/>
                </a:cubicBezTo>
                <a:lnTo>
                  <a:pt x="0" y="45897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r"/>
            <a:r>
              <a:rPr lang="fr-FR" sz="1200" b="1" kern="0">
                <a:solidFill>
                  <a:srgbClr val="3536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COMPÉTENCES</a:t>
            </a:r>
            <a:endParaRPr lang="fr-FR" sz="1600" b="1" kern="0">
              <a:solidFill>
                <a:srgbClr val="35363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Forme libre : forme 21">
            <a:extLst>
              <a:ext uri="{FF2B5EF4-FFF2-40B4-BE49-F238E27FC236}">
                <a16:creationId xmlns:a16="http://schemas.microsoft.com/office/drawing/2014/main" id="{2E3765A4-DBB1-ED99-E44D-40F01692E8A5}"/>
              </a:ext>
            </a:extLst>
          </p:cNvPr>
          <p:cNvSpPr/>
          <p:nvPr/>
        </p:nvSpPr>
        <p:spPr>
          <a:xfrm>
            <a:off x="152673" y="4858846"/>
            <a:ext cx="2419514" cy="360000"/>
          </a:xfrm>
          <a:custGeom>
            <a:avLst/>
            <a:gdLst>
              <a:gd name="connsiteX0" fmla="*/ 0 w 5193356"/>
              <a:gd name="connsiteY0" fmla="*/ 0 h 449448"/>
              <a:gd name="connsiteX1" fmla="*/ 4980165 w 5193356"/>
              <a:gd name="connsiteY1" fmla="*/ 0 h 449448"/>
              <a:gd name="connsiteX2" fmla="*/ 4997252 w 5193356"/>
              <a:gd name="connsiteY2" fmla="*/ 0 h 449448"/>
              <a:gd name="connsiteX3" fmla="*/ 4997252 w 5193356"/>
              <a:gd name="connsiteY3" fmla="*/ 1816 h 449448"/>
              <a:gd name="connsiteX4" fmla="*/ 5023131 w 5193356"/>
              <a:gd name="connsiteY4" fmla="*/ 4566 h 449448"/>
              <a:gd name="connsiteX5" fmla="*/ 5193356 w 5193356"/>
              <a:gd name="connsiteY5" fmla="*/ 224724 h 449448"/>
              <a:gd name="connsiteX6" fmla="*/ 5023131 w 5193356"/>
              <a:gd name="connsiteY6" fmla="*/ 444883 h 449448"/>
              <a:gd name="connsiteX7" fmla="*/ 4997252 w 5193356"/>
              <a:gd name="connsiteY7" fmla="*/ 447632 h 449448"/>
              <a:gd name="connsiteX8" fmla="*/ 4997252 w 5193356"/>
              <a:gd name="connsiteY8" fmla="*/ 449447 h 449448"/>
              <a:gd name="connsiteX9" fmla="*/ 4980175 w 5193356"/>
              <a:gd name="connsiteY9" fmla="*/ 449447 h 449448"/>
              <a:gd name="connsiteX10" fmla="*/ 4980165 w 5193356"/>
              <a:gd name="connsiteY10" fmla="*/ 449448 h 449448"/>
              <a:gd name="connsiteX11" fmla="*/ 4980156 w 5193356"/>
              <a:gd name="connsiteY11" fmla="*/ 449447 h 449448"/>
              <a:gd name="connsiteX12" fmla="*/ 0 w 5193356"/>
              <a:gd name="connsiteY12" fmla="*/ 449447 h 449448"/>
              <a:gd name="connsiteX0" fmla="*/ 2764053 w 5193356"/>
              <a:gd name="connsiteY0" fmla="*/ 0 h 458973"/>
              <a:gd name="connsiteX1" fmla="*/ 4980165 w 5193356"/>
              <a:gd name="connsiteY1" fmla="*/ 9525 h 458973"/>
              <a:gd name="connsiteX2" fmla="*/ 4997252 w 5193356"/>
              <a:gd name="connsiteY2" fmla="*/ 9525 h 458973"/>
              <a:gd name="connsiteX3" fmla="*/ 4997252 w 5193356"/>
              <a:gd name="connsiteY3" fmla="*/ 11341 h 458973"/>
              <a:gd name="connsiteX4" fmla="*/ 5023131 w 5193356"/>
              <a:gd name="connsiteY4" fmla="*/ 14091 h 458973"/>
              <a:gd name="connsiteX5" fmla="*/ 5193356 w 5193356"/>
              <a:gd name="connsiteY5" fmla="*/ 234249 h 458973"/>
              <a:gd name="connsiteX6" fmla="*/ 5023131 w 5193356"/>
              <a:gd name="connsiteY6" fmla="*/ 454408 h 458973"/>
              <a:gd name="connsiteX7" fmla="*/ 4997252 w 5193356"/>
              <a:gd name="connsiteY7" fmla="*/ 457157 h 458973"/>
              <a:gd name="connsiteX8" fmla="*/ 4997252 w 5193356"/>
              <a:gd name="connsiteY8" fmla="*/ 458972 h 458973"/>
              <a:gd name="connsiteX9" fmla="*/ 4980175 w 5193356"/>
              <a:gd name="connsiteY9" fmla="*/ 458972 h 458973"/>
              <a:gd name="connsiteX10" fmla="*/ 4980165 w 5193356"/>
              <a:gd name="connsiteY10" fmla="*/ 458973 h 458973"/>
              <a:gd name="connsiteX11" fmla="*/ 4980156 w 5193356"/>
              <a:gd name="connsiteY11" fmla="*/ 458972 h 458973"/>
              <a:gd name="connsiteX12" fmla="*/ 0 w 5193356"/>
              <a:gd name="connsiteY12" fmla="*/ 458972 h 458973"/>
              <a:gd name="connsiteX13" fmla="*/ 2764053 w 5193356"/>
              <a:gd name="connsiteY13" fmla="*/ 0 h 458973"/>
              <a:gd name="connsiteX0" fmla="*/ 0 w 2429303"/>
              <a:gd name="connsiteY0" fmla="*/ 0 h 458973"/>
              <a:gd name="connsiteX1" fmla="*/ 2216112 w 2429303"/>
              <a:gd name="connsiteY1" fmla="*/ 9525 h 458973"/>
              <a:gd name="connsiteX2" fmla="*/ 2233199 w 2429303"/>
              <a:gd name="connsiteY2" fmla="*/ 9525 h 458973"/>
              <a:gd name="connsiteX3" fmla="*/ 2233199 w 2429303"/>
              <a:gd name="connsiteY3" fmla="*/ 11341 h 458973"/>
              <a:gd name="connsiteX4" fmla="*/ 2259078 w 2429303"/>
              <a:gd name="connsiteY4" fmla="*/ 14091 h 458973"/>
              <a:gd name="connsiteX5" fmla="*/ 2429303 w 2429303"/>
              <a:gd name="connsiteY5" fmla="*/ 234249 h 458973"/>
              <a:gd name="connsiteX6" fmla="*/ 2259078 w 2429303"/>
              <a:gd name="connsiteY6" fmla="*/ 454408 h 458973"/>
              <a:gd name="connsiteX7" fmla="*/ 2233199 w 2429303"/>
              <a:gd name="connsiteY7" fmla="*/ 457157 h 458973"/>
              <a:gd name="connsiteX8" fmla="*/ 2233199 w 2429303"/>
              <a:gd name="connsiteY8" fmla="*/ 458972 h 458973"/>
              <a:gd name="connsiteX9" fmla="*/ 2216122 w 2429303"/>
              <a:gd name="connsiteY9" fmla="*/ 458972 h 458973"/>
              <a:gd name="connsiteX10" fmla="*/ 2216112 w 2429303"/>
              <a:gd name="connsiteY10" fmla="*/ 458973 h 458973"/>
              <a:gd name="connsiteX11" fmla="*/ 2216103 w 2429303"/>
              <a:gd name="connsiteY11" fmla="*/ 458972 h 458973"/>
              <a:gd name="connsiteX12" fmla="*/ 0 w 2429303"/>
              <a:gd name="connsiteY12" fmla="*/ 458972 h 458973"/>
              <a:gd name="connsiteX13" fmla="*/ 0 w 2429303"/>
              <a:gd name="connsiteY13" fmla="*/ 0 h 458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429303" h="458973">
                <a:moveTo>
                  <a:pt x="0" y="0"/>
                </a:moveTo>
                <a:lnTo>
                  <a:pt x="2216112" y="9525"/>
                </a:lnTo>
                <a:lnTo>
                  <a:pt x="2233199" y="9525"/>
                </a:lnTo>
                <a:lnTo>
                  <a:pt x="2233199" y="11341"/>
                </a:lnTo>
                <a:lnTo>
                  <a:pt x="2259078" y="14091"/>
                </a:lnTo>
                <a:cubicBezTo>
                  <a:pt x="2356225" y="35045"/>
                  <a:pt x="2429303" y="125651"/>
                  <a:pt x="2429303" y="234249"/>
                </a:cubicBezTo>
                <a:cubicBezTo>
                  <a:pt x="2429303" y="342847"/>
                  <a:pt x="2356225" y="433453"/>
                  <a:pt x="2259078" y="454408"/>
                </a:cubicBezTo>
                <a:lnTo>
                  <a:pt x="2233199" y="457157"/>
                </a:lnTo>
                <a:lnTo>
                  <a:pt x="2233199" y="458972"/>
                </a:lnTo>
                <a:lnTo>
                  <a:pt x="2216122" y="458972"/>
                </a:lnTo>
                <a:cubicBezTo>
                  <a:pt x="2216119" y="458972"/>
                  <a:pt x="2216115" y="458973"/>
                  <a:pt x="2216112" y="458973"/>
                </a:cubicBezTo>
                <a:cubicBezTo>
                  <a:pt x="2216109" y="458973"/>
                  <a:pt x="2216106" y="458972"/>
                  <a:pt x="2216103" y="458972"/>
                </a:cubicBezTo>
                <a:lnTo>
                  <a:pt x="0" y="45897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r"/>
            <a:r>
              <a:rPr lang="fr-FR" sz="1200" b="1" kern="0">
                <a:solidFill>
                  <a:srgbClr val="3536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OUTILS / MÉTHODES</a:t>
            </a:r>
            <a:endParaRPr lang="fr-FR" sz="1600" b="1" kern="0">
              <a:solidFill>
                <a:srgbClr val="35363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Forme libre : forme 22">
            <a:extLst>
              <a:ext uri="{FF2B5EF4-FFF2-40B4-BE49-F238E27FC236}">
                <a16:creationId xmlns:a16="http://schemas.microsoft.com/office/drawing/2014/main" id="{8A75365B-5E9A-F08F-0501-A1A11756CF58}"/>
              </a:ext>
            </a:extLst>
          </p:cNvPr>
          <p:cNvSpPr/>
          <p:nvPr/>
        </p:nvSpPr>
        <p:spPr>
          <a:xfrm>
            <a:off x="151683" y="1983600"/>
            <a:ext cx="2403792" cy="360000"/>
          </a:xfrm>
          <a:custGeom>
            <a:avLst/>
            <a:gdLst>
              <a:gd name="connsiteX0" fmla="*/ 0 w 5193356"/>
              <a:gd name="connsiteY0" fmla="*/ 0 h 449448"/>
              <a:gd name="connsiteX1" fmla="*/ 4980165 w 5193356"/>
              <a:gd name="connsiteY1" fmla="*/ 0 h 449448"/>
              <a:gd name="connsiteX2" fmla="*/ 4997252 w 5193356"/>
              <a:gd name="connsiteY2" fmla="*/ 0 h 449448"/>
              <a:gd name="connsiteX3" fmla="*/ 4997252 w 5193356"/>
              <a:gd name="connsiteY3" fmla="*/ 1816 h 449448"/>
              <a:gd name="connsiteX4" fmla="*/ 5023131 w 5193356"/>
              <a:gd name="connsiteY4" fmla="*/ 4566 h 449448"/>
              <a:gd name="connsiteX5" fmla="*/ 5193356 w 5193356"/>
              <a:gd name="connsiteY5" fmla="*/ 224724 h 449448"/>
              <a:gd name="connsiteX6" fmla="*/ 5023131 w 5193356"/>
              <a:gd name="connsiteY6" fmla="*/ 444883 h 449448"/>
              <a:gd name="connsiteX7" fmla="*/ 4997252 w 5193356"/>
              <a:gd name="connsiteY7" fmla="*/ 447632 h 449448"/>
              <a:gd name="connsiteX8" fmla="*/ 4997252 w 5193356"/>
              <a:gd name="connsiteY8" fmla="*/ 449447 h 449448"/>
              <a:gd name="connsiteX9" fmla="*/ 4980175 w 5193356"/>
              <a:gd name="connsiteY9" fmla="*/ 449447 h 449448"/>
              <a:gd name="connsiteX10" fmla="*/ 4980165 w 5193356"/>
              <a:gd name="connsiteY10" fmla="*/ 449448 h 449448"/>
              <a:gd name="connsiteX11" fmla="*/ 4980156 w 5193356"/>
              <a:gd name="connsiteY11" fmla="*/ 449447 h 449448"/>
              <a:gd name="connsiteX12" fmla="*/ 0 w 5193356"/>
              <a:gd name="connsiteY12" fmla="*/ 449447 h 449448"/>
              <a:gd name="connsiteX0" fmla="*/ 2764053 w 5193356"/>
              <a:gd name="connsiteY0" fmla="*/ 0 h 458973"/>
              <a:gd name="connsiteX1" fmla="*/ 4980165 w 5193356"/>
              <a:gd name="connsiteY1" fmla="*/ 9525 h 458973"/>
              <a:gd name="connsiteX2" fmla="*/ 4997252 w 5193356"/>
              <a:gd name="connsiteY2" fmla="*/ 9525 h 458973"/>
              <a:gd name="connsiteX3" fmla="*/ 4997252 w 5193356"/>
              <a:gd name="connsiteY3" fmla="*/ 11341 h 458973"/>
              <a:gd name="connsiteX4" fmla="*/ 5023131 w 5193356"/>
              <a:gd name="connsiteY4" fmla="*/ 14091 h 458973"/>
              <a:gd name="connsiteX5" fmla="*/ 5193356 w 5193356"/>
              <a:gd name="connsiteY5" fmla="*/ 234249 h 458973"/>
              <a:gd name="connsiteX6" fmla="*/ 5023131 w 5193356"/>
              <a:gd name="connsiteY6" fmla="*/ 454408 h 458973"/>
              <a:gd name="connsiteX7" fmla="*/ 4997252 w 5193356"/>
              <a:gd name="connsiteY7" fmla="*/ 457157 h 458973"/>
              <a:gd name="connsiteX8" fmla="*/ 4997252 w 5193356"/>
              <a:gd name="connsiteY8" fmla="*/ 458972 h 458973"/>
              <a:gd name="connsiteX9" fmla="*/ 4980175 w 5193356"/>
              <a:gd name="connsiteY9" fmla="*/ 458972 h 458973"/>
              <a:gd name="connsiteX10" fmla="*/ 4980165 w 5193356"/>
              <a:gd name="connsiteY10" fmla="*/ 458973 h 458973"/>
              <a:gd name="connsiteX11" fmla="*/ 4980156 w 5193356"/>
              <a:gd name="connsiteY11" fmla="*/ 458972 h 458973"/>
              <a:gd name="connsiteX12" fmla="*/ 0 w 5193356"/>
              <a:gd name="connsiteY12" fmla="*/ 458972 h 458973"/>
              <a:gd name="connsiteX13" fmla="*/ 2764053 w 5193356"/>
              <a:gd name="connsiteY13" fmla="*/ 0 h 458973"/>
              <a:gd name="connsiteX0" fmla="*/ 0 w 2429303"/>
              <a:gd name="connsiteY0" fmla="*/ 0 h 458973"/>
              <a:gd name="connsiteX1" fmla="*/ 2216112 w 2429303"/>
              <a:gd name="connsiteY1" fmla="*/ 9525 h 458973"/>
              <a:gd name="connsiteX2" fmla="*/ 2233199 w 2429303"/>
              <a:gd name="connsiteY2" fmla="*/ 9525 h 458973"/>
              <a:gd name="connsiteX3" fmla="*/ 2233199 w 2429303"/>
              <a:gd name="connsiteY3" fmla="*/ 11341 h 458973"/>
              <a:gd name="connsiteX4" fmla="*/ 2259078 w 2429303"/>
              <a:gd name="connsiteY4" fmla="*/ 14091 h 458973"/>
              <a:gd name="connsiteX5" fmla="*/ 2429303 w 2429303"/>
              <a:gd name="connsiteY5" fmla="*/ 234249 h 458973"/>
              <a:gd name="connsiteX6" fmla="*/ 2259078 w 2429303"/>
              <a:gd name="connsiteY6" fmla="*/ 454408 h 458973"/>
              <a:gd name="connsiteX7" fmla="*/ 2233199 w 2429303"/>
              <a:gd name="connsiteY7" fmla="*/ 457157 h 458973"/>
              <a:gd name="connsiteX8" fmla="*/ 2233199 w 2429303"/>
              <a:gd name="connsiteY8" fmla="*/ 458972 h 458973"/>
              <a:gd name="connsiteX9" fmla="*/ 2216122 w 2429303"/>
              <a:gd name="connsiteY9" fmla="*/ 458972 h 458973"/>
              <a:gd name="connsiteX10" fmla="*/ 2216112 w 2429303"/>
              <a:gd name="connsiteY10" fmla="*/ 458973 h 458973"/>
              <a:gd name="connsiteX11" fmla="*/ 2216103 w 2429303"/>
              <a:gd name="connsiteY11" fmla="*/ 458972 h 458973"/>
              <a:gd name="connsiteX12" fmla="*/ 0 w 2429303"/>
              <a:gd name="connsiteY12" fmla="*/ 458972 h 458973"/>
              <a:gd name="connsiteX13" fmla="*/ 0 w 2429303"/>
              <a:gd name="connsiteY13" fmla="*/ 0 h 458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429303" h="458973">
                <a:moveTo>
                  <a:pt x="0" y="0"/>
                </a:moveTo>
                <a:lnTo>
                  <a:pt x="2216112" y="9525"/>
                </a:lnTo>
                <a:lnTo>
                  <a:pt x="2233199" y="9525"/>
                </a:lnTo>
                <a:lnTo>
                  <a:pt x="2233199" y="11341"/>
                </a:lnTo>
                <a:lnTo>
                  <a:pt x="2259078" y="14091"/>
                </a:lnTo>
                <a:cubicBezTo>
                  <a:pt x="2356225" y="35045"/>
                  <a:pt x="2429303" y="125651"/>
                  <a:pt x="2429303" y="234249"/>
                </a:cubicBezTo>
                <a:cubicBezTo>
                  <a:pt x="2429303" y="342847"/>
                  <a:pt x="2356225" y="433453"/>
                  <a:pt x="2259078" y="454408"/>
                </a:cubicBezTo>
                <a:lnTo>
                  <a:pt x="2233199" y="457157"/>
                </a:lnTo>
                <a:lnTo>
                  <a:pt x="2233199" y="458972"/>
                </a:lnTo>
                <a:lnTo>
                  <a:pt x="2216122" y="458972"/>
                </a:lnTo>
                <a:cubicBezTo>
                  <a:pt x="2216119" y="458972"/>
                  <a:pt x="2216115" y="458973"/>
                  <a:pt x="2216112" y="458973"/>
                </a:cubicBezTo>
                <a:cubicBezTo>
                  <a:pt x="2216109" y="458973"/>
                  <a:pt x="2216106" y="458972"/>
                  <a:pt x="2216103" y="458972"/>
                </a:cubicBezTo>
                <a:lnTo>
                  <a:pt x="0" y="45897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r"/>
            <a:r>
              <a:rPr lang="fr-FR" sz="1200" b="1" kern="0" dirty="0">
                <a:solidFill>
                  <a:srgbClr val="3536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FORMATIONS</a:t>
            </a:r>
            <a:endParaRPr lang="fr-FR" sz="1600" b="1" kern="0" dirty="0">
              <a:solidFill>
                <a:srgbClr val="35363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A893A51-A485-502E-6066-B03D682B0809}"/>
              </a:ext>
            </a:extLst>
          </p:cNvPr>
          <p:cNvSpPr/>
          <p:nvPr/>
        </p:nvSpPr>
        <p:spPr>
          <a:xfrm>
            <a:off x="371475" y="2414547"/>
            <a:ext cx="3579429" cy="6949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marL="171450" indent="-17145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GB" sz="1000" dirty="0">
                <a:solidFill>
                  <a:schemeClr val="bg1"/>
                </a:solidFill>
              </a:rPr>
              <a:t>MSc – Data Science &amp; Digital Marketing - </a:t>
            </a:r>
            <a:r>
              <a:rPr lang="en-GB" sz="1000" dirty="0" err="1">
                <a:solidFill>
                  <a:schemeClr val="bg1"/>
                </a:solidFill>
              </a:rPr>
              <a:t>EmLyon</a:t>
            </a:r>
            <a:r>
              <a:rPr lang="en-GB" sz="1000" dirty="0">
                <a:solidFill>
                  <a:schemeClr val="bg1"/>
                </a:solidFill>
              </a:rPr>
              <a:t> – Paris</a:t>
            </a:r>
          </a:p>
          <a:p>
            <a:pPr marL="171450" indent="-17145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GB" sz="1000" dirty="0">
                <a:solidFill>
                  <a:schemeClr val="bg1"/>
                </a:solidFill>
              </a:rPr>
              <a:t>Bachelor - International Trade and Economics - Nanjing - Chine</a:t>
            </a:r>
          </a:p>
        </p:txBody>
      </p:sp>
      <p:sp>
        <p:nvSpPr>
          <p:cNvPr id="41" name="Forme libre : forme 40">
            <a:extLst>
              <a:ext uri="{FF2B5EF4-FFF2-40B4-BE49-F238E27FC236}">
                <a16:creationId xmlns:a16="http://schemas.microsoft.com/office/drawing/2014/main" id="{62FE87AB-0295-E546-D82C-79A14BB2D3D2}"/>
              </a:ext>
            </a:extLst>
          </p:cNvPr>
          <p:cNvSpPr/>
          <p:nvPr/>
        </p:nvSpPr>
        <p:spPr>
          <a:xfrm>
            <a:off x="4239096" y="1983600"/>
            <a:ext cx="4944265" cy="360000"/>
          </a:xfrm>
          <a:custGeom>
            <a:avLst/>
            <a:gdLst>
              <a:gd name="connsiteX0" fmla="*/ 0 w 5193356"/>
              <a:gd name="connsiteY0" fmla="*/ 0 h 449448"/>
              <a:gd name="connsiteX1" fmla="*/ 4980165 w 5193356"/>
              <a:gd name="connsiteY1" fmla="*/ 0 h 449448"/>
              <a:gd name="connsiteX2" fmla="*/ 4997252 w 5193356"/>
              <a:gd name="connsiteY2" fmla="*/ 0 h 449448"/>
              <a:gd name="connsiteX3" fmla="*/ 4997252 w 5193356"/>
              <a:gd name="connsiteY3" fmla="*/ 1816 h 449448"/>
              <a:gd name="connsiteX4" fmla="*/ 5023131 w 5193356"/>
              <a:gd name="connsiteY4" fmla="*/ 4566 h 449448"/>
              <a:gd name="connsiteX5" fmla="*/ 5193356 w 5193356"/>
              <a:gd name="connsiteY5" fmla="*/ 224724 h 449448"/>
              <a:gd name="connsiteX6" fmla="*/ 5023131 w 5193356"/>
              <a:gd name="connsiteY6" fmla="*/ 444883 h 449448"/>
              <a:gd name="connsiteX7" fmla="*/ 4997252 w 5193356"/>
              <a:gd name="connsiteY7" fmla="*/ 447632 h 449448"/>
              <a:gd name="connsiteX8" fmla="*/ 4997252 w 5193356"/>
              <a:gd name="connsiteY8" fmla="*/ 449447 h 449448"/>
              <a:gd name="connsiteX9" fmla="*/ 4980175 w 5193356"/>
              <a:gd name="connsiteY9" fmla="*/ 449447 h 449448"/>
              <a:gd name="connsiteX10" fmla="*/ 4980165 w 5193356"/>
              <a:gd name="connsiteY10" fmla="*/ 449448 h 449448"/>
              <a:gd name="connsiteX11" fmla="*/ 4980156 w 5193356"/>
              <a:gd name="connsiteY11" fmla="*/ 449447 h 449448"/>
              <a:gd name="connsiteX12" fmla="*/ 0 w 5193356"/>
              <a:gd name="connsiteY12" fmla="*/ 449447 h 4494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193356" h="449448">
                <a:moveTo>
                  <a:pt x="0" y="0"/>
                </a:moveTo>
                <a:lnTo>
                  <a:pt x="4980165" y="0"/>
                </a:lnTo>
                <a:lnTo>
                  <a:pt x="4997252" y="0"/>
                </a:lnTo>
                <a:lnTo>
                  <a:pt x="4997252" y="1816"/>
                </a:lnTo>
                <a:lnTo>
                  <a:pt x="5023131" y="4566"/>
                </a:lnTo>
                <a:cubicBezTo>
                  <a:pt x="5120278" y="25520"/>
                  <a:pt x="5193356" y="116126"/>
                  <a:pt x="5193356" y="224724"/>
                </a:cubicBezTo>
                <a:cubicBezTo>
                  <a:pt x="5193356" y="333322"/>
                  <a:pt x="5120278" y="423928"/>
                  <a:pt x="5023131" y="444883"/>
                </a:cubicBezTo>
                <a:lnTo>
                  <a:pt x="4997252" y="447632"/>
                </a:lnTo>
                <a:lnTo>
                  <a:pt x="4997252" y="449447"/>
                </a:lnTo>
                <a:lnTo>
                  <a:pt x="4980175" y="449447"/>
                </a:lnTo>
                <a:lnTo>
                  <a:pt x="4980165" y="449448"/>
                </a:lnTo>
                <a:lnTo>
                  <a:pt x="4980156" y="449447"/>
                </a:lnTo>
                <a:lnTo>
                  <a:pt x="0" y="449447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r>
              <a:rPr lang="fr-FR" sz="1200" b="1" ker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PRINCIPALES EXPÉRIENCES EN LIEN AVEC LA MISSION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CDD217B2-CFF5-0725-8BF6-9E6EBB7F97D7}"/>
              </a:ext>
            </a:extLst>
          </p:cNvPr>
          <p:cNvSpPr txBox="1"/>
          <p:nvPr/>
        </p:nvSpPr>
        <p:spPr>
          <a:xfrm>
            <a:off x="4862670" y="2414547"/>
            <a:ext cx="6957855" cy="25721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b="1" dirty="0">
                <a:solidFill>
                  <a:schemeClr val="tx2"/>
                </a:solidFill>
              </a:rPr>
              <a:t>BPCE : Analyste </a:t>
            </a:r>
            <a:r>
              <a:rPr lang="fr-FR" sz="1000" b="1" dirty="0" err="1">
                <a:solidFill>
                  <a:schemeClr val="tx2"/>
                </a:solidFill>
              </a:rPr>
              <a:t>Alteryx</a:t>
            </a:r>
            <a:r>
              <a:rPr lang="fr-FR" sz="1000" b="1" dirty="0">
                <a:solidFill>
                  <a:schemeClr val="tx2"/>
                </a:solidFill>
              </a:rPr>
              <a:t> dans le cadre d’une intégration de l’outil (XX mois)</a:t>
            </a:r>
          </a:p>
          <a:p>
            <a:pPr marL="171450" indent="-17145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ts val="1000"/>
              <a:buFont typeface="Arial" panose="020B0604020202020204" pitchFamily="34" charset="0"/>
              <a:buChar char="•"/>
            </a:pPr>
            <a:r>
              <a:rPr lang="fr-FR" altLang="fr-FR" sz="1000" dirty="0">
                <a:solidFill>
                  <a:schemeClr val="dk1"/>
                </a:solidFill>
                <a:cs typeface="Arial"/>
              </a:rPr>
              <a:t>Intégration d’</a:t>
            </a:r>
            <a:r>
              <a:rPr lang="fr-FR" altLang="fr-FR" sz="1000" dirty="0" err="1">
                <a:solidFill>
                  <a:schemeClr val="dk1"/>
                </a:solidFill>
                <a:cs typeface="Arial"/>
              </a:rPr>
              <a:t>Alteryx</a:t>
            </a:r>
            <a:r>
              <a:rPr lang="fr-FR" altLang="fr-FR" sz="1000" dirty="0">
                <a:solidFill>
                  <a:schemeClr val="dk1"/>
                </a:solidFill>
                <a:cs typeface="Arial"/>
              </a:rPr>
              <a:t> comme ETL de référence pour alimenter les rapports de différentes équipes métier de la direction Financière</a:t>
            </a:r>
          </a:p>
          <a:p>
            <a:pPr marL="171450" indent="-17145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ts val="1000"/>
              <a:buFont typeface="Arial" panose="020B0604020202020204" pitchFamily="34" charset="0"/>
              <a:buChar char="•"/>
            </a:pPr>
            <a:r>
              <a:rPr lang="fr-FR" altLang="fr-FR" sz="1000" dirty="0">
                <a:solidFill>
                  <a:schemeClr val="dk1"/>
                </a:solidFill>
                <a:cs typeface="Arial"/>
              </a:rPr>
              <a:t>Développement et déploiement d’une quinzaine de rapports et tableaux de bord automatisés pour les métiers de la direction financière</a:t>
            </a:r>
          </a:p>
          <a:p>
            <a:pPr marL="171450" indent="-17145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ts val="1000"/>
              <a:buFont typeface="Arial" panose="020B0604020202020204" pitchFamily="34" charset="0"/>
              <a:buChar char="•"/>
            </a:pPr>
            <a:r>
              <a:rPr lang="fr-FR" altLang="fr-FR" sz="1000" dirty="0">
                <a:solidFill>
                  <a:schemeClr val="dk1"/>
                </a:solidFill>
                <a:cs typeface="Arial"/>
              </a:rPr>
              <a:t>Formation des utilisateurs et futurs propriétaires de produits sur les aspects techniques</a:t>
            </a:r>
          </a:p>
          <a:p>
            <a:pPr marL="171450" indent="-17145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ts val="1000"/>
              <a:buFont typeface="Arial" panose="020B0604020202020204" pitchFamily="34" charset="0"/>
              <a:buChar char="•"/>
            </a:pPr>
            <a:endParaRPr lang="fr-FR" altLang="fr-FR" sz="1000" dirty="0">
              <a:solidFill>
                <a:schemeClr val="dk1"/>
              </a:solidFill>
              <a:cs typeface="Arial"/>
            </a:endParaRPr>
          </a:p>
          <a:p>
            <a:r>
              <a:rPr lang="fr-FR" sz="1000" b="1" dirty="0">
                <a:solidFill>
                  <a:schemeClr val="tx2"/>
                </a:solidFill>
              </a:rPr>
              <a:t>Pernod-Ricard : Analyste contrôle de gestion (XX mois)</a:t>
            </a:r>
          </a:p>
          <a:p>
            <a:pPr marL="171450" marR="0" lvl="0" indent="-17145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ts val="1000"/>
              <a:buFont typeface="Arial" panose="020B0604020202020204" pitchFamily="34" charset="0"/>
              <a:buChar char="•"/>
              <a:tabLst>
                <a:tab pos="360000" algn="l"/>
              </a:tabLst>
              <a:defRPr/>
            </a:pPr>
            <a:r>
              <a:rPr lang="fr-FR" sz="1000" dirty="0">
                <a:solidFill>
                  <a:schemeClr val="dk1"/>
                </a:solidFill>
                <a:cs typeface="Arial"/>
              </a:rPr>
              <a:t>Analyste en contrôle au sein du département IT</a:t>
            </a:r>
          </a:p>
          <a:p>
            <a:pPr marL="171450" marR="0" lvl="0" indent="-17145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ts val="1000"/>
              <a:buFont typeface="Arial" panose="020B0604020202020204" pitchFamily="34" charset="0"/>
              <a:buChar char="•"/>
              <a:tabLst>
                <a:tab pos="360000" algn="l"/>
              </a:tabLst>
              <a:defRPr/>
            </a:pPr>
            <a:r>
              <a:rPr lang="fr-FR" sz="1000" dirty="0">
                <a:solidFill>
                  <a:schemeClr val="dk1"/>
                </a:solidFill>
                <a:cs typeface="Arial"/>
              </a:rPr>
              <a:t>Gestion des scénarios dans le cadre de l’exercice budgétaires et production d’analyses et de rapports à destination du métier</a:t>
            </a:r>
          </a:p>
          <a:p>
            <a:pPr marL="171450" marR="0" lvl="0" indent="-17145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ts val="1000"/>
              <a:buFont typeface="Arial" panose="020B0604020202020204" pitchFamily="34" charset="0"/>
              <a:buChar char="•"/>
              <a:tabLst>
                <a:tab pos="360000" algn="l"/>
              </a:tabLst>
              <a:defRPr/>
            </a:pPr>
            <a:r>
              <a:rPr lang="fr-FR" sz="1000" dirty="0">
                <a:solidFill>
                  <a:schemeClr val="dk1"/>
                </a:solidFill>
                <a:cs typeface="Arial"/>
              </a:rPr>
              <a:t>Développement de nouveaux rapports dans Power BI à destination du métier</a:t>
            </a:r>
          </a:p>
          <a:p>
            <a:pPr marL="171450" marR="0" lvl="0" indent="-17145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ts val="1000"/>
              <a:buFont typeface="Arial" panose="020B0604020202020204" pitchFamily="34" charset="0"/>
              <a:buChar char="•"/>
              <a:tabLst>
                <a:tab pos="360000" algn="l"/>
              </a:tabLst>
              <a:defRPr/>
            </a:pPr>
            <a:r>
              <a:rPr lang="fr-FR" sz="1000" dirty="0">
                <a:solidFill>
                  <a:schemeClr val="dk1"/>
                </a:solidFill>
                <a:cs typeface="Arial"/>
              </a:rPr>
              <a:t>Automatisation de tâche lié à la manipulation de données pour le contrôle de gestion</a:t>
            </a:r>
          </a:p>
          <a:p>
            <a:endParaRPr lang="fr-FR" sz="1000" dirty="0"/>
          </a:p>
          <a:p>
            <a:pPr marL="171450" indent="-17145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ts val="1000"/>
              <a:buFont typeface="Arial" panose="020B0604020202020204" pitchFamily="34" charset="0"/>
              <a:buChar char="•"/>
            </a:pPr>
            <a:endParaRPr lang="fr-FR" sz="1000" dirty="0"/>
          </a:p>
        </p:txBody>
      </p:sp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9D42D67A-EF25-6B3E-47BF-86B275CA964C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A234AAA3-D3BD-4DCA-8674-DDCEC63B7531}" type="datetime1">
              <a:rPr lang="fr-FR" smtClean="0"/>
              <a:t>31/03/2025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98D8F2F1-1E9A-7686-E86C-636938D6BB6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fr-FR" dirty="0"/>
              <a:t>AMITA CONSEIL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5816A9A-094B-B61E-2CA8-20F903273B1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D9892E7-E91F-405F-A6AB-FE5AB3285265}" type="slidenum">
              <a:rPr lang="fr-FR" smtClean="0"/>
              <a:pPr/>
              <a:t>3</a:t>
            </a:fld>
            <a:endParaRPr lang="fr-FR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051802A-5E9C-4914-902E-2690397A9806}"/>
              </a:ext>
            </a:extLst>
          </p:cNvPr>
          <p:cNvSpPr/>
          <p:nvPr/>
        </p:nvSpPr>
        <p:spPr>
          <a:xfrm>
            <a:off x="380995" y="3760698"/>
            <a:ext cx="3570437" cy="11712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marL="171450" indent="-17145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fr-FR" sz="1000" dirty="0">
                <a:solidFill>
                  <a:schemeClr val="bg1"/>
                </a:solidFill>
              </a:rPr>
              <a:t>Gestion de projets; Animation des Comités Projet; Préparation des instances COPIL; Production notes/compte-rendu</a:t>
            </a:r>
          </a:p>
          <a:p>
            <a:pPr marL="171450" indent="-17145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fr-FR" sz="1000" dirty="0">
                <a:solidFill>
                  <a:schemeClr val="bg1"/>
                </a:solidFill>
              </a:rPr>
              <a:t>Animation de formations; Data Science/BI; Conception et création de Dashboard; Automatisation de process</a:t>
            </a:r>
          </a:p>
          <a:p>
            <a:pPr marL="171450" indent="-17145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fr-FR" sz="1000" dirty="0">
                <a:solidFill>
                  <a:schemeClr val="bg1"/>
                </a:solidFill>
              </a:rPr>
              <a:t>Conception et développement de solutions analytiques &amp; de modèles de données; Développement en Python et R pour l’analyse de données</a:t>
            </a:r>
          </a:p>
          <a:p>
            <a:pPr marL="171450" indent="-171450">
              <a:buClr>
                <a:schemeClr val="tx2"/>
              </a:buClr>
              <a:buFont typeface="Arial" panose="020B0604020202020204" pitchFamily="34" charset="0"/>
              <a:buChar char="•"/>
            </a:pPr>
            <a:endParaRPr lang="fr-FR" sz="1000" dirty="0">
              <a:solidFill>
                <a:schemeClr val="bg1"/>
              </a:solidFill>
            </a:endParaRPr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D8AF452A-8677-DD91-548D-9B9D94BE65E2}"/>
              </a:ext>
            </a:extLst>
          </p:cNvPr>
          <p:cNvSpPr/>
          <p:nvPr/>
        </p:nvSpPr>
        <p:spPr>
          <a:xfrm>
            <a:off x="666217" y="709314"/>
            <a:ext cx="1131076" cy="1116676"/>
          </a:xfrm>
          <a:prstGeom prst="ellipse">
            <a:avLst/>
          </a:prstGeom>
          <a:noFill/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fr-FR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F6499D3-A4A4-BC89-9048-E665BCD8799B}"/>
              </a:ext>
            </a:extLst>
          </p:cNvPr>
          <p:cNvSpPr/>
          <p:nvPr/>
        </p:nvSpPr>
        <p:spPr>
          <a:xfrm>
            <a:off x="368572" y="5295569"/>
            <a:ext cx="3570437" cy="11712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marL="171450" indent="-17145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fr-FR" sz="1000" dirty="0">
                <a:solidFill>
                  <a:schemeClr val="bg1"/>
                </a:solidFill>
              </a:rPr>
              <a:t>Python: Pandas, </a:t>
            </a:r>
            <a:r>
              <a:rPr lang="fr-FR" sz="1000" dirty="0" err="1">
                <a:solidFill>
                  <a:schemeClr val="bg1"/>
                </a:solidFill>
              </a:rPr>
              <a:t>Matplotlib</a:t>
            </a:r>
            <a:r>
              <a:rPr lang="fr-FR" sz="1000" dirty="0">
                <a:solidFill>
                  <a:schemeClr val="bg1"/>
                </a:solidFill>
              </a:rPr>
              <a:t>, </a:t>
            </a:r>
            <a:r>
              <a:rPr lang="fr-FR" sz="1000" dirty="0" err="1">
                <a:solidFill>
                  <a:schemeClr val="bg1"/>
                </a:solidFill>
              </a:rPr>
              <a:t>Scikit-Learn</a:t>
            </a:r>
            <a:r>
              <a:rPr lang="fr-FR" sz="1000" dirty="0">
                <a:solidFill>
                  <a:schemeClr val="bg1"/>
                </a:solidFill>
              </a:rPr>
              <a:t>, </a:t>
            </a:r>
            <a:r>
              <a:rPr lang="fr-FR" sz="1000" dirty="0" err="1">
                <a:solidFill>
                  <a:schemeClr val="bg1"/>
                </a:solidFill>
              </a:rPr>
              <a:t>Numpy</a:t>
            </a:r>
            <a:endParaRPr lang="fr-FR" sz="1000" dirty="0">
              <a:solidFill>
                <a:schemeClr val="bg1"/>
              </a:solidFill>
            </a:endParaRPr>
          </a:p>
          <a:p>
            <a:pPr marL="171450" indent="-17145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fr-FR" sz="1000" dirty="0">
                <a:solidFill>
                  <a:schemeClr val="bg1"/>
                </a:solidFill>
              </a:rPr>
              <a:t>SQL</a:t>
            </a:r>
          </a:p>
          <a:p>
            <a:pPr marL="171450" indent="-17145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fr-FR" sz="1000" dirty="0">
                <a:solidFill>
                  <a:schemeClr val="bg1"/>
                </a:solidFill>
              </a:rPr>
              <a:t>R </a:t>
            </a:r>
          </a:p>
          <a:p>
            <a:pPr marL="171450" indent="-17145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fr-FR" sz="1000" dirty="0" err="1">
                <a:solidFill>
                  <a:schemeClr val="bg1"/>
                </a:solidFill>
              </a:rPr>
              <a:t>PowerBI</a:t>
            </a:r>
            <a:endParaRPr lang="fr-FR" sz="1000" dirty="0">
              <a:solidFill>
                <a:schemeClr val="bg1"/>
              </a:solidFill>
            </a:endParaRPr>
          </a:p>
          <a:p>
            <a:pPr marL="171450" indent="-17145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fr-FR" sz="1000" dirty="0">
                <a:solidFill>
                  <a:schemeClr val="bg1"/>
                </a:solidFill>
              </a:rPr>
              <a:t>Azure</a:t>
            </a:r>
          </a:p>
          <a:p>
            <a:pPr marL="171450" indent="-17145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fr-FR" sz="1000" dirty="0">
                <a:solidFill>
                  <a:schemeClr val="bg1"/>
                </a:solidFill>
              </a:rPr>
              <a:t>Tableau</a:t>
            </a:r>
          </a:p>
          <a:p>
            <a:pPr marL="171450" indent="-17145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fr-FR" sz="1000" dirty="0" err="1">
                <a:solidFill>
                  <a:schemeClr val="bg1"/>
                </a:solidFill>
              </a:rPr>
              <a:t>Alteryx</a:t>
            </a:r>
            <a:endParaRPr lang="fr-FR" sz="1000" dirty="0">
              <a:solidFill>
                <a:schemeClr val="bg1"/>
              </a:solidFill>
            </a:endParaRPr>
          </a:p>
        </p:txBody>
      </p:sp>
      <p:pic>
        <p:nvPicPr>
          <p:cNvPr id="44" name="Image 43">
            <a:extLst>
              <a:ext uri="{FF2B5EF4-FFF2-40B4-BE49-F238E27FC236}">
                <a16:creationId xmlns:a16="http://schemas.microsoft.com/office/drawing/2014/main" id="{BFD1D391-5867-DFE5-4AE6-50129F94D47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40560" y="3925419"/>
            <a:ext cx="420647" cy="412935"/>
          </a:xfrm>
          <a:prstGeom prst="rect">
            <a:avLst/>
          </a:prstGeom>
        </p:spPr>
      </p:pic>
      <p:pic>
        <p:nvPicPr>
          <p:cNvPr id="45" name="Picture 2" descr="upload.wikimedia.org/wikipedia/commons/thumb/6/...">
            <a:extLst>
              <a:ext uri="{FF2B5EF4-FFF2-40B4-BE49-F238E27FC236}">
                <a16:creationId xmlns:a16="http://schemas.microsoft.com/office/drawing/2014/main" id="{60AFC099-E065-4638-9D55-8F894C5D4F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9096" y="2438177"/>
            <a:ext cx="635469" cy="22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B9906332-9154-60F0-6764-E216855963E7}"/>
              </a:ext>
            </a:extLst>
          </p:cNvPr>
          <p:cNvSpPr txBox="1"/>
          <p:nvPr/>
        </p:nvSpPr>
        <p:spPr>
          <a:xfrm rot="840714">
            <a:off x="8266481" y="-215012"/>
            <a:ext cx="4288610" cy="1200329"/>
          </a:xfrm>
          <a:prstGeom prst="rect">
            <a:avLst/>
          </a:prstGeom>
          <a:solidFill>
            <a:srgbClr val="C00000"/>
          </a:solidFill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VERSION ANONYMISEE: </a:t>
            </a:r>
          </a:p>
          <a:p>
            <a:r>
              <a:rPr lang="fr-FR" dirty="0">
                <a:solidFill>
                  <a:schemeClr val="bg1"/>
                </a:solidFill>
              </a:rPr>
              <a:t>COPIER SLIDE 1</a:t>
            </a:r>
          </a:p>
          <a:p>
            <a:r>
              <a:rPr lang="fr-FR" dirty="0">
                <a:solidFill>
                  <a:schemeClr val="bg1"/>
                </a:solidFill>
              </a:rPr>
              <a:t>INITIALES A LA PLACE DE L’IDENTITE</a:t>
            </a:r>
          </a:p>
          <a:p>
            <a:r>
              <a:rPr lang="fr-FR" dirty="0">
                <a:solidFill>
                  <a:schemeClr val="bg1"/>
                </a:solidFill>
              </a:rPr>
              <a:t>ENLEVER LA PHOTO</a:t>
            </a:r>
          </a:p>
        </p:txBody>
      </p:sp>
    </p:spTree>
    <p:extLst>
      <p:ext uri="{BB962C8B-B14F-4D97-AF65-F5344CB8AC3E}">
        <p14:creationId xmlns:p14="http://schemas.microsoft.com/office/powerpoint/2010/main" val="14043835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D8A3CA-4CF7-DD9C-6FAF-9688C63274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D0C14E42-F304-CABA-980A-2F041D6B7CB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4" imgW="245" imgH="245" progId="TCLayout.ActiveDocument.1">
                  <p:embed/>
                </p:oleObj>
              </mc:Choice>
              <mc:Fallback>
                <p:oleObj name="Diapositive think-cell" r:id="rId4" imgW="245" imgH="245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466083A-4698-69D3-71D1-586ACEB72BB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Tableau 8">
            <a:extLst>
              <a:ext uri="{FF2B5EF4-FFF2-40B4-BE49-F238E27FC236}">
                <a16:creationId xmlns:a16="http://schemas.microsoft.com/office/drawing/2014/main" id="{78A35FA4-3707-532D-B454-B609EE7609B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06053257"/>
              </p:ext>
            </p:extLst>
          </p:nvPr>
        </p:nvGraphicFramePr>
        <p:xfrm>
          <a:off x="370870" y="1984675"/>
          <a:ext cx="11430002" cy="195401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85530">
                  <a:extLst>
                    <a:ext uri="{9D8B030D-6E8A-4147-A177-3AD203B41FA5}">
                      <a16:colId xmlns:a16="http://schemas.microsoft.com/office/drawing/2014/main" val="2333855390"/>
                    </a:ext>
                  </a:extLst>
                </a:gridCol>
                <a:gridCol w="3598671">
                  <a:extLst>
                    <a:ext uri="{9D8B030D-6E8A-4147-A177-3AD203B41FA5}">
                      <a16:colId xmlns:a16="http://schemas.microsoft.com/office/drawing/2014/main" val="3211500849"/>
                    </a:ext>
                  </a:extLst>
                </a:gridCol>
                <a:gridCol w="6145801">
                  <a:extLst>
                    <a:ext uri="{9D8B030D-6E8A-4147-A177-3AD203B41FA5}">
                      <a16:colId xmlns:a16="http://schemas.microsoft.com/office/drawing/2014/main" val="344341077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200" b="1" noProof="0" dirty="0"/>
                        <a:t>CLIENT / PROJET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200" b="1" noProof="0" dirty="0"/>
                        <a:t>CONTEXTE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200" b="1" noProof="0"/>
                        <a:t>RÔLE ET RÉALISATIONS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25442695"/>
                  </a:ext>
                </a:extLst>
              </a:tr>
              <a:tr h="369054">
                <a:tc>
                  <a:txBody>
                    <a:bodyPr/>
                    <a:lstStyle/>
                    <a:p>
                      <a:pPr marL="0" algn="l" defTabSz="55724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LA PORTE DU HAINAUT</a:t>
                      </a:r>
                    </a:p>
                    <a:p>
                      <a:pPr marL="0" algn="l" defTabSz="55724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000" b="0" i="1" u="none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Programme XX</a:t>
                      </a:r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000" spc="-1" noProof="1">
                          <a:uFill>
                            <a:solidFill>
                              <a:srgbClr val="FFFFFF"/>
                            </a:solidFill>
                          </a:uFill>
                        </a:rPr>
                        <a:t>Mise en place de la cellule de pilotage du programme « habiter mieux » intégrant la mise en œuvre d’un outil de suivi des aides à la rénovation</a:t>
                      </a:r>
                    </a:p>
                    <a:p>
                      <a:endParaRPr lang="fr-FR" sz="1000" spc="-1" noProof="1">
                        <a:uFill>
                          <a:solidFill>
                            <a:srgbClr val="FFFFFF"/>
                          </a:solidFill>
                        </a:uFill>
                      </a:endParaRPr>
                    </a:p>
                    <a:p>
                      <a:endParaRPr lang="fr-FR" sz="1000" spc="-1" noProof="1">
                        <a:uFill>
                          <a:solidFill>
                            <a:srgbClr val="FFFFFF"/>
                          </a:solidFill>
                        </a:u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None/>
                        <a:tabLst>
                          <a:tab pos="177800" algn="l"/>
                        </a:tabLst>
                        <a:defRPr/>
                      </a:pPr>
                      <a:r>
                        <a:rPr lang="fr-FR" sz="1000" b="1" kern="120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TITRE DU POSTE (XX mois) 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buChar char="•"/>
                        <a:tabLst>
                          <a:tab pos="177800" algn="l"/>
                        </a:tabLst>
                        <a:defRPr/>
                      </a:pPr>
                      <a:r>
                        <a:rPr lang="fr-FR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Coordination du projet, suivis, </a:t>
                      </a:r>
                      <a:r>
                        <a:rPr lang="fr-FR" sz="10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reportings</a:t>
                      </a:r>
                      <a:r>
                        <a:rPr lang="fr-FR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animation des comités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buChar char="•"/>
                        <a:tabLst>
                          <a:tab pos="177800" algn="l"/>
                        </a:tabLst>
                        <a:defRPr/>
                      </a:pPr>
                      <a:r>
                        <a:rPr lang="fr-FR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Redéfinition des processus de travail et production du livret des procédures 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buChar char="•"/>
                        <a:tabLst>
                          <a:tab pos="177800" algn="l"/>
                        </a:tabLst>
                        <a:defRPr/>
                      </a:pPr>
                      <a:r>
                        <a:rPr lang="fr-FR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Production du cahier des charges de l’outil de suivi du dispositif et suivi de son développement (intégrant les tableaux de bord de suivi-évaluation)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buChar char="•"/>
                        <a:tabLst>
                          <a:tab pos="177800" algn="l"/>
                        </a:tabLst>
                        <a:defRPr/>
                      </a:pPr>
                      <a:r>
                        <a:rPr lang="fr-FR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Construction d’un plan de formation, et sécurisation de la dispense des formations à l’outil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buChar char="•"/>
                        <a:tabLst>
                          <a:tab pos="177800" algn="l"/>
                        </a:tabLst>
                        <a:defRPr/>
                      </a:pPr>
                      <a:r>
                        <a:rPr lang="fr-FR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Animation du processus de co-construction du plan de communication externe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buChar char="•"/>
                        <a:tabLst>
                          <a:tab pos="177800" algn="l"/>
                        </a:tabLst>
                        <a:defRPr/>
                      </a:pPr>
                      <a:r>
                        <a:rPr lang="fr-FR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Suivi du projet (budget, planning, risques…)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8204035"/>
                  </a:ext>
                </a:extLst>
              </a:tr>
              <a:tr h="369054">
                <a:tc>
                  <a:txBody>
                    <a:bodyPr/>
                    <a:lstStyle/>
                    <a:p>
                      <a:pPr marL="0" algn="l" defTabSz="55724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fr-FR" sz="1000" b="0" i="1" u="none" kern="1200" noProof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fr-FR" sz="1000" spc="-1" noProof="1">
                        <a:uFill>
                          <a:solidFill>
                            <a:srgbClr val="FFFFFF"/>
                          </a:solidFill>
                        </a:u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buChar char="•"/>
                        <a:tabLst>
                          <a:tab pos="177800" algn="l"/>
                        </a:tabLst>
                        <a:defRPr/>
                      </a:pPr>
                      <a:endParaRPr lang="fr-FR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16132774"/>
                  </a:ext>
                </a:extLst>
              </a:tr>
            </a:tbl>
          </a:graphicData>
        </a:graphic>
      </p:graphicFrame>
      <p:sp>
        <p:nvSpPr>
          <p:cNvPr id="2" name="Titre 1">
            <a:extLst>
              <a:ext uri="{FF2B5EF4-FFF2-40B4-BE49-F238E27FC236}">
                <a16:creationId xmlns:a16="http://schemas.microsoft.com/office/drawing/2014/main" id="{1AF9BF3B-533F-D2F2-0578-1AFB451ED9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fr-FR" noProof="0" dirty="0"/>
              <a:t>AN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AD3E12AD-161A-772A-ACED-43BD23AEE0E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E9517EC-C298-4848-B090-11602D956FCE}" type="slidenum">
              <a:rPr lang="fr-FR" noProof="0" smtClean="0"/>
              <a:pPr/>
              <a:t>4</a:t>
            </a:fld>
            <a:endParaRPr lang="fr-FR" noProof="0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42E0615-C44C-11AA-6D65-67512BB8C8D6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05EECF77-BC25-41C0-A0EF-6A4B97F069C1}" type="datetime1">
              <a:rPr lang="fr-FR" noProof="0" smtClean="0"/>
              <a:t>31/03/2025</a:t>
            </a:fld>
            <a:endParaRPr lang="fr-FR" noProof="0"/>
          </a:p>
        </p:txBody>
      </p:sp>
      <p:sp>
        <p:nvSpPr>
          <p:cNvPr id="15" name="Forme libre : forme 14">
            <a:extLst>
              <a:ext uri="{FF2B5EF4-FFF2-40B4-BE49-F238E27FC236}">
                <a16:creationId xmlns:a16="http://schemas.microsoft.com/office/drawing/2014/main" id="{52449045-C9B8-3FEB-2A96-1F669FA3171C}"/>
              </a:ext>
            </a:extLst>
          </p:cNvPr>
          <p:cNvSpPr/>
          <p:nvPr/>
        </p:nvSpPr>
        <p:spPr>
          <a:xfrm>
            <a:off x="380995" y="1332000"/>
            <a:ext cx="5715005" cy="360000"/>
          </a:xfrm>
          <a:custGeom>
            <a:avLst/>
            <a:gdLst>
              <a:gd name="connsiteX0" fmla="*/ 0 w 5193356"/>
              <a:gd name="connsiteY0" fmla="*/ 0 h 449448"/>
              <a:gd name="connsiteX1" fmla="*/ 4980165 w 5193356"/>
              <a:gd name="connsiteY1" fmla="*/ 0 h 449448"/>
              <a:gd name="connsiteX2" fmla="*/ 4997252 w 5193356"/>
              <a:gd name="connsiteY2" fmla="*/ 0 h 449448"/>
              <a:gd name="connsiteX3" fmla="*/ 4997252 w 5193356"/>
              <a:gd name="connsiteY3" fmla="*/ 1816 h 449448"/>
              <a:gd name="connsiteX4" fmla="*/ 5023131 w 5193356"/>
              <a:gd name="connsiteY4" fmla="*/ 4566 h 449448"/>
              <a:gd name="connsiteX5" fmla="*/ 5193356 w 5193356"/>
              <a:gd name="connsiteY5" fmla="*/ 224724 h 449448"/>
              <a:gd name="connsiteX6" fmla="*/ 5023131 w 5193356"/>
              <a:gd name="connsiteY6" fmla="*/ 444883 h 449448"/>
              <a:gd name="connsiteX7" fmla="*/ 4997252 w 5193356"/>
              <a:gd name="connsiteY7" fmla="*/ 447632 h 449448"/>
              <a:gd name="connsiteX8" fmla="*/ 4997252 w 5193356"/>
              <a:gd name="connsiteY8" fmla="*/ 449447 h 449448"/>
              <a:gd name="connsiteX9" fmla="*/ 4980175 w 5193356"/>
              <a:gd name="connsiteY9" fmla="*/ 449447 h 449448"/>
              <a:gd name="connsiteX10" fmla="*/ 4980165 w 5193356"/>
              <a:gd name="connsiteY10" fmla="*/ 449448 h 449448"/>
              <a:gd name="connsiteX11" fmla="*/ 4980156 w 5193356"/>
              <a:gd name="connsiteY11" fmla="*/ 449447 h 449448"/>
              <a:gd name="connsiteX12" fmla="*/ 0 w 5193356"/>
              <a:gd name="connsiteY12" fmla="*/ 449447 h 4494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193356" h="449448">
                <a:moveTo>
                  <a:pt x="0" y="0"/>
                </a:moveTo>
                <a:lnTo>
                  <a:pt x="4980165" y="0"/>
                </a:lnTo>
                <a:lnTo>
                  <a:pt x="4997252" y="0"/>
                </a:lnTo>
                <a:lnTo>
                  <a:pt x="4997252" y="1816"/>
                </a:lnTo>
                <a:lnTo>
                  <a:pt x="5023131" y="4566"/>
                </a:lnTo>
                <a:cubicBezTo>
                  <a:pt x="5120278" y="25520"/>
                  <a:pt x="5193356" y="116126"/>
                  <a:pt x="5193356" y="224724"/>
                </a:cubicBezTo>
                <a:cubicBezTo>
                  <a:pt x="5193356" y="333322"/>
                  <a:pt x="5120278" y="423928"/>
                  <a:pt x="5023131" y="444883"/>
                </a:cubicBezTo>
                <a:lnTo>
                  <a:pt x="4997252" y="447632"/>
                </a:lnTo>
                <a:lnTo>
                  <a:pt x="4997252" y="449447"/>
                </a:lnTo>
                <a:lnTo>
                  <a:pt x="4980175" y="449447"/>
                </a:lnTo>
                <a:lnTo>
                  <a:pt x="4980165" y="449448"/>
                </a:lnTo>
                <a:lnTo>
                  <a:pt x="4980156" y="449447"/>
                </a:lnTo>
                <a:lnTo>
                  <a:pt x="0" y="449447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r>
              <a:rPr lang="fr-FR" sz="1200" b="1" ker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PRINCIPALES EXPÉRIENCES EN LIEN AVEC LA MISSION (SUITE)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2CF22EF-85E8-C348-F0EE-1B5112C6D60B}"/>
              </a:ext>
            </a:extLst>
          </p:cNvPr>
          <p:cNvSpPr/>
          <p:nvPr/>
        </p:nvSpPr>
        <p:spPr>
          <a:xfrm>
            <a:off x="12305039" y="0"/>
            <a:ext cx="2071025" cy="205285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100" dirty="0">
                <a:solidFill>
                  <a:schemeClr val="tx1"/>
                </a:solidFill>
              </a:rPr>
              <a:t>Nota : cette présentation en tableau devra être en cohérence avec la présentation des références mission AMITA (références courtes)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2BB5303-F825-175A-0443-8E489E423F47}"/>
              </a:ext>
            </a:extLst>
          </p:cNvPr>
          <p:cNvSpPr/>
          <p:nvPr/>
        </p:nvSpPr>
        <p:spPr>
          <a:xfrm>
            <a:off x="4862670" y="0"/>
            <a:ext cx="2071025" cy="33306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dirty="0">
                <a:solidFill>
                  <a:schemeClr val="tx1"/>
                </a:solidFill>
              </a:rPr>
              <a:t>CV détaillé</a:t>
            </a:r>
          </a:p>
        </p:txBody>
      </p:sp>
      <p:sp>
        <p:nvSpPr>
          <p:cNvPr id="9" name="Espace réservé du pied de page 8">
            <a:extLst>
              <a:ext uri="{FF2B5EF4-FFF2-40B4-BE49-F238E27FC236}">
                <a16:creationId xmlns:a16="http://schemas.microsoft.com/office/drawing/2014/main" id="{90665A96-11D6-39DC-EF44-C0EE8C546CB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fr-FR"/>
              <a:t>AMITA CONSEIL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912A5A97-5686-5F8A-D147-69E15A4BE02A}"/>
              </a:ext>
            </a:extLst>
          </p:cNvPr>
          <p:cNvSpPr txBox="1"/>
          <p:nvPr/>
        </p:nvSpPr>
        <p:spPr>
          <a:xfrm rot="840714">
            <a:off x="8266481" y="-76513"/>
            <a:ext cx="4288610" cy="923330"/>
          </a:xfrm>
          <a:prstGeom prst="rect">
            <a:avLst/>
          </a:prstGeom>
          <a:solidFill>
            <a:srgbClr val="C00000"/>
          </a:solidFill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VERSION ANONYMISEE: </a:t>
            </a:r>
          </a:p>
          <a:p>
            <a:r>
              <a:rPr lang="fr-FR" dirty="0">
                <a:solidFill>
                  <a:schemeClr val="bg1"/>
                </a:solidFill>
              </a:rPr>
              <a:t>COPIER SLIDE 2</a:t>
            </a:r>
          </a:p>
          <a:p>
            <a:r>
              <a:rPr lang="fr-FR" dirty="0">
                <a:solidFill>
                  <a:schemeClr val="bg1"/>
                </a:solidFill>
              </a:rPr>
              <a:t>INITIALES A LA PLACE DE L’IDENTITE</a:t>
            </a:r>
          </a:p>
        </p:txBody>
      </p:sp>
    </p:spTree>
    <p:extLst>
      <p:ext uri="{BB962C8B-B14F-4D97-AF65-F5344CB8AC3E}">
        <p14:creationId xmlns:p14="http://schemas.microsoft.com/office/powerpoint/2010/main" val="252769716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2025 02_AMITA Conseil">
  <a:themeElements>
    <a:clrScheme name="AMITA 2">
      <a:dk1>
        <a:srgbClr val="353637"/>
      </a:dk1>
      <a:lt1>
        <a:sysClr val="window" lastClr="FFFFFF"/>
      </a:lt1>
      <a:dk2>
        <a:srgbClr val="43A2BF"/>
      </a:dk2>
      <a:lt2>
        <a:srgbClr val="F7F7F7"/>
      </a:lt2>
      <a:accent1>
        <a:srgbClr val="43A2BF"/>
      </a:accent1>
      <a:accent2>
        <a:srgbClr val="4D7480"/>
      </a:accent2>
      <a:accent3>
        <a:srgbClr val="B5E1EF"/>
      </a:accent3>
      <a:accent4>
        <a:srgbClr val="6AA6B7"/>
      </a:accent4>
      <a:accent5>
        <a:srgbClr val="FFAE19"/>
      </a:accent5>
      <a:accent6>
        <a:srgbClr val="FF6419"/>
      </a:accent6>
      <a:hlink>
        <a:srgbClr val="4D7480"/>
      </a:hlink>
      <a:folHlink>
        <a:srgbClr val="2E556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lumMod val="95000"/>
          </a:schemeClr>
        </a:solidFill>
        <a:ln>
          <a:noFill/>
        </a:ln>
      </a:spPr>
      <a:bodyPr rtlCol="0" anchor="ctr"/>
      <a:lstStyle>
        <a:defPPr algn="ctr">
          <a:defRPr sz="140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2025 02_AMITA Conseil" id="{04D555FD-3CF6-4C09-9956-4D12109AF0E0}" vid="{1030E482-EE0D-43A8-A09B-A92D63339AC2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EA5923CF42828478025696259AFA44C" ma:contentTypeVersion="13" ma:contentTypeDescription="Crée un document." ma:contentTypeScope="" ma:versionID="5e993e22e778ef09ecfb16d3fefdfc9f">
  <xsd:schema xmlns:xsd="http://www.w3.org/2001/XMLSchema" xmlns:xs="http://www.w3.org/2001/XMLSchema" xmlns:p="http://schemas.microsoft.com/office/2006/metadata/properties" xmlns:ns2="b662136d-f4c7-4ecd-aecf-392677ef4b39" xmlns:ns3="5438b2ed-c33a-4943-80d4-1eb1a51ca64d" targetNamespace="http://schemas.microsoft.com/office/2006/metadata/properties" ma:root="true" ma:fieldsID="c5619f54d5f07886a6273fdc4fba94ca" ns2:_="" ns3:_="">
    <xsd:import namespace="b662136d-f4c7-4ecd-aecf-392677ef4b39"/>
    <xsd:import namespace="5438b2ed-c33a-4943-80d4-1eb1a51ca64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662136d-f4c7-4ecd-aecf-392677ef4b3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Balises d’images" ma:readOnly="false" ma:fieldId="{5cf76f15-5ced-4ddc-b409-7134ff3c332f}" ma:taxonomyMulti="true" ma:sspId="9c4cb228-3045-4ce0-a5ba-35060aea63d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438b2ed-c33a-4943-80d4-1eb1a51ca64d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c9b42586-e577-452a-859a-b23ae595a161}" ma:internalName="TaxCatchAll" ma:showField="CatchAllData" ma:web="5438b2ed-c33a-4943-80d4-1eb1a51ca64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662136d-f4c7-4ecd-aecf-392677ef4b39">
      <Terms xmlns="http://schemas.microsoft.com/office/infopath/2007/PartnerControls"/>
    </lcf76f155ced4ddcb4097134ff3c332f>
    <TaxCatchAll xmlns="5438b2ed-c33a-4943-80d4-1eb1a51ca64d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FE79DF9-C58F-4F32-98FC-7A5EE2CE32C6}">
  <ds:schemaRefs>
    <ds:schemaRef ds:uri="5438b2ed-c33a-4943-80d4-1eb1a51ca64d"/>
    <ds:schemaRef ds:uri="b662136d-f4c7-4ecd-aecf-392677ef4b39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FAC34AAB-7852-4104-B684-4FE27329F849}">
  <ds:schemaRefs>
    <ds:schemaRef ds:uri="5438b2ed-c33a-4943-80d4-1eb1a51ca64d"/>
    <ds:schemaRef ds:uri="b662136d-f4c7-4ecd-aecf-392677ef4b39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A99BB03B-02D8-4150-8B36-F9BD50D9F57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1146</Words>
  <Application>Microsoft Office PowerPoint</Application>
  <PresentationFormat>Grand écran</PresentationFormat>
  <Paragraphs>133</Paragraphs>
  <Slides>4</Slides>
  <Notes>2</Notes>
  <HiddenSlides>0</HiddenSlides>
  <MMClips>0</MMClips>
  <ScaleCrop>false</ScaleCrop>
  <HeadingPairs>
    <vt:vector size="8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Serveurs OLE incorporés</vt:lpstr>
      </vt:variant>
      <vt:variant>
        <vt:i4>1</vt:i4>
      </vt:variant>
      <vt:variant>
        <vt:lpstr>Titres des diapositives</vt:lpstr>
      </vt:variant>
      <vt:variant>
        <vt:i4>4</vt:i4>
      </vt:variant>
    </vt:vector>
  </HeadingPairs>
  <TitlesOfParts>
    <vt:vector size="11" baseType="lpstr">
      <vt:lpstr>Aptos</vt:lpstr>
      <vt:lpstr>Arial</vt:lpstr>
      <vt:lpstr>Calibri</vt:lpstr>
      <vt:lpstr>Now</vt:lpstr>
      <vt:lpstr>Raleway</vt:lpstr>
      <vt:lpstr>2025 02_AMITA Conseil</vt:lpstr>
      <vt:lpstr>Diapositive think-cell</vt:lpstr>
      <vt:lpstr>Présentation PowerPoint</vt:lpstr>
      <vt:lpstr>MARTIN NAOURI</vt:lpstr>
      <vt:lpstr>Présentation PowerPoint</vt:lpstr>
      <vt:lpstr>AN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Aymeric Prat</dc:creator>
  <cp:lastModifiedBy>Grégoire Sourdel</cp:lastModifiedBy>
  <cp:revision>35</cp:revision>
  <dcterms:created xsi:type="dcterms:W3CDTF">2023-07-04T06:45:58Z</dcterms:created>
  <dcterms:modified xsi:type="dcterms:W3CDTF">2025-04-03T08:15:37Z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0x010100AEA5923CF42828478025696259AFA44C</vt:lpwstr>
  </property>
</Properties>
</file>